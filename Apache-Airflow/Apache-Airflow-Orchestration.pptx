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d8d5c19-893e-6472-bed6-7a3185de806f}">
          <p14:sldIdLst>
            <p14:sldId id="256"/>
            <p14:sldId id="257"/>
            <p14:sldId id="258"/>
          </p14:sldIdLst>
        </p14:section>
        <p14:section name="01 — Why we need Airflow" id="{dce3827a-f454-8b22-81a3-b5fcb4fdd43d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02 — How Airflow works inside" id="{423da067-f4a8-41dc-8dea-cb5f2f0db4d0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03 — Run it on your laptop" id="{319d4575-f9b9-ed80-5e78-e32001a8d8f7}">
          <p14:sldIdLst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</p14:sldIdLst>
        </p14:section>
        <p14:section name="Wrap-up" id="{b2544f4b-3b0d-d32a-85fc-04b1e01fd1cc}">
          <p14:sldIdLst>
            <p14:sldId id="304"/>
            <p14:sldId id="305"/>
            <p14:sldId id="306"/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Ask who has written a Python script they had to remember to run by hand. That is the problem we are solving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them early. The only prerequisite is a Python function and a SQL query.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 back to this slide whenever someone looks lost. Say the words out loud a few times today so they stick.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is the why. Do not open Airflow yet. First let them feel the pain.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example boring and familiar on purpose. Everyone has seen a daily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who is going to run this on Eid morning? That usually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repeat these four back: stop safely, try again, tell you, remember. That is the whole of Airflow.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part 1. Cron is a clock. Airflow is a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straight back to the four cards from two slides ago. Airflow is not a new idea, it is those four fixes in one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on the whiteboard too. Four boxes, three arrows. That is a DAG.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over-explain branching today. Point at it and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 in part 1 for a beginner. Spend time here. It is still just Python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Somebody always asks about the @. Answer it before they have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out loud, top to bottom, like a sentence. Do not explain pendulum beyond 'it is a date'.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 to photograph this one. It is the interview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Juniors over-apply new tools. Say this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before the break: what does a timer not know?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 opens the box. Promise them no magic is left over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real time here. Everything else in part 2 is a zoom-in on one of these 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mental model that turns Airflow from magic into ordinary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DAG processor reads your files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scheduler decides when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mention Celery or Kubernetes today. 'More workers = more at once' is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webserver shows you the 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 this database is worth backing up. Losing it loses all your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learn the shape, not the words: read, decide, queue, run, write down,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exact words appear in the UI. Say each one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this out as a one-pager if you can print. It is the most useful slide in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'Pass the name, not the file' is the line to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Hard-coded passwords are the most common beginner mistake. Make it stick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test: secret or setting?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will hit this the moment they Google anything. Warn them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here if you are splitting the class. Part 3 needs Docker Desktop already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Laptops open. Docker Desktop should already be running before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light. They do not need to understand images or layers today, only 'a sealed box with everything inside'.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back at the part 2 diagram. One box per part. That is why this feels like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 while they run the two checks. Fix stragglers now, not in ten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C:\ drive performance trap costs people hours. Say it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curl is missing they can download it in a browser, but the file must keep the exact name docker-compose.yaml.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until every screen in the room shows code 0. Do not move on with stragglers.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port clash is common on machines with other dev tools. Show them the line to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around live for two minutes. Grid view, then a task log. That is the loop they will use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payoff. Nobody moves on until they have seen two green squares.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01 is almost always it. Teach the python check as a reflex.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dags list live. It proves the file was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Somebody will wipe their volumes by accident. Better here than at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them. Everyone hits two of these rows on day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Congratulate them properly. Zero to a running orchestrator in one class is genuinely a 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them ten seconds to photograph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builds the same thing so it is quick to review next session. Push them to do the 'break it'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them towards one real pipeline of their own. Toy DAGs teach syntax; a pipeline you depend on teaches everything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during questions. Point at the chip that owns whatever they ask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HERO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554480"/>
            <a:ext cx="5486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10896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60520"/>
            <a:ext cx="91440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19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 AIRFLOW  •  DATA ENGINEERING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image" Target="../media/image-36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image" Target="../media/image-48-5.png"/><Relationship Id="rId6" Type="http://schemas.openxmlformats.org/officeDocument/2006/relationships/image" Target="../media/image-4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image" Target="../media/image-5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image" Target="../media/image-52-5.png"/><Relationship Id="rId6" Type="http://schemas.openxmlformats.org/officeDocument/2006/relationships/image" Target="../media/image-5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Pill"/>
          <p:cNvSpPr/>
          <p:nvPr/>
        </p:nvSpPr>
        <p:spPr>
          <a:xfrm>
            <a:off x="822960" y="502920"/>
            <a:ext cx="4526280" cy="566928"/>
          </a:xfrm>
          <a:prstGeom prst="roundRect">
            <a:avLst>
              <a:gd name="adj" fmla="val 50000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3" name="brand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50292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Saylani Cloud Data Engineering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173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  •  APACHE AIRFLOW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78308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Apache</a:t>
            </a:r>
            <a:endParaRPr lang="en-US" sz="6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4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Airflow</a:t>
            </a:r>
            <a:endParaRPr lang="en-US" sz="6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9776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tool that runs your Python and SQL on a schedule, in the right order, and tells you when something breaks.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303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  </a:t>
            </a:r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M. Abdullah Khan</a:t>
            </a:r>
            <a:endParaRPr lang="en-US" sz="1600" dirty="0"/>
          </a:p>
        </p:txBody>
      </p:sp>
      <p:sp>
        <p:nvSpPr>
          <p:cNvPr id="9" name="orbit_You write Python"/>
          <p:cNvSpPr/>
          <p:nvPr/>
        </p:nvSpPr>
        <p:spPr>
          <a:xfrm>
            <a:off x="7223760" y="1188720"/>
            <a:ext cx="1051560" cy="1051560"/>
          </a:xfrm>
          <a:prstGeom prst="roundRect">
            <a:avLst>
              <a:gd name="adj" fmla="val 19130"/>
            </a:avLst>
          </a:prstGeom>
          <a:solidFill>
            <a:srgbClr val="FF9900">
              <a:alpha val="12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932" y="1421892"/>
            <a:ext cx="585216" cy="5852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20840" y="2286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write Python</a:t>
            </a:r>
            <a:endParaRPr lang="en-US" sz="1100" dirty="0"/>
          </a:p>
        </p:txBody>
      </p:sp>
      <p:sp>
        <p:nvSpPr>
          <p:cNvPr id="12" name="orbit_Airflow schedules it"/>
          <p:cNvSpPr/>
          <p:nvPr/>
        </p:nvSpPr>
        <p:spPr>
          <a:xfrm>
            <a:off x="8732520" y="2148840"/>
            <a:ext cx="1051560" cy="1051560"/>
          </a:xfrm>
          <a:prstGeom prst="roundRect">
            <a:avLst>
              <a:gd name="adj" fmla="val 19130"/>
            </a:avLst>
          </a:prstGeom>
          <a:solidFill>
            <a:srgbClr val="2DD4BF">
              <a:alpha val="12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692" y="2382012"/>
            <a:ext cx="585216" cy="58521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229600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Airflow schedules it</a:t>
            </a:r>
            <a:endParaRPr lang="en-US" sz="1100" dirty="0"/>
          </a:p>
        </p:txBody>
      </p:sp>
      <p:sp>
        <p:nvSpPr>
          <p:cNvPr id="15" name="orbit_It runs the code"/>
          <p:cNvSpPr/>
          <p:nvPr/>
        </p:nvSpPr>
        <p:spPr>
          <a:xfrm>
            <a:off x="10241280" y="3108960"/>
            <a:ext cx="1051560" cy="1051560"/>
          </a:xfrm>
          <a:prstGeom prst="roundRect">
            <a:avLst>
              <a:gd name="adj" fmla="val 19130"/>
            </a:avLst>
          </a:prstGeom>
          <a:solidFill>
            <a:srgbClr val="29B5E8">
              <a:alpha val="12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4452" y="3342132"/>
            <a:ext cx="585216" cy="58521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738360" y="4206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runs the code</a:t>
            </a:r>
            <a:endParaRPr lang="en-US" sz="1100" dirty="0"/>
          </a:p>
        </p:txBody>
      </p:sp>
      <p:sp>
        <p:nvSpPr>
          <p:cNvPr id="18" name="orbit_You watch it in a browser"/>
          <p:cNvSpPr/>
          <p:nvPr/>
        </p:nvSpPr>
        <p:spPr>
          <a:xfrm>
            <a:off x="8732520" y="4343400"/>
            <a:ext cx="1051560" cy="1051560"/>
          </a:xfrm>
          <a:prstGeom prst="roundRect">
            <a:avLst>
              <a:gd name="adj" fmla="val 19130"/>
            </a:avLst>
          </a:prstGeom>
          <a:solidFill>
            <a:srgbClr val="8C4FFF">
              <a:alpha val="12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5692" y="4576572"/>
            <a:ext cx="585216" cy="58521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229600" y="5440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watch it in a browser</a:t>
            </a:r>
            <a:endParaRPr lang="en-US" sz="1100" dirty="0"/>
          </a:p>
        </p:txBody>
      </p:sp>
      <p:sp>
        <p:nvSpPr>
          <p:cNvPr id="21" name="o1"/>
          <p:cNvSpPr/>
          <p:nvPr/>
        </p:nvSpPr>
        <p:spPr>
          <a:xfrm rot="2700000">
            <a:off x="8321040" y="1783080"/>
            <a:ext cx="365760" cy="274320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o2"/>
          <p:cNvSpPr/>
          <p:nvPr/>
        </p:nvSpPr>
        <p:spPr>
          <a:xfrm rot="2700000">
            <a:off x="9829800" y="2743200"/>
            <a:ext cx="365760" cy="274320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o3"/>
          <p:cNvSpPr/>
          <p:nvPr/>
        </p:nvSpPr>
        <p:spPr>
          <a:xfrm rot="8100000">
            <a:off x="9784080" y="4526280"/>
            <a:ext cx="365760" cy="274320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CLASS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parts, and you will run it yourself</a:t>
            </a:r>
            <a:endParaRPr lang="en-US" sz="3200" dirty="0"/>
          </a:p>
        </p:txBody>
      </p:sp>
      <p:sp>
        <p:nvSpPr>
          <p:cNvPr id="4" name="panel_1"/>
          <p:cNvSpPr/>
          <p:nvPr/>
        </p:nvSpPr>
        <p:spPr>
          <a:xfrm>
            <a:off x="548640" y="1572768"/>
            <a:ext cx="7863840" cy="1298448"/>
          </a:xfrm>
          <a:prstGeom prst="roundRect">
            <a:avLst>
              <a:gd name="adj" fmla="val 8451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badge_2"/>
          <p:cNvSpPr/>
          <p:nvPr/>
        </p:nvSpPr>
        <p:spPr>
          <a:xfrm>
            <a:off x="786384" y="1810512"/>
            <a:ext cx="658368" cy="658368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6" name="icon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43" y="1988271"/>
            <a:ext cx="302849" cy="3028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792224"/>
            <a:ext cx="6528816" cy="327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we need Airflow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165292"/>
            <a:ext cx="6528816" cy="233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goes wrong when you run Python scripts by hand, and how Airflow fixes it.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17739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panel_4"/>
          <p:cNvSpPr/>
          <p:nvPr/>
        </p:nvSpPr>
        <p:spPr>
          <a:xfrm>
            <a:off x="548640" y="2990088"/>
            <a:ext cx="7863840" cy="1298448"/>
          </a:xfrm>
          <a:prstGeom prst="roundRect">
            <a:avLst>
              <a:gd name="adj" fmla="val 8451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badge_5"/>
          <p:cNvSpPr/>
          <p:nvPr/>
        </p:nvSpPr>
        <p:spPr>
          <a:xfrm>
            <a:off x="786384" y="3227832"/>
            <a:ext cx="658368" cy="658368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2" name="icon_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143" y="3405591"/>
            <a:ext cx="302849" cy="30284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209544"/>
            <a:ext cx="6528816" cy="327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Airflow works inside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582612"/>
            <a:ext cx="6528816" cy="24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parts Airflow is made of, and what each one does. No magic left over.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7269480" y="31912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panel_7"/>
          <p:cNvSpPr/>
          <p:nvPr/>
        </p:nvSpPr>
        <p:spPr>
          <a:xfrm>
            <a:off x="548640" y="4407408"/>
            <a:ext cx="7863840" cy="1298448"/>
          </a:xfrm>
          <a:prstGeom prst="roundRect">
            <a:avLst>
              <a:gd name="adj" fmla="val 8451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7" name="badge_8"/>
          <p:cNvSpPr/>
          <p:nvPr/>
        </p:nvSpPr>
        <p:spPr>
          <a:xfrm>
            <a:off x="786384" y="4645152"/>
            <a:ext cx="658368" cy="658368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18" name="icon_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43" y="4822911"/>
            <a:ext cx="302849" cy="30284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45920" y="4626864"/>
            <a:ext cx="6528816" cy="327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 it on your laptop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1645920" y="4999932"/>
            <a:ext cx="6528816" cy="46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Airflow with Docker, open it in a browser, and run your own first pipeline.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7269480" y="46085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9B5E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panel_10"/>
          <p:cNvSpPr/>
          <p:nvPr/>
        </p:nvSpPr>
        <p:spPr>
          <a:xfrm>
            <a:off x="8641080" y="1572768"/>
            <a:ext cx="2999232" cy="4160520"/>
          </a:xfrm>
          <a:prstGeom prst="roundRect">
            <a:avLst>
              <a:gd name="adj" fmla="val 3659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915400" y="1810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ALREADY KNOW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915400" y="21945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write a Python function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write a SQL query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run a script yourself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915400" y="3566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IS ENOUGH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8915400" y="3950208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else today is new, and we will explain every word before we use it. Nothing here needs maths or theory.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FIRST, THE WORDS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Six words you will hear all day</a:t>
            </a:r>
            <a:endParaRPr lang="en-US" sz="3200" dirty="0"/>
          </a:p>
        </p:txBody>
      </p:sp>
      <p:sp>
        <p:nvSpPr>
          <p:cNvPr id="4" name="panel_11"/>
          <p:cNvSpPr/>
          <p:nvPr/>
        </p:nvSpPr>
        <p:spPr>
          <a:xfrm>
            <a:off x="548640" y="1572768"/>
            <a:ext cx="3511296" cy="2011680"/>
          </a:xfrm>
          <a:prstGeom prst="roundRect">
            <a:avLst>
              <a:gd name="adj" fmla="val 545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badge_12"/>
          <p:cNvSpPr/>
          <p:nvPr/>
        </p:nvSpPr>
        <p:spPr>
          <a:xfrm>
            <a:off x="749808" y="1773936"/>
            <a:ext cx="621792" cy="621792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6" name="icon_1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692" y="1941820"/>
            <a:ext cx="286024" cy="286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468880"/>
            <a:ext cx="3108960" cy="31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Task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815575"/>
            <a:ext cx="3108960" cy="46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thing you want done. "Download the file." One Python function, usually.</a:t>
            </a:r>
            <a:endParaRPr lang="en-US" sz="1200" dirty="0"/>
          </a:p>
        </p:txBody>
      </p:sp>
      <p:sp>
        <p:nvSpPr>
          <p:cNvPr id="9" name="panel_14"/>
          <p:cNvSpPr/>
          <p:nvPr/>
        </p:nvSpPr>
        <p:spPr>
          <a:xfrm>
            <a:off x="4306824" y="1572768"/>
            <a:ext cx="3511296" cy="2011680"/>
          </a:xfrm>
          <a:prstGeom prst="roundRect">
            <a:avLst>
              <a:gd name="adj" fmla="val 545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0" name="badge_15"/>
          <p:cNvSpPr/>
          <p:nvPr/>
        </p:nvSpPr>
        <p:spPr>
          <a:xfrm>
            <a:off x="4507992" y="1773936"/>
            <a:ext cx="621792" cy="621792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1" name="icon_1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876" y="1941820"/>
            <a:ext cx="286024" cy="2860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07992" y="2468880"/>
            <a:ext cx="3108960" cy="31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Pipeline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07992" y="2815575"/>
            <a:ext cx="3108960" cy="52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Several tasks in a set order. Download, then clean, then save.</a:t>
            </a:r>
            <a:endParaRPr lang="en-US" sz="1350" dirty="0"/>
          </a:p>
        </p:txBody>
      </p:sp>
      <p:sp>
        <p:nvSpPr>
          <p:cNvPr id="14" name="panel_17"/>
          <p:cNvSpPr/>
          <p:nvPr/>
        </p:nvSpPr>
        <p:spPr>
          <a:xfrm>
            <a:off x="8065008" y="1572768"/>
            <a:ext cx="3511296" cy="2011680"/>
          </a:xfrm>
          <a:prstGeom prst="roundRect">
            <a:avLst>
              <a:gd name="adj" fmla="val 545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5" name="badge_18"/>
          <p:cNvSpPr/>
          <p:nvPr/>
        </p:nvSpPr>
        <p:spPr>
          <a:xfrm>
            <a:off x="8266176" y="1773936"/>
            <a:ext cx="621792" cy="621792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16" name="icon_1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060" y="1941820"/>
            <a:ext cx="286024" cy="2860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66176" y="2468880"/>
            <a:ext cx="3108960" cy="31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DAG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266176" y="2815575"/>
            <a:ext cx="3108960" cy="52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Airflow's word for a pipeline: a drawing of tasks and arrows.</a:t>
            </a:r>
            <a:endParaRPr lang="en-US" sz="1350" dirty="0"/>
          </a:p>
        </p:txBody>
      </p:sp>
      <p:sp>
        <p:nvSpPr>
          <p:cNvPr id="19" name="panel_20"/>
          <p:cNvSpPr/>
          <p:nvPr/>
        </p:nvSpPr>
        <p:spPr>
          <a:xfrm>
            <a:off x="548640" y="3675888"/>
            <a:ext cx="3511296" cy="2011680"/>
          </a:xfrm>
          <a:prstGeom prst="roundRect">
            <a:avLst>
              <a:gd name="adj" fmla="val 545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badge_21"/>
          <p:cNvSpPr/>
          <p:nvPr/>
        </p:nvSpPr>
        <p:spPr>
          <a:xfrm>
            <a:off x="749808" y="3877056"/>
            <a:ext cx="621792" cy="621792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21" name="icon_2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692" y="4044940"/>
            <a:ext cx="286024" cy="2860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" y="4572000"/>
            <a:ext cx="3108960" cy="31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4918695"/>
            <a:ext cx="3108960" cy="52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go of the pipeline. Monday's run, Tuesday's run.</a:t>
            </a:r>
            <a:endParaRPr lang="en-US" sz="1350" dirty="0"/>
          </a:p>
        </p:txBody>
      </p:sp>
      <p:sp>
        <p:nvSpPr>
          <p:cNvPr id="24" name="panel_23"/>
          <p:cNvSpPr/>
          <p:nvPr/>
        </p:nvSpPr>
        <p:spPr>
          <a:xfrm>
            <a:off x="4306824" y="3675888"/>
            <a:ext cx="3511296" cy="2011680"/>
          </a:xfrm>
          <a:prstGeom prst="roundRect">
            <a:avLst>
              <a:gd name="adj" fmla="val 545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5" name="badge_24"/>
          <p:cNvSpPr/>
          <p:nvPr/>
        </p:nvSpPr>
        <p:spPr>
          <a:xfrm>
            <a:off x="4507992" y="3877056"/>
            <a:ext cx="621792" cy="621792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26" name="icon_2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876" y="4044940"/>
            <a:ext cx="286024" cy="286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07992" y="4572000"/>
            <a:ext cx="3108960" cy="31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Schedule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4507992" y="4918695"/>
            <a:ext cx="3108960" cy="52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it should start. "Every day at 6 AM."</a:t>
            </a:r>
            <a:endParaRPr lang="en-US" sz="1350" dirty="0"/>
          </a:p>
        </p:txBody>
      </p:sp>
      <p:sp>
        <p:nvSpPr>
          <p:cNvPr id="29" name="panel_26"/>
          <p:cNvSpPr/>
          <p:nvPr/>
        </p:nvSpPr>
        <p:spPr>
          <a:xfrm>
            <a:off x="8065008" y="3675888"/>
            <a:ext cx="3511296" cy="2011680"/>
          </a:xfrm>
          <a:prstGeom prst="roundRect">
            <a:avLst>
              <a:gd name="adj" fmla="val 545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30" name="badge_27"/>
          <p:cNvSpPr/>
          <p:nvPr/>
        </p:nvSpPr>
        <p:spPr>
          <a:xfrm>
            <a:off x="8266176" y="3877056"/>
            <a:ext cx="621792" cy="621792"/>
          </a:xfrm>
          <a:prstGeom prst="ellipse">
            <a:avLst/>
          </a:prstGeom>
          <a:solidFill>
            <a:srgbClr val="E7157B">
              <a:alpha val="18000"/>
            </a:srgbClr>
          </a:solidFill>
          <a:ln w="15875">
            <a:solidFill>
              <a:srgbClr val="E7157B"/>
            </a:solidFill>
            <a:prstDash val="solid"/>
          </a:ln>
        </p:spPr>
      </p:sp>
      <p:pic>
        <p:nvPicPr>
          <p:cNvPr id="31" name="icon_2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4060" y="4044940"/>
            <a:ext cx="286024" cy="28602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66176" y="4572000"/>
            <a:ext cx="3108960" cy="31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Operator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8266176" y="4918695"/>
            <a:ext cx="3108960" cy="42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ready-made kind of task. One for Python, one for SQL, one for shell commands.</a:t>
            </a:r>
            <a:endParaRPr lang="en-US" sz="1100" dirty="0"/>
          </a:p>
        </p:txBody>
      </p:sp>
      <p:sp>
        <p:nvSpPr>
          <p:cNvPr id="34" name="panel_29"/>
          <p:cNvSpPr/>
          <p:nvPr/>
        </p:nvSpPr>
        <p:spPr>
          <a:xfrm>
            <a:off x="548640" y="5797296"/>
            <a:ext cx="11091672" cy="502920"/>
          </a:xfrm>
          <a:prstGeom prst="roundRect">
            <a:avLst>
              <a:gd name="adj" fmla="val 21818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859536" y="5870448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you remember only one: a DAG is a pipeline, and a pipeline is just tasks with arrows between them.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5544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108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we need Airflow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605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goes wrong when you run scripts by hand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JOB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boss asks for a daily sales report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morning at 6 AM, four things have to happen. You already know how to write each one.</a:t>
            </a:r>
            <a:endParaRPr lang="en-US" sz="1600" dirty="0"/>
          </a:p>
        </p:txBody>
      </p:sp>
      <p:sp>
        <p:nvSpPr>
          <p:cNvPr id="5" name="panel_30"/>
          <p:cNvSpPr/>
          <p:nvPr/>
        </p:nvSpPr>
        <p:spPr>
          <a:xfrm>
            <a:off x="548640" y="2057400"/>
            <a:ext cx="2594610" cy="1828800"/>
          </a:xfrm>
          <a:prstGeom prst="roundRect">
            <a:avLst>
              <a:gd name="adj" fmla="val 6000"/>
            </a:avLst>
          </a:prstGeom>
          <a:solidFill>
            <a:srgbClr val="131D3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03704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Download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90088"/>
            <a:ext cx="222885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Yesterday's sales file from the shop system</a:t>
            </a:r>
            <a:endParaRPr lang="en-US" sz="1300" dirty="0"/>
          </a:p>
        </p:txBody>
      </p:sp>
      <p:sp>
        <p:nvSpPr>
          <p:cNvPr id="9" name="arrow_31"/>
          <p:cNvSpPr/>
          <p:nvPr/>
        </p:nvSpPr>
        <p:spPr>
          <a:xfrm>
            <a:off x="3170682" y="2889504"/>
            <a:ext cx="182880" cy="164592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0" name="panel_32"/>
          <p:cNvSpPr/>
          <p:nvPr/>
        </p:nvSpPr>
        <p:spPr>
          <a:xfrm>
            <a:off x="3380994" y="2057400"/>
            <a:ext cx="2594610" cy="1828800"/>
          </a:xfrm>
          <a:prstGeom prst="roundRect">
            <a:avLst>
              <a:gd name="adj" fmla="val 6000"/>
            </a:avLst>
          </a:prstGeom>
          <a:solidFill>
            <a:srgbClr val="131D3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3874" y="2203704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63874" y="251460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Clean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563874" y="2990088"/>
            <a:ext cx="222885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empty rows, fix the date column</a:t>
            </a:r>
            <a:endParaRPr lang="en-US" sz="1300" dirty="0"/>
          </a:p>
        </p:txBody>
      </p:sp>
      <p:sp>
        <p:nvSpPr>
          <p:cNvPr id="14" name="arrow_33"/>
          <p:cNvSpPr/>
          <p:nvPr/>
        </p:nvSpPr>
        <p:spPr>
          <a:xfrm>
            <a:off x="6003036" y="2889504"/>
            <a:ext cx="182880" cy="164592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5" name="panel_34"/>
          <p:cNvSpPr/>
          <p:nvPr/>
        </p:nvSpPr>
        <p:spPr>
          <a:xfrm>
            <a:off x="6213348" y="2057400"/>
            <a:ext cx="2594610" cy="1828800"/>
          </a:xfrm>
          <a:prstGeom prst="roundRect">
            <a:avLst>
              <a:gd name="adj" fmla="val 6000"/>
            </a:avLst>
          </a:prstGeom>
          <a:solidFill>
            <a:srgbClr val="131D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96228" y="2203704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96228" y="251460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Save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396228" y="2990088"/>
            <a:ext cx="222885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the clean rows into the database</a:t>
            </a:r>
            <a:endParaRPr lang="en-US" sz="1300" dirty="0"/>
          </a:p>
        </p:txBody>
      </p:sp>
      <p:sp>
        <p:nvSpPr>
          <p:cNvPr id="19" name="arrow_35"/>
          <p:cNvSpPr/>
          <p:nvPr/>
        </p:nvSpPr>
        <p:spPr>
          <a:xfrm>
            <a:off x="8835390" y="2889504"/>
            <a:ext cx="182880" cy="164592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panel_36"/>
          <p:cNvSpPr/>
          <p:nvPr/>
        </p:nvSpPr>
        <p:spPr>
          <a:xfrm>
            <a:off x="9045702" y="2057400"/>
            <a:ext cx="2594610" cy="1828800"/>
          </a:xfrm>
          <a:prstGeom prst="roundRect">
            <a:avLst>
              <a:gd name="adj" fmla="val 6000"/>
            </a:avLst>
          </a:prstGeom>
          <a:solidFill>
            <a:srgbClr val="131D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28582" y="2203704"/>
            <a:ext cx="2228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228582" y="251460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Email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228582" y="2990088"/>
            <a:ext cx="222885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the manager yesterday's total</a:t>
            </a:r>
            <a:endParaRPr lang="en-US" sz="1300" dirty="0"/>
          </a:p>
        </p:txBody>
      </p:sp>
      <p:sp>
        <p:nvSpPr>
          <p:cNvPr id="24" name="panel_37"/>
          <p:cNvSpPr/>
          <p:nvPr/>
        </p:nvSpPr>
        <p:spPr>
          <a:xfrm>
            <a:off x="548640" y="4069080"/>
            <a:ext cx="3511296" cy="1828800"/>
          </a:xfrm>
          <a:prstGeom prst="roundRect">
            <a:avLst>
              <a:gd name="adj" fmla="val 6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5" name="badge_38"/>
          <p:cNvSpPr/>
          <p:nvPr/>
        </p:nvSpPr>
        <p:spPr>
          <a:xfrm>
            <a:off x="749808" y="4270248"/>
            <a:ext cx="585216" cy="585216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26" name="icon_3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816" y="4428256"/>
            <a:ext cx="269199" cy="269199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49808" y="4928616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Order matters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749808" y="5258082"/>
            <a:ext cx="3108960" cy="42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cannot clean a file you have not downloaded yet.</a:t>
            </a:r>
            <a:endParaRPr lang="en-US" sz="1100" dirty="0"/>
          </a:p>
        </p:txBody>
      </p:sp>
      <p:sp>
        <p:nvSpPr>
          <p:cNvPr id="29" name="panel_40"/>
          <p:cNvSpPr/>
          <p:nvPr/>
        </p:nvSpPr>
        <p:spPr>
          <a:xfrm>
            <a:off x="4306824" y="4069080"/>
            <a:ext cx="3511296" cy="1828800"/>
          </a:xfrm>
          <a:prstGeom prst="roundRect">
            <a:avLst>
              <a:gd name="adj" fmla="val 6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30" name="badge_41"/>
          <p:cNvSpPr/>
          <p:nvPr/>
        </p:nvSpPr>
        <p:spPr>
          <a:xfrm>
            <a:off x="4507992" y="4270248"/>
            <a:ext cx="585216" cy="585216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31" name="icon_4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000" y="4428256"/>
            <a:ext cx="269199" cy="269199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4507992" y="4928616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must happen daily</a:t>
            </a:r>
            <a:endParaRPr lang="en-US" sz="1700" dirty="0"/>
          </a:p>
        </p:txBody>
      </p:sp>
      <p:sp>
        <p:nvSpPr>
          <p:cNvPr id="33" name="Text 29"/>
          <p:cNvSpPr txBox="1"/>
          <p:nvPr/>
        </p:nvSpPr>
        <p:spPr>
          <a:xfrm>
            <a:off x="4507992" y="5258082"/>
            <a:ext cx="3108960" cy="42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 on Sunday. Even when you are asleep.</a:t>
            </a:r>
            <a:endParaRPr lang="en-US" sz="1100" dirty="0"/>
          </a:p>
        </p:txBody>
      </p:sp>
      <p:sp>
        <p:nvSpPr>
          <p:cNvPr id="34" name="panel_43"/>
          <p:cNvSpPr/>
          <p:nvPr/>
        </p:nvSpPr>
        <p:spPr>
          <a:xfrm>
            <a:off x="8065008" y="4069080"/>
            <a:ext cx="3511296" cy="1828800"/>
          </a:xfrm>
          <a:prstGeom prst="roundRect">
            <a:avLst>
              <a:gd name="adj" fmla="val 6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35" name="badge_44"/>
          <p:cNvSpPr/>
          <p:nvPr/>
        </p:nvSpPr>
        <p:spPr>
          <a:xfrm>
            <a:off x="8266176" y="4270248"/>
            <a:ext cx="585216" cy="585216"/>
          </a:xfrm>
          <a:prstGeom prst="ellipse">
            <a:avLst/>
          </a:prstGeom>
          <a:solidFill>
            <a:srgbClr val="E7157B">
              <a:alpha val="18000"/>
            </a:srgbClr>
          </a:solidFill>
          <a:ln w="15875">
            <a:solidFill>
              <a:srgbClr val="E7157B"/>
            </a:solidFill>
            <a:prstDash val="solid"/>
          </a:ln>
        </p:spPr>
      </p:sp>
      <p:pic>
        <p:nvPicPr>
          <p:cNvPr id="36" name="icon_4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4184" y="4428256"/>
            <a:ext cx="269199" cy="269199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8266176" y="4928616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Someone must be told</a:t>
            </a:r>
            <a:endParaRPr lang="en-US" sz="1700" dirty="0"/>
          </a:p>
        </p:txBody>
      </p:sp>
      <p:sp>
        <p:nvSpPr>
          <p:cNvPr id="38" name="Text 33"/>
          <p:cNvSpPr txBox="1"/>
          <p:nvPr/>
        </p:nvSpPr>
        <p:spPr>
          <a:xfrm>
            <a:off x="8266176" y="5258082"/>
            <a:ext cx="3108960" cy="42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it fails, you need to know before the manager does.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ATTEMPT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write one Python script</a:t>
            </a:r>
            <a:endParaRPr lang="en-US" sz="3200" dirty="0"/>
          </a:p>
        </p:txBody>
      </p:sp>
      <p:sp>
        <p:nvSpPr>
          <p:cNvPr id="4" name="panel_46"/>
          <p:cNvSpPr/>
          <p:nvPr/>
        </p:nvSpPr>
        <p:spPr>
          <a:xfrm>
            <a:off x="548640" y="1572768"/>
            <a:ext cx="6400800" cy="2834640"/>
          </a:xfrm>
          <a:prstGeom prst="roundRect">
            <a:avLst>
              <a:gd name="adj" fmla="val 3871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37360"/>
            <a:ext cx="5925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daily_report.py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084832"/>
            <a:ext cx="5925312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download_sales()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clean_sales()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save_to_database()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email_manager()</a:t>
            </a:r>
            <a:endParaRPr lang="en-US" sz="1300" dirty="0"/>
          </a:p>
        </p:txBody>
      </p:sp>
      <p:sp>
        <p:nvSpPr>
          <p:cNvPr id="7" name="panel_47"/>
          <p:cNvSpPr/>
          <p:nvPr/>
        </p:nvSpPr>
        <p:spPr>
          <a:xfrm>
            <a:off x="7251192" y="1572768"/>
            <a:ext cx="4389120" cy="2834640"/>
          </a:xfrm>
          <a:prstGeom prst="roundRect">
            <a:avLst>
              <a:gd name="adj" fmla="val 3871"/>
            </a:avLst>
          </a:prstGeom>
          <a:solidFill>
            <a:srgbClr val="1A2741"/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25512" y="1792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AA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GOOD CODE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525512" y="219456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is wrong with it. It is clear, it is short, and it works when you run it.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is not the code. The problem is everything around the code.</a:t>
            </a:r>
            <a:endParaRPr lang="en-US" sz="1500" dirty="0"/>
          </a:p>
        </p:txBody>
      </p:sp>
      <p:sp>
        <p:nvSpPr>
          <p:cNvPr id="10" name="panel_48"/>
          <p:cNvSpPr/>
          <p:nvPr/>
        </p:nvSpPr>
        <p:spPr>
          <a:xfrm>
            <a:off x="548640" y="46634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4736592"/>
            <a:ext cx="10469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still have to remember to run it, every single morning, forever.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ATTEMPT 1 FAILS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things this script cannot do</a:t>
            </a:r>
            <a:endParaRPr lang="en-US" sz="3200" dirty="0"/>
          </a:p>
        </p:txBody>
      </p:sp>
      <p:sp>
        <p:nvSpPr>
          <p:cNvPr id="4" name="panel_49"/>
          <p:cNvSpPr/>
          <p:nvPr/>
        </p:nvSpPr>
        <p:spPr>
          <a:xfrm>
            <a:off x="548640" y="1572768"/>
            <a:ext cx="5394960" cy="1938528"/>
          </a:xfrm>
          <a:prstGeom prst="roundRect">
            <a:avLst>
              <a:gd name="adj" fmla="val 566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badge_50"/>
          <p:cNvSpPr/>
          <p:nvPr/>
        </p:nvSpPr>
        <p:spPr>
          <a:xfrm>
            <a:off x="804672" y="1828800"/>
            <a:ext cx="658368" cy="658368"/>
          </a:xfrm>
          <a:prstGeom prst="ellipse">
            <a:avLst/>
          </a:prstGeom>
          <a:solidFill>
            <a:srgbClr val="F2545B">
              <a:alpha val="18000"/>
            </a:srgbClr>
          </a:solidFill>
          <a:ln w="15875">
            <a:solidFill>
              <a:srgbClr val="F2545B"/>
            </a:solidFill>
            <a:prstDash val="solid"/>
          </a:ln>
        </p:spPr>
      </p:sp>
      <p:pic>
        <p:nvPicPr>
          <p:cNvPr id="6" name="icon_5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431" y="2006559"/>
            <a:ext cx="302849" cy="3028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64208" y="1810512"/>
            <a:ext cx="4023360" cy="31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cannot stop halfway, safely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64208" y="2166351"/>
            <a:ext cx="4023360" cy="815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download fails, the next three lines run anyway. You email the manager a report built from nothing.</a:t>
            </a:r>
            <a:endParaRPr lang="en-US" sz="1400" dirty="0"/>
          </a:p>
        </p:txBody>
      </p:sp>
      <p:sp>
        <p:nvSpPr>
          <p:cNvPr id="9" name="panel_52"/>
          <p:cNvSpPr/>
          <p:nvPr/>
        </p:nvSpPr>
        <p:spPr>
          <a:xfrm>
            <a:off x="6245352" y="1572768"/>
            <a:ext cx="5394960" cy="1938528"/>
          </a:xfrm>
          <a:prstGeom prst="roundRect">
            <a:avLst>
              <a:gd name="adj" fmla="val 566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0" name="badge_53"/>
          <p:cNvSpPr/>
          <p:nvPr/>
        </p:nvSpPr>
        <p:spPr>
          <a:xfrm>
            <a:off x="6501384" y="1828800"/>
            <a:ext cx="658368" cy="658368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1" name="icon_5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143" y="2006559"/>
            <a:ext cx="302849" cy="3028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1810512"/>
            <a:ext cx="4023360" cy="31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cannot try again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2166351"/>
            <a:ext cx="4023360" cy="815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internet hiccups for ten seconds and the whole morning is lost. Nothing retries on its own.</a:t>
            </a:r>
            <a:endParaRPr lang="en-US" sz="1400" dirty="0"/>
          </a:p>
        </p:txBody>
      </p:sp>
      <p:sp>
        <p:nvSpPr>
          <p:cNvPr id="14" name="panel_55"/>
          <p:cNvSpPr/>
          <p:nvPr/>
        </p:nvSpPr>
        <p:spPr>
          <a:xfrm>
            <a:off x="548640" y="3721608"/>
            <a:ext cx="5394960" cy="1938528"/>
          </a:xfrm>
          <a:prstGeom prst="roundRect">
            <a:avLst>
              <a:gd name="adj" fmla="val 566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5" name="badge_56"/>
          <p:cNvSpPr/>
          <p:nvPr/>
        </p:nvSpPr>
        <p:spPr>
          <a:xfrm>
            <a:off x="804672" y="3977640"/>
            <a:ext cx="658368" cy="658368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6" name="icon_5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431" y="4155399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64208" y="3959352"/>
            <a:ext cx="4023360" cy="31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cannot tell you what happened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664208" y="4315191"/>
            <a:ext cx="4023360" cy="815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it run? Which step broke? How long did it take? There is nowhere to look and nothing is written down.</a:t>
            </a:r>
            <a:endParaRPr lang="en-US" sz="1400" dirty="0"/>
          </a:p>
        </p:txBody>
      </p:sp>
      <p:sp>
        <p:nvSpPr>
          <p:cNvPr id="19" name="panel_58"/>
          <p:cNvSpPr/>
          <p:nvPr/>
        </p:nvSpPr>
        <p:spPr>
          <a:xfrm>
            <a:off x="6245352" y="3721608"/>
            <a:ext cx="5394960" cy="1938528"/>
          </a:xfrm>
          <a:prstGeom prst="roundRect">
            <a:avLst>
              <a:gd name="adj" fmla="val 566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badge_59"/>
          <p:cNvSpPr/>
          <p:nvPr/>
        </p:nvSpPr>
        <p:spPr>
          <a:xfrm>
            <a:off x="6501384" y="3977640"/>
            <a:ext cx="658368" cy="658368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21" name="icon_6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143" y="4155399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3959352"/>
            <a:ext cx="4023360" cy="31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cannot remember yesterday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360920" y="4315191"/>
            <a:ext cx="4023360" cy="815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Tuesday's report go out? Nobody knows. You would have to check your email and guess.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ATTEMPT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"Just put it on a timer"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computer has a timer built in. On Linux it is called cron. You give it a time and a command, and it runs that command at that time.</a:t>
            </a:r>
            <a:endParaRPr lang="en-US" sz="1500" dirty="0"/>
          </a:p>
        </p:txBody>
      </p:sp>
      <p:sp>
        <p:nvSpPr>
          <p:cNvPr id="5" name="panel_61"/>
          <p:cNvSpPr/>
          <p:nvPr/>
        </p:nvSpPr>
        <p:spPr>
          <a:xfrm>
            <a:off x="548640" y="2057400"/>
            <a:ext cx="5852160" cy="1463040"/>
          </a:xfrm>
          <a:prstGeom prst="roundRect">
            <a:avLst>
              <a:gd name="adj" fmla="val 7500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221992"/>
            <a:ext cx="5376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TIMER ENTRY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569464"/>
            <a:ext cx="5376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at 6:00 every day, run this file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6 * * *   python daily_report.py</a:t>
            </a:r>
            <a:endParaRPr lang="en-US" sz="1300" dirty="0"/>
          </a:p>
        </p:txBody>
      </p:sp>
      <p:sp>
        <p:nvSpPr>
          <p:cNvPr id="8" name="panel_62"/>
          <p:cNvSpPr/>
          <p:nvPr/>
        </p:nvSpPr>
        <p:spPr>
          <a:xfrm>
            <a:off x="6702552" y="2057400"/>
            <a:ext cx="4937760" cy="1463040"/>
          </a:xfrm>
          <a:prstGeom prst="roundRect">
            <a:avLst>
              <a:gd name="adj" fmla="val 7500"/>
            </a:avLst>
          </a:prstGeom>
          <a:solidFill>
            <a:srgbClr val="1A2741"/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76872" y="22585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AA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DOES HELP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976872" y="2615184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no longer have to remember. That is one of our four problems solved.</a:t>
            </a:r>
            <a:endParaRPr lang="en-US" sz="1450" dirty="0"/>
          </a:p>
        </p:txBody>
      </p:sp>
      <p:sp>
        <p:nvSpPr>
          <p:cNvPr id="11" name="panel_63"/>
          <p:cNvSpPr/>
          <p:nvPr/>
        </p:nvSpPr>
        <p:spPr>
          <a:xfrm>
            <a:off x="548640" y="370332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9136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 THE OTHER THREE ARE STILL BROKEN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26110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timer only knows the clock. It never asks whether the download actually worked.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script fails at 6:02, the timer shrugs and waits until tomorrow.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find out it broke when the manager asks where his report is.</a:t>
            </a:r>
            <a:endParaRPr lang="en-US" sz="1400" dirty="0"/>
          </a:p>
        </p:txBody>
      </p:sp>
      <p:sp>
        <p:nvSpPr>
          <p:cNvPr id="14" name="panel_64"/>
          <p:cNvSpPr/>
          <p:nvPr/>
        </p:nvSpPr>
        <p:spPr>
          <a:xfrm>
            <a:off x="548640" y="525780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9536" y="5330952"/>
            <a:ext cx="10469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timer answers "what time is it?". It can never answer "did the step before this one work?"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ATTEMPT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Airflow does instead</a:t>
            </a:r>
            <a:endParaRPr lang="en-US" sz="3200" dirty="0"/>
          </a:p>
        </p:txBody>
      </p:sp>
      <p:sp>
        <p:nvSpPr>
          <p:cNvPr id="4" name="panel_65"/>
          <p:cNvSpPr/>
          <p:nvPr/>
        </p:nvSpPr>
        <p:spPr>
          <a:xfrm>
            <a:off x="548640" y="1572768"/>
            <a:ext cx="5577840" cy="2011680"/>
          </a:xfrm>
          <a:prstGeom prst="roundRect">
            <a:avLst>
              <a:gd name="adj" fmla="val 5455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badge_66"/>
          <p:cNvSpPr/>
          <p:nvPr/>
        </p:nvSpPr>
        <p:spPr>
          <a:xfrm>
            <a:off x="868680" y="1847088"/>
            <a:ext cx="685800" cy="685800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6" name="icon_6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846" y="2032254"/>
            <a:ext cx="315468" cy="3154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82880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9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Airflow runs your tasks in the right order, at the right time, and shows you exactly what happened.</a:t>
            </a:r>
            <a:endParaRPr lang="en-US" sz="1900" dirty="0"/>
          </a:p>
        </p:txBody>
      </p:sp>
      <p:sp>
        <p:nvSpPr>
          <p:cNvPr id="8" name="panel_68"/>
          <p:cNvSpPr/>
          <p:nvPr/>
        </p:nvSpPr>
        <p:spPr>
          <a:xfrm>
            <a:off x="6428232" y="1572768"/>
            <a:ext cx="5212080" cy="914400"/>
          </a:xfrm>
          <a:prstGeom prst="roundRect">
            <a:avLst>
              <a:gd name="adj" fmla="val 12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9" name="badge_69"/>
          <p:cNvSpPr/>
          <p:nvPr/>
        </p:nvSpPr>
        <p:spPr>
          <a:xfrm>
            <a:off x="6611112" y="1755648"/>
            <a:ext cx="457200" cy="457200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0" name="icon_7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6" y="1879092"/>
            <a:ext cx="210312" cy="2103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69480" y="1737360"/>
            <a:ext cx="4187952" cy="27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waits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269480" y="2058741"/>
            <a:ext cx="4187952" cy="213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only starts after download finishes successfully.</a:t>
            </a:r>
            <a:endParaRPr lang="en-US" sz="1100" dirty="0"/>
          </a:p>
        </p:txBody>
      </p:sp>
      <p:sp>
        <p:nvSpPr>
          <p:cNvPr id="13" name="panel_71"/>
          <p:cNvSpPr/>
          <p:nvPr/>
        </p:nvSpPr>
        <p:spPr>
          <a:xfrm>
            <a:off x="6428232" y="2542032"/>
            <a:ext cx="5212080" cy="914400"/>
          </a:xfrm>
          <a:prstGeom prst="roundRect">
            <a:avLst>
              <a:gd name="adj" fmla="val 12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4" name="badge_72"/>
          <p:cNvSpPr/>
          <p:nvPr/>
        </p:nvSpPr>
        <p:spPr>
          <a:xfrm>
            <a:off x="6611112" y="2724912"/>
            <a:ext cx="457200" cy="457200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15" name="icon_7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2848356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69480" y="2706624"/>
            <a:ext cx="4187952" cy="27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retries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269480" y="3028005"/>
            <a:ext cx="4187952" cy="24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failed step is tried again on its own.</a:t>
            </a:r>
            <a:endParaRPr lang="en-US" sz="1250" dirty="0"/>
          </a:p>
        </p:txBody>
      </p:sp>
      <p:sp>
        <p:nvSpPr>
          <p:cNvPr id="18" name="panel_74"/>
          <p:cNvSpPr/>
          <p:nvPr/>
        </p:nvSpPr>
        <p:spPr>
          <a:xfrm>
            <a:off x="6428232" y="3511296"/>
            <a:ext cx="5212080" cy="914400"/>
          </a:xfrm>
          <a:prstGeom prst="roundRect">
            <a:avLst>
              <a:gd name="adj" fmla="val 12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9" name="badge_75"/>
          <p:cNvSpPr/>
          <p:nvPr/>
        </p:nvSpPr>
        <p:spPr>
          <a:xfrm>
            <a:off x="6611112" y="3694176"/>
            <a:ext cx="457200" cy="457200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20" name="icon_7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556" y="3817620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69480" y="3675888"/>
            <a:ext cx="4187952" cy="27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shows you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269480" y="3997269"/>
            <a:ext cx="4187952" cy="24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green or red box for every step, every day.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6428232" y="457200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word for this is orchestration. An orchestra has the same players with or without a conductor. The conductor decides who plays, when, and what to do when somebody misses their entry.</a:t>
            </a:r>
            <a:endParaRPr lang="en-US" sz="1350" dirty="0"/>
          </a:p>
        </p:txBody>
      </p:sp>
      <p:sp>
        <p:nvSpPr>
          <p:cNvPr id="24" name="panel_77"/>
          <p:cNvSpPr/>
          <p:nvPr/>
        </p:nvSpPr>
        <p:spPr>
          <a:xfrm>
            <a:off x="548640" y="3749040"/>
            <a:ext cx="5577840" cy="1965960"/>
          </a:xfrm>
          <a:prstGeom prst="roundRect">
            <a:avLst>
              <a:gd name="adj" fmla="val 5581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68680" y="39502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FOUR PROBLEMS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868680" y="4315968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safely  —  yes</a:t>
            </a:r>
            <a:endParaRPr lang="en-US" sz="150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again  —  yes</a:t>
            </a:r>
            <a:endParaRPr lang="en-US" sz="150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Tell you what happened  —  yes</a:t>
            </a:r>
            <a:endParaRPr lang="en-US" sz="150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 yesterday  —  yes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MAIN IDEA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DAG is just your pipeline, drawn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DAG stands for Directed Acyclic Graph. It is a scary name for a simple picture. Take it one letter at a time.</a:t>
            </a:r>
            <a:endParaRPr lang="en-US" sz="1500" dirty="0"/>
          </a:p>
        </p:txBody>
      </p:sp>
      <p:sp>
        <p:nvSpPr>
          <p:cNvPr id="5" name="panel_78"/>
          <p:cNvSpPr/>
          <p:nvPr/>
        </p:nvSpPr>
        <p:spPr>
          <a:xfrm>
            <a:off x="548640" y="2011680"/>
            <a:ext cx="3511296" cy="2011680"/>
          </a:xfrm>
          <a:prstGeom prst="roundRect">
            <a:avLst>
              <a:gd name="adj" fmla="val 545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6" name="badge_79"/>
          <p:cNvSpPr/>
          <p:nvPr/>
        </p:nvSpPr>
        <p:spPr>
          <a:xfrm>
            <a:off x="749808" y="2212848"/>
            <a:ext cx="640080" cy="640080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7" name="icon_8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30" y="2385670"/>
            <a:ext cx="294437" cy="2944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926080"/>
            <a:ext cx="3108960" cy="31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 is for Directed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272775"/>
            <a:ext cx="3108960" cy="46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arrows point one way. Download → Clean means clean waits for download.</a:t>
            </a:r>
            <a:endParaRPr lang="en-US" sz="1200" dirty="0"/>
          </a:p>
        </p:txBody>
      </p:sp>
      <p:sp>
        <p:nvSpPr>
          <p:cNvPr id="10" name="panel_81"/>
          <p:cNvSpPr/>
          <p:nvPr/>
        </p:nvSpPr>
        <p:spPr>
          <a:xfrm>
            <a:off x="4306824" y="2011680"/>
            <a:ext cx="3511296" cy="2011680"/>
          </a:xfrm>
          <a:prstGeom prst="roundRect">
            <a:avLst>
              <a:gd name="adj" fmla="val 545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badge_82"/>
          <p:cNvSpPr/>
          <p:nvPr/>
        </p:nvSpPr>
        <p:spPr>
          <a:xfrm>
            <a:off x="4507992" y="2212848"/>
            <a:ext cx="640080" cy="640080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2" name="icon_8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14" y="2385670"/>
            <a:ext cx="294437" cy="29443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07992" y="2926080"/>
            <a:ext cx="3108960" cy="31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is for Acyclic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07992" y="3272775"/>
            <a:ext cx="3108960" cy="52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arrow loops back. Nothing can wait for itself.</a:t>
            </a:r>
            <a:endParaRPr lang="en-US" sz="1350" dirty="0"/>
          </a:p>
        </p:txBody>
      </p:sp>
      <p:sp>
        <p:nvSpPr>
          <p:cNvPr id="15" name="panel_84"/>
          <p:cNvSpPr/>
          <p:nvPr/>
        </p:nvSpPr>
        <p:spPr>
          <a:xfrm>
            <a:off x="8065008" y="2011680"/>
            <a:ext cx="3511296" cy="2011680"/>
          </a:xfrm>
          <a:prstGeom prst="roundRect">
            <a:avLst>
              <a:gd name="adj" fmla="val 545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6" name="badge_85"/>
          <p:cNvSpPr/>
          <p:nvPr/>
        </p:nvSpPr>
        <p:spPr>
          <a:xfrm>
            <a:off x="8266176" y="2212848"/>
            <a:ext cx="640080" cy="640080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17" name="icon_8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998" y="2385670"/>
            <a:ext cx="294437" cy="29443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66176" y="2926080"/>
            <a:ext cx="3108960" cy="31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 is for Graph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266176" y="3272775"/>
            <a:ext cx="3108960" cy="52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 boxes and arrows — the drawing you would do on paper.</a:t>
            </a:r>
            <a:endParaRPr lang="en-US" sz="1350" dirty="0"/>
          </a:p>
        </p:txBody>
      </p:sp>
      <p:sp>
        <p:nvSpPr>
          <p:cNvPr id="20" name="panel_87"/>
          <p:cNvSpPr/>
          <p:nvPr/>
        </p:nvSpPr>
        <p:spPr>
          <a:xfrm>
            <a:off x="548640" y="4114800"/>
            <a:ext cx="11091672" cy="1600200"/>
          </a:xfrm>
          <a:prstGeom prst="roundRect">
            <a:avLst>
              <a:gd name="adj" fmla="val 6857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22960" y="43159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SALES REPORT, AS A DAG</a:t>
            </a:r>
            <a:endParaRPr lang="en-US" sz="1100" dirty="0"/>
          </a:p>
        </p:txBody>
      </p:sp>
      <p:sp>
        <p:nvSpPr>
          <p:cNvPr id="22" name="panel_88"/>
          <p:cNvSpPr/>
          <p:nvPr/>
        </p:nvSpPr>
        <p:spPr>
          <a:xfrm>
            <a:off x="868680" y="4809744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31D3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051560" y="491032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download</a:t>
            </a:r>
            <a:endParaRPr lang="en-US" sz="1300" dirty="0"/>
          </a:p>
        </p:txBody>
      </p:sp>
      <p:sp>
        <p:nvSpPr>
          <p:cNvPr id="24" name="conn_89"/>
          <p:cNvSpPr/>
          <p:nvPr/>
        </p:nvSpPr>
        <p:spPr>
          <a:xfrm>
            <a:off x="2971800" y="5038344"/>
            <a:ext cx="594360" cy="0"/>
          </a:xfrm>
          <a:prstGeom prst="line">
            <a:avLst/>
          </a:prstGeom>
          <a:noFill/>
          <a:ln w="19050">
            <a:solidFill>
              <a:srgbClr val="26375A"/>
            </a:solidFill>
            <a:prstDash val="solid"/>
            <a:headEnd type="none"/>
            <a:tailEnd type="arrow"/>
          </a:ln>
        </p:spPr>
      </p:sp>
      <p:sp>
        <p:nvSpPr>
          <p:cNvPr id="25" name="panel_90"/>
          <p:cNvSpPr/>
          <p:nvPr/>
        </p:nvSpPr>
        <p:spPr>
          <a:xfrm>
            <a:off x="3566160" y="4809744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31D3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3749040" y="491032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clean</a:t>
            </a:r>
            <a:endParaRPr lang="en-US" sz="1300" dirty="0"/>
          </a:p>
        </p:txBody>
      </p:sp>
      <p:sp>
        <p:nvSpPr>
          <p:cNvPr id="27" name="conn_91"/>
          <p:cNvSpPr/>
          <p:nvPr/>
        </p:nvSpPr>
        <p:spPr>
          <a:xfrm>
            <a:off x="5669280" y="5038344"/>
            <a:ext cx="594360" cy="0"/>
          </a:xfrm>
          <a:prstGeom prst="line">
            <a:avLst/>
          </a:prstGeom>
          <a:noFill/>
          <a:ln w="19050">
            <a:solidFill>
              <a:srgbClr val="26375A"/>
            </a:solidFill>
            <a:prstDash val="solid"/>
            <a:headEnd type="none"/>
            <a:tailEnd type="arrow"/>
          </a:ln>
        </p:spPr>
      </p:sp>
      <p:sp>
        <p:nvSpPr>
          <p:cNvPr id="28" name="panel_92"/>
          <p:cNvSpPr/>
          <p:nvPr/>
        </p:nvSpPr>
        <p:spPr>
          <a:xfrm>
            <a:off x="6263640" y="4809744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31D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446520" y="491032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save</a:t>
            </a:r>
            <a:endParaRPr lang="en-US" sz="1300" dirty="0"/>
          </a:p>
        </p:txBody>
      </p:sp>
      <p:sp>
        <p:nvSpPr>
          <p:cNvPr id="30" name="conn_93"/>
          <p:cNvSpPr/>
          <p:nvPr/>
        </p:nvSpPr>
        <p:spPr>
          <a:xfrm>
            <a:off x="8366760" y="5038344"/>
            <a:ext cx="594360" cy="0"/>
          </a:xfrm>
          <a:prstGeom prst="line">
            <a:avLst/>
          </a:prstGeom>
          <a:noFill/>
          <a:ln w="19050">
            <a:solidFill>
              <a:srgbClr val="26375A"/>
            </a:solidFill>
            <a:prstDash val="solid"/>
            <a:headEnd type="none"/>
            <a:tailEnd type="arrow"/>
          </a:ln>
        </p:spPr>
      </p:sp>
      <p:sp>
        <p:nvSpPr>
          <p:cNvPr id="31" name="panel_94"/>
          <p:cNvSpPr/>
          <p:nvPr/>
        </p:nvSpPr>
        <p:spPr>
          <a:xfrm>
            <a:off x="8961120" y="4809744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31D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9144000" y="491032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email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Pipelines come in three shapes</a:t>
            </a:r>
            <a:endParaRPr lang="en-US" sz="3200" dirty="0"/>
          </a:p>
        </p:txBody>
      </p:sp>
      <p:sp>
        <p:nvSpPr>
          <p:cNvPr id="4" name="panel_95"/>
          <p:cNvSpPr/>
          <p:nvPr/>
        </p:nvSpPr>
        <p:spPr>
          <a:xfrm>
            <a:off x="548640" y="1572768"/>
            <a:ext cx="3511296" cy="3931920"/>
          </a:xfrm>
          <a:prstGeom prst="roundRect">
            <a:avLst>
              <a:gd name="adj" fmla="val 3125"/>
            </a:avLst>
          </a:prstGeom>
          <a:solidFill>
            <a:srgbClr val="131D3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810512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straight line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212848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step waits for the one before it. Our sales report is this shape.</a:t>
            </a:r>
            <a:endParaRPr lang="en-US" sz="1350" dirty="0"/>
          </a:p>
        </p:txBody>
      </p:sp>
      <p:sp>
        <p:nvSpPr>
          <p:cNvPr id="7" name="panel_96"/>
          <p:cNvSpPr/>
          <p:nvPr/>
        </p:nvSpPr>
        <p:spPr>
          <a:xfrm>
            <a:off x="4306824" y="1572768"/>
            <a:ext cx="3511296" cy="3931920"/>
          </a:xfrm>
          <a:prstGeom prst="roundRect">
            <a:avLst>
              <a:gd name="adj" fmla="val 3125"/>
            </a:avLst>
          </a:prstGeom>
          <a:solidFill>
            <a:srgbClr val="131D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2856" y="1810512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Split and join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62856" y="2212848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downloads happen at the same time, then one step waits for all three.</a:t>
            </a:r>
            <a:endParaRPr lang="en-US" sz="1350" dirty="0"/>
          </a:p>
        </p:txBody>
      </p:sp>
      <p:sp>
        <p:nvSpPr>
          <p:cNvPr id="10" name="panel_97"/>
          <p:cNvSpPr/>
          <p:nvPr/>
        </p:nvSpPr>
        <p:spPr>
          <a:xfrm>
            <a:off x="8065008" y="1572768"/>
            <a:ext cx="3511296" cy="3931920"/>
          </a:xfrm>
          <a:prstGeom prst="roundRect">
            <a:avLst>
              <a:gd name="adj" fmla="val 3125"/>
            </a:avLst>
          </a:prstGeom>
          <a:solidFill>
            <a:srgbClr val="131D31"/>
          </a:solidFill>
          <a:ln w="12700">
            <a:solidFill>
              <a:srgbClr val="8C4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810512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choice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212848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step decides which way to go. The road not taken is marked skipped, not failed.</a:t>
            </a:r>
            <a:endParaRPr lang="en-US" sz="1350" dirty="0"/>
          </a:p>
        </p:txBody>
      </p:sp>
      <p:sp>
        <p:nvSpPr>
          <p:cNvPr id="13" name="panel_98"/>
          <p:cNvSpPr/>
          <p:nvPr/>
        </p:nvSpPr>
        <p:spPr>
          <a:xfrm>
            <a:off x="1572768" y="338328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131D3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55648" y="344728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</a:t>
            </a:r>
            <a:endParaRPr lang="en-US" sz="1200" dirty="0"/>
          </a:p>
        </p:txBody>
      </p:sp>
      <p:sp>
        <p:nvSpPr>
          <p:cNvPr id="15" name="conn_99"/>
          <p:cNvSpPr/>
          <p:nvPr/>
        </p:nvSpPr>
        <p:spPr>
          <a:xfrm>
            <a:off x="2304288" y="3767328"/>
            <a:ext cx="0" cy="292608"/>
          </a:xfrm>
          <a:prstGeom prst="line">
            <a:avLst/>
          </a:prstGeom>
          <a:noFill/>
          <a:ln w="19050">
            <a:solidFill>
              <a:srgbClr val="26375A"/>
            </a:solidFill>
            <a:prstDash val="solid"/>
            <a:headEnd type="none"/>
            <a:tailEnd type="arrow"/>
          </a:ln>
        </p:spPr>
      </p:sp>
      <p:sp>
        <p:nvSpPr>
          <p:cNvPr id="16" name="panel_100"/>
          <p:cNvSpPr/>
          <p:nvPr/>
        </p:nvSpPr>
        <p:spPr>
          <a:xfrm>
            <a:off x="1572768" y="4059936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131D3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55648" y="412394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conn_101"/>
          <p:cNvSpPr/>
          <p:nvPr/>
        </p:nvSpPr>
        <p:spPr>
          <a:xfrm>
            <a:off x="2304288" y="4443984"/>
            <a:ext cx="0" cy="292608"/>
          </a:xfrm>
          <a:prstGeom prst="line">
            <a:avLst/>
          </a:prstGeom>
          <a:noFill/>
          <a:ln w="19050">
            <a:solidFill>
              <a:srgbClr val="26375A"/>
            </a:solidFill>
            <a:prstDash val="solid"/>
            <a:headEnd type="none"/>
            <a:tailEnd type="arrow"/>
          </a:ln>
        </p:spPr>
      </p:sp>
      <p:sp>
        <p:nvSpPr>
          <p:cNvPr id="19" name="panel_102"/>
          <p:cNvSpPr/>
          <p:nvPr/>
        </p:nvSpPr>
        <p:spPr>
          <a:xfrm>
            <a:off x="1572768" y="4736592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131D3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755648" y="4800600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</a:t>
            </a:r>
            <a:endParaRPr lang="en-US" sz="1200" dirty="0"/>
          </a:p>
        </p:txBody>
      </p:sp>
      <p:sp>
        <p:nvSpPr>
          <p:cNvPr id="21" name="panel_103"/>
          <p:cNvSpPr/>
          <p:nvPr/>
        </p:nvSpPr>
        <p:spPr>
          <a:xfrm>
            <a:off x="4626864" y="3383280"/>
            <a:ext cx="914400" cy="384048"/>
          </a:xfrm>
          <a:prstGeom prst="roundRect">
            <a:avLst>
              <a:gd name="adj" fmla="val 23810"/>
            </a:avLst>
          </a:prstGeom>
          <a:solidFill>
            <a:srgbClr val="131D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9744" y="34472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</a:t>
            </a:r>
            <a:endParaRPr lang="en-US" sz="1200" dirty="0"/>
          </a:p>
        </p:txBody>
      </p:sp>
      <p:sp>
        <p:nvSpPr>
          <p:cNvPr id="23" name="conn_104"/>
          <p:cNvSpPr/>
          <p:nvPr/>
        </p:nvSpPr>
        <p:spPr>
          <a:xfrm>
            <a:off x="5084064" y="3767328"/>
            <a:ext cx="978408" cy="804672"/>
          </a:xfrm>
          <a:prstGeom prst="line">
            <a:avLst/>
          </a:prstGeom>
          <a:noFill/>
          <a:ln w="19050">
            <a:solidFill>
              <a:srgbClr val="26375A"/>
            </a:solidFill>
            <a:prstDash val="solid"/>
            <a:headEnd type="none"/>
            <a:tailEnd type="arrow"/>
          </a:ln>
        </p:spPr>
      </p:sp>
      <p:sp>
        <p:nvSpPr>
          <p:cNvPr id="24" name="panel_105"/>
          <p:cNvSpPr/>
          <p:nvPr/>
        </p:nvSpPr>
        <p:spPr>
          <a:xfrm>
            <a:off x="5669280" y="3383280"/>
            <a:ext cx="914400" cy="384048"/>
          </a:xfrm>
          <a:prstGeom prst="roundRect">
            <a:avLst>
              <a:gd name="adj" fmla="val 23810"/>
            </a:avLst>
          </a:prstGeom>
          <a:solidFill>
            <a:srgbClr val="131D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52160" y="34472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</a:t>
            </a:r>
            <a:endParaRPr lang="en-US" sz="1200" dirty="0"/>
          </a:p>
        </p:txBody>
      </p:sp>
      <p:sp>
        <p:nvSpPr>
          <p:cNvPr id="26" name="conn_106"/>
          <p:cNvSpPr/>
          <p:nvPr/>
        </p:nvSpPr>
        <p:spPr>
          <a:xfrm flipH="1">
            <a:off x="6062472" y="3767328"/>
            <a:ext cx="64008" cy="804672"/>
          </a:xfrm>
          <a:prstGeom prst="line">
            <a:avLst/>
          </a:prstGeom>
          <a:noFill/>
          <a:ln w="19050">
            <a:solidFill>
              <a:srgbClr val="26375A"/>
            </a:solidFill>
            <a:prstDash val="solid"/>
            <a:headEnd type="none"/>
            <a:tailEnd type="arrow"/>
          </a:ln>
        </p:spPr>
      </p:sp>
      <p:sp>
        <p:nvSpPr>
          <p:cNvPr id="27" name="panel_107"/>
          <p:cNvSpPr/>
          <p:nvPr/>
        </p:nvSpPr>
        <p:spPr>
          <a:xfrm>
            <a:off x="6711696" y="3383280"/>
            <a:ext cx="914400" cy="384048"/>
          </a:xfrm>
          <a:prstGeom prst="roundRect">
            <a:avLst>
              <a:gd name="adj" fmla="val 23810"/>
            </a:avLst>
          </a:prstGeom>
          <a:solidFill>
            <a:srgbClr val="131D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94576" y="34472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</a:t>
            </a:r>
            <a:endParaRPr lang="en-US" sz="1200" dirty="0"/>
          </a:p>
        </p:txBody>
      </p:sp>
      <p:sp>
        <p:nvSpPr>
          <p:cNvPr id="29" name="conn_108"/>
          <p:cNvSpPr/>
          <p:nvPr/>
        </p:nvSpPr>
        <p:spPr>
          <a:xfrm flipH="1">
            <a:off x="6062472" y="3767328"/>
            <a:ext cx="1106424" cy="804672"/>
          </a:xfrm>
          <a:prstGeom prst="line">
            <a:avLst/>
          </a:prstGeom>
          <a:noFill/>
          <a:ln w="19050">
            <a:solidFill>
              <a:srgbClr val="26375A"/>
            </a:solidFill>
            <a:prstDash val="solid"/>
            <a:headEnd type="none"/>
            <a:tailEnd type="arrow"/>
          </a:ln>
        </p:spPr>
      </p:sp>
      <p:sp>
        <p:nvSpPr>
          <p:cNvPr id="30" name="panel_109"/>
          <p:cNvSpPr/>
          <p:nvPr/>
        </p:nvSpPr>
        <p:spPr>
          <a:xfrm>
            <a:off x="5330952" y="457200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131D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13832" y="463600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join</a:t>
            </a:r>
            <a:endParaRPr lang="en-US" sz="1200" dirty="0"/>
          </a:p>
        </p:txBody>
      </p:sp>
      <p:sp>
        <p:nvSpPr>
          <p:cNvPr id="32" name="panel_110"/>
          <p:cNvSpPr/>
          <p:nvPr/>
        </p:nvSpPr>
        <p:spPr>
          <a:xfrm>
            <a:off x="9089136" y="338328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131D31"/>
          </a:solidFill>
          <a:ln w="12700">
            <a:solidFill>
              <a:srgbClr val="8C4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72016" y="344728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check</a:t>
            </a:r>
            <a:endParaRPr lang="en-US" sz="1200" dirty="0"/>
          </a:p>
        </p:txBody>
      </p:sp>
      <p:sp>
        <p:nvSpPr>
          <p:cNvPr id="34" name="panel_111"/>
          <p:cNvSpPr/>
          <p:nvPr/>
        </p:nvSpPr>
        <p:spPr>
          <a:xfrm>
            <a:off x="8321040" y="448056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131D31"/>
          </a:solidFill>
          <a:ln w="12700">
            <a:solidFill>
              <a:srgbClr val="8C4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03920" y="454456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yes</a:t>
            </a:r>
            <a:endParaRPr lang="en-US" sz="1200" dirty="0"/>
          </a:p>
        </p:txBody>
      </p:sp>
      <p:sp>
        <p:nvSpPr>
          <p:cNvPr id="36" name="panel_112"/>
          <p:cNvSpPr/>
          <p:nvPr/>
        </p:nvSpPr>
        <p:spPr>
          <a:xfrm>
            <a:off x="10012680" y="4480560"/>
            <a:ext cx="1371600" cy="384048"/>
          </a:xfrm>
          <a:prstGeom prst="roundRect">
            <a:avLst>
              <a:gd name="adj" fmla="val 23810"/>
            </a:avLst>
          </a:prstGeom>
          <a:solidFill>
            <a:srgbClr val="131D31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195560" y="454456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</a:t>
            </a:r>
            <a:endParaRPr lang="en-US" sz="1200" dirty="0"/>
          </a:p>
        </p:txBody>
      </p:sp>
      <p:sp>
        <p:nvSpPr>
          <p:cNvPr id="38" name="conn_113"/>
          <p:cNvSpPr/>
          <p:nvPr/>
        </p:nvSpPr>
        <p:spPr>
          <a:xfrm flipH="1">
            <a:off x="9006840" y="3767328"/>
            <a:ext cx="813816" cy="713232"/>
          </a:xfrm>
          <a:prstGeom prst="line">
            <a:avLst/>
          </a:prstGeom>
          <a:noFill/>
          <a:ln w="19050">
            <a:solidFill>
              <a:srgbClr val="8C4FFF"/>
            </a:solidFill>
            <a:prstDash val="solid"/>
            <a:headEnd type="none"/>
            <a:tailEnd type="arrow"/>
          </a:ln>
        </p:spPr>
      </p:sp>
      <p:sp>
        <p:nvSpPr>
          <p:cNvPr id="39" name="conn_114"/>
          <p:cNvSpPr/>
          <p:nvPr/>
        </p:nvSpPr>
        <p:spPr>
          <a:xfrm>
            <a:off x="9820656" y="3767328"/>
            <a:ext cx="877824" cy="713232"/>
          </a:xfrm>
          <a:prstGeom prst="line">
            <a:avLst/>
          </a:prstGeom>
          <a:noFill/>
          <a:ln w="19050">
            <a:solidFill>
              <a:srgbClr val="5B6B85"/>
            </a:solidFill>
            <a:prstDash val="dash"/>
            <a:headEnd type="none"/>
            <a:tailEnd type="arrow"/>
          </a:ln>
        </p:spPr>
      </p:sp>
      <p:sp>
        <p:nvSpPr>
          <p:cNvPr id="40" name="Text 38"/>
          <p:cNvSpPr txBox="1"/>
          <p:nvPr/>
        </p:nvSpPr>
        <p:spPr>
          <a:xfrm>
            <a:off x="10012680" y="49377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skipped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65099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will mostly build the first two. The third one comes later, when a pipeline needs to make a decision.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BRIDGE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script becomes a DAG</a:t>
            </a:r>
            <a:endParaRPr lang="en-US" sz="3200" dirty="0"/>
          </a:p>
        </p:txBody>
      </p:sp>
      <p:sp>
        <p:nvSpPr>
          <p:cNvPr id="4" name="panel_115"/>
          <p:cNvSpPr/>
          <p:nvPr/>
        </p:nvSpPr>
        <p:spPr>
          <a:xfrm>
            <a:off x="548640" y="164592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810512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WRITE TODAY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157984"/>
            <a:ext cx="4919472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download():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clean():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download()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clean()</a:t>
            </a:r>
            <a:endParaRPr lang="en-US" sz="1300" dirty="0"/>
          </a:p>
        </p:txBody>
      </p:sp>
      <p:sp>
        <p:nvSpPr>
          <p:cNvPr id="7" name="panel_116"/>
          <p:cNvSpPr/>
          <p:nvPr/>
        </p:nvSpPr>
        <p:spPr>
          <a:xfrm>
            <a:off x="6245352" y="164592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3096" y="1810512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THING, FOR AIRFLOW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83096" y="2157984"/>
            <a:ext cx="4919472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@task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download():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@task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clean():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clean(download())</a:t>
            </a:r>
            <a:endParaRPr lang="en-US" sz="1250" dirty="0"/>
          </a:p>
        </p:txBody>
      </p:sp>
      <p:sp>
        <p:nvSpPr>
          <p:cNvPr id="10" name="bridgeArrow"/>
          <p:cNvSpPr/>
          <p:nvPr/>
        </p:nvSpPr>
        <p:spPr>
          <a:xfrm>
            <a:off x="5888736" y="3063240"/>
            <a:ext cx="292608" cy="365760"/>
          </a:xfrm>
          <a:prstGeom prst="rightArrow">
            <a:avLst/>
          </a:prstGeom>
          <a:solidFill>
            <a:srgbClr val="FF99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panel_117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1A274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" y="5102352"/>
            <a:ext cx="10469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is the same Python. You add @task above each function, and instead of calling them one after another you pass one into the other. That is how Airflow learns the order.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@ SIGN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is that line above the function?</a:t>
            </a:r>
            <a:endParaRPr lang="en-US" sz="3200" dirty="0"/>
          </a:p>
        </p:txBody>
      </p:sp>
      <p:sp>
        <p:nvSpPr>
          <p:cNvPr id="4" name="panel_118"/>
          <p:cNvSpPr/>
          <p:nvPr/>
        </p:nvSpPr>
        <p:spPr>
          <a:xfrm>
            <a:off x="548640" y="1572768"/>
            <a:ext cx="5577840" cy="2103120"/>
          </a:xfrm>
          <a:prstGeom prst="roundRect">
            <a:avLst>
              <a:gd name="adj" fmla="val 5217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badge_119"/>
          <p:cNvSpPr/>
          <p:nvPr/>
        </p:nvSpPr>
        <p:spPr>
          <a:xfrm>
            <a:off x="868680" y="1847088"/>
            <a:ext cx="658368" cy="658368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6" name="icon_12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439" y="2024847"/>
            <a:ext cx="302849" cy="3028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47088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9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@task is a label. It tells Airflow "this function is a step in my pipeline".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84048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calls these decorators. You do not need to know how they work to use them — the same way you do not need to know how print() is built to print something.</a:t>
            </a:r>
            <a:endParaRPr lang="en-US" sz="1400" dirty="0"/>
          </a:p>
        </p:txBody>
      </p:sp>
      <p:sp>
        <p:nvSpPr>
          <p:cNvPr id="9" name="panel_121"/>
          <p:cNvSpPr/>
          <p:nvPr/>
        </p:nvSpPr>
        <p:spPr>
          <a:xfrm>
            <a:off x="6245352" y="1572768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83096" y="1737360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TWO YOU WILL USE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483096" y="2084832"/>
            <a:ext cx="49194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@dag     # above the whole pipeline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@task    # above each single step</a:t>
            </a:r>
            <a:endParaRPr lang="en-US" sz="1250" dirty="0"/>
          </a:p>
        </p:txBody>
      </p:sp>
      <p:sp>
        <p:nvSpPr>
          <p:cNvPr id="12" name="panel_122"/>
          <p:cNvSpPr/>
          <p:nvPr/>
        </p:nvSpPr>
        <p:spPr>
          <a:xfrm>
            <a:off x="6245352" y="384048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31D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19672" y="40416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IT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519672" y="440740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function with no @task above it is just a normal function. Airflow will not see it as a step, and it will not get its own box, log or retry.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FIRST DAG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sales report, as a real file</a:t>
            </a:r>
            <a:endParaRPr lang="en-US" sz="3200" dirty="0"/>
          </a:p>
        </p:txBody>
      </p:sp>
      <p:sp>
        <p:nvSpPr>
          <p:cNvPr id="4" name="panel_123"/>
          <p:cNvSpPr/>
          <p:nvPr/>
        </p:nvSpPr>
        <p:spPr>
          <a:xfrm>
            <a:off x="548640" y="1572768"/>
            <a:ext cx="6766560" cy="4343400"/>
          </a:xfrm>
          <a:prstGeom prst="roundRect">
            <a:avLst>
              <a:gd name="adj" fmla="val 2526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37360"/>
            <a:ext cx="6291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dags/daily_report.py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084832"/>
            <a:ext cx="6291072" cy="3648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9B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airflow.sdk import dag, task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9B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pendulum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@dag(schedule="@daily", catchup=False,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start_date=pendulum.datetime(2026, 1, 1))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daily_report():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@task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download():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@task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clean(rows):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clean(download())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daily_report()</a:t>
            </a:r>
            <a:endParaRPr lang="en-US" sz="950" dirty="0"/>
          </a:p>
        </p:txBody>
      </p:sp>
      <p:sp>
        <p:nvSpPr>
          <p:cNvPr id="7" name="panel_124"/>
          <p:cNvSpPr/>
          <p:nvPr/>
        </p:nvSpPr>
        <p:spPr>
          <a:xfrm>
            <a:off x="7708392" y="1572768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36992" y="16642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936992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Marks the whole pipeline.</a:t>
            </a:r>
            <a:endParaRPr lang="en-US" sz="1200" dirty="0"/>
          </a:p>
        </p:txBody>
      </p:sp>
      <p:sp>
        <p:nvSpPr>
          <p:cNvPr id="10" name="panel_125"/>
          <p:cNvSpPr/>
          <p:nvPr/>
        </p:nvSpPr>
        <p:spPr>
          <a:xfrm>
            <a:off x="7708392" y="2304288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36992" y="23957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36992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start. "@daily" means once a day.</a:t>
            </a:r>
            <a:endParaRPr lang="en-US" sz="1200" dirty="0"/>
          </a:p>
        </p:txBody>
      </p:sp>
      <p:sp>
        <p:nvSpPr>
          <p:cNvPr id="13" name="panel_126"/>
          <p:cNvSpPr/>
          <p:nvPr/>
        </p:nvSpPr>
        <p:spPr>
          <a:xfrm>
            <a:off x="7708392" y="3035808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36992" y="31272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start_date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36992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day it should ever run.</a:t>
            </a:r>
            <a:endParaRPr lang="en-US" sz="1200" dirty="0"/>
          </a:p>
        </p:txBody>
      </p:sp>
      <p:sp>
        <p:nvSpPr>
          <p:cNvPr id="16" name="panel_127"/>
          <p:cNvSpPr/>
          <p:nvPr/>
        </p:nvSpPr>
        <p:spPr>
          <a:xfrm>
            <a:off x="7708392" y="3767328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36992" y="38587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catchup=False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36992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go back and run all the days you missed.</a:t>
            </a:r>
            <a:endParaRPr lang="en-US" sz="1200" dirty="0"/>
          </a:p>
        </p:txBody>
      </p:sp>
      <p:sp>
        <p:nvSpPr>
          <p:cNvPr id="19" name="panel_128"/>
          <p:cNvSpPr/>
          <p:nvPr/>
        </p:nvSpPr>
        <p:spPr>
          <a:xfrm>
            <a:off x="7708392" y="4498848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36992" y="45902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clean(download())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936992" y="4846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one line is the arrow between the two boxes.</a:t>
            </a:r>
            <a:endParaRPr lang="en-US" sz="1200" dirty="0"/>
          </a:p>
        </p:txBody>
      </p:sp>
      <p:sp>
        <p:nvSpPr>
          <p:cNvPr id="22" name="panel_129"/>
          <p:cNvSpPr/>
          <p:nvPr/>
        </p:nvSpPr>
        <p:spPr>
          <a:xfrm>
            <a:off x="7708392" y="5230368"/>
            <a:ext cx="3931920" cy="658368"/>
          </a:xfrm>
          <a:prstGeom prst="roundRect">
            <a:avLst>
              <a:gd name="adj" fmla="val 16667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36992" y="53218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daily_report()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936992" y="5577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last line switches it on. Forget it and nothing appears.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timer versus Airflow</a:t>
            </a:r>
            <a:endParaRPr lang="en-US" sz="3200" dirty="0"/>
          </a:p>
        </p:txBody>
      </p:sp>
      <p:graphicFrame>
        <p:nvGraphicFramePr>
          <p:cNvPr id="16" name="table_1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42336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Question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 timer (cron)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Airflow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Did the last step work?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545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Never asks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7AA11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Waits for it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if a step fails?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545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Carries on anyway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7AA11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Stops, then retries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 I see what happened?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545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Only if you saved a log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7AA11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web page, per step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Did it run last Tuesday?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545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Nobody knows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7AA11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 is all recorded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 I re-run just one step?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2545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7AA11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click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</a:tbl>
          </a:graphicData>
        </a:graphic>
      </p:graphicFrame>
      <p:sp>
        <p:nvSpPr>
          <p:cNvPr id="5" name="panel_131"/>
          <p:cNvSpPr/>
          <p:nvPr/>
        </p:nvSpPr>
        <p:spPr>
          <a:xfrm>
            <a:off x="548640" y="512064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" y="5193792"/>
            <a:ext cx="10469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anyone asks you in an interview: cron runs scripts on a clock, Airflow runs pipelines and keeps track of them.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 FAIR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do not always need Airflow</a:t>
            </a:r>
            <a:endParaRPr lang="en-US" sz="3200" dirty="0"/>
          </a:p>
        </p:txBody>
      </p:sp>
      <p:sp>
        <p:nvSpPr>
          <p:cNvPr id="4" name="panel_132"/>
          <p:cNvSpPr/>
          <p:nvPr/>
        </p:nvSpPr>
        <p:spPr>
          <a:xfrm>
            <a:off x="548640" y="173736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131D31"/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5" name="badge_133"/>
          <p:cNvSpPr/>
          <p:nvPr/>
        </p:nvSpPr>
        <p:spPr>
          <a:xfrm>
            <a:off x="822960" y="1993392"/>
            <a:ext cx="658368" cy="658368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6" name="icon_13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719" y="2171151"/>
            <a:ext cx="302849" cy="3028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00784" y="21396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timer is fine when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07792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only one step</a:t>
            </a:r>
            <a:endParaRPr lang="en-US" sz="150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bad happens if it fails</a:t>
            </a:r>
            <a:endParaRPr lang="en-US" sz="150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Nobody ever asks "did it run?"</a:t>
            </a:r>
            <a:endParaRPr lang="en-US" sz="150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Cleaning up old files, for example</a:t>
            </a:r>
            <a:endParaRPr lang="en-US" sz="1500" dirty="0"/>
          </a:p>
        </p:txBody>
      </p:sp>
      <p:sp>
        <p:nvSpPr>
          <p:cNvPr id="9" name="panel_135"/>
          <p:cNvSpPr/>
          <p:nvPr/>
        </p:nvSpPr>
        <p:spPr>
          <a:xfrm>
            <a:off x="6245352" y="173736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badge_136"/>
          <p:cNvSpPr/>
          <p:nvPr/>
        </p:nvSpPr>
        <p:spPr>
          <a:xfrm>
            <a:off x="6519672" y="1993392"/>
            <a:ext cx="658368" cy="658368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1" name="icon_13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431" y="2171151"/>
            <a:ext cx="302849" cy="3028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97496" y="21396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Airflow when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519672" y="2907792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are two or more steps in an order</a:t>
            </a:r>
            <a:endParaRPr lang="en-US" sz="150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 data would reach someone if it broke</a:t>
            </a:r>
            <a:endParaRPr lang="en-US" sz="150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Somebody depends on it every day</a:t>
            </a:r>
            <a:endParaRPr lang="en-US" sz="150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want to re-run just yesterday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892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Airflow is a real system with real running costs. Knowing when not to reach for it is a sign that you understand it.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you should be able to say now</a:t>
            </a:r>
            <a:endParaRPr lang="en-US" sz="3200" dirty="0"/>
          </a:p>
        </p:txBody>
      </p:sp>
      <p:sp>
        <p:nvSpPr>
          <p:cNvPr id="4" name="panel_138"/>
          <p:cNvSpPr/>
          <p:nvPr/>
        </p:nvSpPr>
        <p:spPr>
          <a:xfrm>
            <a:off x="548640" y="1572768"/>
            <a:ext cx="3511296" cy="1920240"/>
          </a:xfrm>
          <a:prstGeom prst="roundRect">
            <a:avLst>
              <a:gd name="adj" fmla="val 5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badge_139"/>
          <p:cNvSpPr/>
          <p:nvPr/>
        </p:nvSpPr>
        <p:spPr>
          <a:xfrm>
            <a:off x="749808" y="1773936"/>
            <a:ext cx="603504" cy="603504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6" name="icon_14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754" y="1936882"/>
            <a:ext cx="277612" cy="2776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450592"/>
            <a:ext cx="3108960" cy="2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plain script forgets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771444"/>
            <a:ext cx="3108960" cy="50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cannot stop safely, retry, explain itself or remember.</a:t>
            </a:r>
            <a:endParaRPr lang="en-US" sz="1300" dirty="0"/>
          </a:p>
        </p:txBody>
      </p:sp>
      <p:sp>
        <p:nvSpPr>
          <p:cNvPr id="9" name="panel_141"/>
          <p:cNvSpPr/>
          <p:nvPr/>
        </p:nvSpPr>
        <p:spPr>
          <a:xfrm>
            <a:off x="4306824" y="1572768"/>
            <a:ext cx="3511296" cy="1920240"/>
          </a:xfrm>
          <a:prstGeom prst="roundRect">
            <a:avLst>
              <a:gd name="adj" fmla="val 5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0" name="badge_142"/>
          <p:cNvSpPr/>
          <p:nvPr/>
        </p:nvSpPr>
        <p:spPr>
          <a:xfrm>
            <a:off x="4507992" y="1773936"/>
            <a:ext cx="603504" cy="603504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1" name="icon_14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938" y="1936882"/>
            <a:ext cx="277612" cy="2776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07992" y="2450592"/>
            <a:ext cx="3108960" cy="2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timer is not enough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4507992" y="2771444"/>
            <a:ext cx="3108960" cy="50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knows the time. It does not know if the last step worked.</a:t>
            </a:r>
            <a:endParaRPr lang="en-US" sz="1300" dirty="0"/>
          </a:p>
        </p:txBody>
      </p:sp>
      <p:sp>
        <p:nvSpPr>
          <p:cNvPr id="14" name="panel_144"/>
          <p:cNvSpPr/>
          <p:nvPr/>
        </p:nvSpPr>
        <p:spPr>
          <a:xfrm>
            <a:off x="8065008" y="1572768"/>
            <a:ext cx="3511296" cy="1920240"/>
          </a:xfrm>
          <a:prstGeom prst="roundRect">
            <a:avLst>
              <a:gd name="adj" fmla="val 5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5" name="badge_145"/>
          <p:cNvSpPr/>
          <p:nvPr/>
        </p:nvSpPr>
        <p:spPr>
          <a:xfrm>
            <a:off x="8266176" y="1773936"/>
            <a:ext cx="603504" cy="603504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16" name="icon_14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122" y="1936882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66176" y="2450592"/>
            <a:ext cx="3108960" cy="2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Airflow is a conductor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8266176" y="2771444"/>
            <a:ext cx="3108960" cy="50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 order, right time, and a record of what happened.</a:t>
            </a:r>
            <a:endParaRPr lang="en-US" sz="1300" dirty="0"/>
          </a:p>
        </p:txBody>
      </p:sp>
      <p:sp>
        <p:nvSpPr>
          <p:cNvPr id="19" name="panel_147"/>
          <p:cNvSpPr/>
          <p:nvPr/>
        </p:nvSpPr>
        <p:spPr>
          <a:xfrm>
            <a:off x="548640" y="3602736"/>
            <a:ext cx="3511296" cy="1920240"/>
          </a:xfrm>
          <a:prstGeom prst="roundRect">
            <a:avLst>
              <a:gd name="adj" fmla="val 5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badge_148"/>
          <p:cNvSpPr/>
          <p:nvPr/>
        </p:nvSpPr>
        <p:spPr>
          <a:xfrm>
            <a:off x="749808" y="3803904"/>
            <a:ext cx="603504" cy="603504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21" name="icon_14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754" y="3966850"/>
            <a:ext cx="277612" cy="2776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" y="4480560"/>
            <a:ext cx="3108960" cy="2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DAG is a drawing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4801412"/>
            <a:ext cx="3108960" cy="50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Boxes for tasks, arrows for order. No loops allowed.</a:t>
            </a:r>
            <a:endParaRPr lang="en-US" sz="1300" dirty="0"/>
          </a:p>
        </p:txBody>
      </p:sp>
      <p:sp>
        <p:nvSpPr>
          <p:cNvPr id="24" name="panel_150"/>
          <p:cNvSpPr/>
          <p:nvPr/>
        </p:nvSpPr>
        <p:spPr>
          <a:xfrm>
            <a:off x="4306824" y="3602736"/>
            <a:ext cx="3511296" cy="1920240"/>
          </a:xfrm>
          <a:prstGeom prst="roundRect">
            <a:avLst>
              <a:gd name="adj" fmla="val 5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5" name="badge_151"/>
          <p:cNvSpPr/>
          <p:nvPr/>
        </p:nvSpPr>
        <p:spPr>
          <a:xfrm>
            <a:off x="4507992" y="3803904"/>
            <a:ext cx="603504" cy="603504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26" name="icon_15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938" y="3966850"/>
            <a:ext cx="277612" cy="2776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07992" y="4480560"/>
            <a:ext cx="3108960" cy="2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is still Python</a:t>
            </a:r>
            <a:endParaRPr lang="en-US" sz="1650" dirty="0"/>
          </a:p>
        </p:txBody>
      </p:sp>
      <p:sp>
        <p:nvSpPr>
          <p:cNvPr id="28" name="Text 21"/>
          <p:cNvSpPr txBox="1"/>
          <p:nvPr/>
        </p:nvSpPr>
        <p:spPr>
          <a:xfrm>
            <a:off x="4507992" y="4801412"/>
            <a:ext cx="3108960" cy="50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@task, pass one task into the next. That is it.</a:t>
            </a:r>
            <a:endParaRPr lang="en-US" sz="1300" dirty="0"/>
          </a:p>
        </p:txBody>
      </p:sp>
      <p:sp>
        <p:nvSpPr>
          <p:cNvPr id="29" name="panel_153"/>
          <p:cNvSpPr/>
          <p:nvPr/>
        </p:nvSpPr>
        <p:spPr>
          <a:xfrm>
            <a:off x="8065008" y="3602736"/>
            <a:ext cx="3511296" cy="1920240"/>
          </a:xfrm>
          <a:prstGeom prst="roundRect">
            <a:avLst>
              <a:gd name="adj" fmla="val 5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30" name="badge_154"/>
          <p:cNvSpPr/>
          <p:nvPr/>
        </p:nvSpPr>
        <p:spPr>
          <a:xfrm>
            <a:off x="8266176" y="3803904"/>
            <a:ext cx="603504" cy="603504"/>
          </a:xfrm>
          <a:prstGeom prst="ellipse">
            <a:avLst/>
          </a:prstGeom>
          <a:solidFill>
            <a:srgbClr val="E7157B">
              <a:alpha val="18000"/>
            </a:srgbClr>
          </a:solidFill>
          <a:ln w="15875">
            <a:solidFill>
              <a:srgbClr val="E7157B"/>
            </a:solidFill>
            <a:prstDash val="solid"/>
          </a:ln>
        </p:spPr>
      </p:sp>
      <p:pic>
        <p:nvPicPr>
          <p:cNvPr id="31" name="icon_15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122" y="3966850"/>
            <a:ext cx="277612" cy="27761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66176" y="4480560"/>
            <a:ext cx="3108960" cy="284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get a web page</a:t>
            </a:r>
            <a:endParaRPr lang="en-US" sz="1650" dirty="0"/>
          </a:p>
        </p:txBody>
      </p:sp>
      <p:sp>
        <p:nvSpPr>
          <p:cNvPr id="33" name="Text 25"/>
          <p:cNvSpPr txBox="1"/>
          <p:nvPr/>
        </p:nvSpPr>
        <p:spPr>
          <a:xfrm>
            <a:off x="8266176" y="4801412"/>
            <a:ext cx="3108960" cy="50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 and red boxes for every step of every day.</a:t>
            </a:r>
            <a:endParaRPr lang="en-US" sz="1300" dirty="0"/>
          </a:p>
        </p:txBody>
      </p:sp>
      <p:sp>
        <p:nvSpPr>
          <p:cNvPr id="34" name="panel_156"/>
          <p:cNvSpPr/>
          <p:nvPr/>
        </p:nvSpPr>
        <p:spPr>
          <a:xfrm>
            <a:off x="548640" y="5650992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859536" y="5724144"/>
            <a:ext cx="10469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Next: open Airflow up and look at the parts inside it.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5544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108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Airflow works inside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605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parts it is made of, and what each one does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Airflow is six small programs and one notebook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Nobody wrote Airflow as one giant program. It is a few small ones, each with a single job, all writing into the same place.</a:t>
            </a:r>
            <a:endParaRPr lang="en-US" sz="1500" dirty="0"/>
          </a:p>
        </p:txBody>
      </p:sp>
      <p:sp>
        <p:nvSpPr>
          <p:cNvPr id="5" name="panel_157"/>
          <p:cNvSpPr/>
          <p:nvPr/>
        </p:nvSpPr>
        <p:spPr>
          <a:xfrm>
            <a:off x="548640" y="2103120"/>
            <a:ext cx="3291840" cy="786384"/>
          </a:xfrm>
          <a:prstGeom prst="roundRect">
            <a:avLst>
              <a:gd name="adj" fmla="val 11628"/>
            </a:avLst>
          </a:prstGeom>
          <a:solidFill>
            <a:srgbClr val="131D31"/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6" name="badge_158"/>
          <p:cNvSpPr/>
          <p:nvPr/>
        </p:nvSpPr>
        <p:spPr>
          <a:xfrm>
            <a:off x="731520" y="2267712"/>
            <a:ext cx="457200" cy="457200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7" name="icon_15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2391156"/>
            <a:ext cx="210312" cy="210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53312" y="222199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DAG processor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353312" y="248716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your files</a:t>
            </a:r>
            <a:endParaRPr lang="en-US" sz="1100" dirty="0"/>
          </a:p>
        </p:txBody>
      </p:sp>
      <p:sp>
        <p:nvSpPr>
          <p:cNvPr id="10" name="panel_160"/>
          <p:cNvSpPr/>
          <p:nvPr/>
        </p:nvSpPr>
        <p:spPr>
          <a:xfrm>
            <a:off x="548640" y="3108960"/>
            <a:ext cx="3291840" cy="786384"/>
          </a:xfrm>
          <a:prstGeom prst="roundRect">
            <a:avLst>
              <a:gd name="adj" fmla="val 11628"/>
            </a:avLst>
          </a:prstGeom>
          <a:solidFill>
            <a:srgbClr val="131D3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badge_161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2" name="icon_16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" y="3396996"/>
            <a:ext cx="210312" cy="2103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53312" y="322783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Scheduler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353312" y="349300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decides when</a:t>
            </a:r>
            <a:endParaRPr lang="en-US" sz="1100" dirty="0"/>
          </a:p>
        </p:txBody>
      </p:sp>
      <p:sp>
        <p:nvSpPr>
          <p:cNvPr id="15" name="panel_163"/>
          <p:cNvSpPr/>
          <p:nvPr/>
        </p:nvSpPr>
        <p:spPr>
          <a:xfrm>
            <a:off x="548640" y="4114800"/>
            <a:ext cx="3291840" cy="786384"/>
          </a:xfrm>
          <a:prstGeom prst="roundRect">
            <a:avLst>
              <a:gd name="adj" fmla="val 11628"/>
            </a:avLst>
          </a:prstGeom>
          <a:solidFill>
            <a:srgbClr val="131D31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6" name="badge_164"/>
          <p:cNvSpPr/>
          <p:nvPr/>
        </p:nvSpPr>
        <p:spPr>
          <a:xfrm>
            <a:off x="731520" y="4279392"/>
            <a:ext cx="457200" cy="457200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17" name="icon_16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4402836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53312" y="423367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Worker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353312" y="449884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the work</a:t>
            </a:r>
            <a:endParaRPr lang="en-US" sz="1100" dirty="0"/>
          </a:p>
        </p:txBody>
      </p:sp>
      <p:sp>
        <p:nvSpPr>
          <p:cNvPr id="20" name="panel_166"/>
          <p:cNvSpPr/>
          <p:nvPr/>
        </p:nvSpPr>
        <p:spPr>
          <a:xfrm>
            <a:off x="4370832" y="2980944"/>
            <a:ext cx="3456432" cy="1627632"/>
          </a:xfrm>
          <a:prstGeom prst="roundRect">
            <a:avLst>
              <a:gd name="adj" fmla="val 6742"/>
            </a:avLst>
          </a:prstGeom>
          <a:solidFill>
            <a:srgbClr val="1A2741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21" name="badge_167"/>
          <p:cNvSpPr/>
          <p:nvPr/>
        </p:nvSpPr>
        <p:spPr>
          <a:xfrm>
            <a:off x="4645152" y="3200400"/>
            <a:ext cx="640080" cy="640080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22" name="icon_16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974" y="3373222"/>
            <a:ext cx="294437" cy="29443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49824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database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4645152" y="393192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shared notebook. Everything anyone knows is written in here.</a:t>
            </a:r>
            <a:endParaRPr lang="en-US" sz="1250" dirty="0"/>
          </a:p>
        </p:txBody>
      </p:sp>
      <p:sp>
        <p:nvSpPr>
          <p:cNvPr id="25" name="panel_169"/>
          <p:cNvSpPr/>
          <p:nvPr/>
        </p:nvSpPr>
        <p:spPr>
          <a:xfrm>
            <a:off x="8348472" y="2103120"/>
            <a:ext cx="3291840" cy="786384"/>
          </a:xfrm>
          <a:prstGeom prst="roundRect">
            <a:avLst>
              <a:gd name="adj" fmla="val 11628"/>
            </a:avLst>
          </a:prstGeom>
          <a:solidFill>
            <a:srgbClr val="131D31"/>
          </a:solidFill>
          <a:ln w="12700">
            <a:solidFill>
              <a:srgbClr val="8C4FFF"/>
            </a:solidFill>
            <a:prstDash val="solid"/>
          </a:ln>
        </p:spPr>
      </p:sp>
      <p:sp>
        <p:nvSpPr>
          <p:cNvPr id="26" name="badge_170"/>
          <p:cNvSpPr/>
          <p:nvPr/>
        </p:nvSpPr>
        <p:spPr>
          <a:xfrm>
            <a:off x="8531352" y="2267712"/>
            <a:ext cx="457200" cy="457200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27" name="icon_17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4796" y="2391156"/>
            <a:ext cx="210312" cy="21031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153144" y="222199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Webserver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9153144" y="248716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you the page</a:t>
            </a:r>
            <a:endParaRPr lang="en-US" sz="1100" dirty="0"/>
          </a:p>
        </p:txBody>
      </p:sp>
      <p:sp>
        <p:nvSpPr>
          <p:cNvPr id="30" name="panel_172"/>
          <p:cNvSpPr/>
          <p:nvPr/>
        </p:nvSpPr>
        <p:spPr>
          <a:xfrm>
            <a:off x="8348472" y="3108960"/>
            <a:ext cx="3291840" cy="786384"/>
          </a:xfrm>
          <a:prstGeom prst="roundRect">
            <a:avLst>
              <a:gd name="adj" fmla="val 11628"/>
            </a:avLst>
          </a:prstGeom>
          <a:solidFill>
            <a:srgbClr val="131D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badge_173"/>
          <p:cNvSpPr/>
          <p:nvPr/>
        </p:nvSpPr>
        <p:spPr>
          <a:xfrm>
            <a:off x="8531352" y="3273552"/>
            <a:ext cx="457200" cy="457200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32" name="icon_17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4796" y="3396996"/>
            <a:ext cx="210312" cy="21031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153144" y="322783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Triggerer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9153144" y="349300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the waiting</a:t>
            </a:r>
            <a:endParaRPr lang="en-US" sz="1100" dirty="0"/>
          </a:p>
        </p:txBody>
      </p:sp>
      <p:sp>
        <p:nvSpPr>
          <p:cNvPr id="35" name="panel_175"/>
          <p:cNvSpPr/>
          <p:nvPr/>
        </p:nvSpPr>
        <p:spPr>
          <a:xfrm>
            <a:off x="8348472" y="4114800"/>
            <a:ext cx="3291840" cy="786384"/>
          </a:xfrm>
          <a:prstGeom prst="roundRect">
            <a:avLst>
              <a:gd name="adj" fmla="val 11628"/>
            </a:avLst>
          </a:prstGeom>
          <a:solidFill>
            <a:srgbClr val="131D31"/>
          </a:solidFill>
          <a:ln w="12700">
            <a:solidFill>
              <a:srgbClr val="E7157B"/>
            </a:solidFill>
            <a:prstDash val="solid"/>
          </a:ln>
        </p:spPr>
      </p:sp>
      <p:sp>
        <p:nvSpPr>
          <p:cNvPr id="36" name="badge_176"/>
          <p:cNvSpPr/>
          <p:nvPr/>
        </p:nvSpPr>
        <p:spPr>
          <a:xfrm>
            <a:off x="8531352" y="4279392"/>
            <a:ext cx="457200" cy="457200"/>
          </a:xfrm>
          <a:prstGeom prst="ellipse">
            <a:avLst/>
          </a:prstGeom>
          <a:solidFill>
            <a:srgbClr val="E7157B">
              <a:alpha val="18000"/>
            </a:srgbClr>
          </a:solidFill>
          <a:ln w="15875">
            <a:solidFill>
              <a:srgbClr val="E7157B"/>
            </a:solidFill>
            <a:prstDash val="solid"/>
          </a:ln>
        </p:spPr>
      </p:sp>
      <p:pic>
        <p:nvPicPr>
          <p:cNvPr id="37" name="icon_17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4796" y="4402836"/>
            <a:ext cx="210312" cy="21031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9153144" y="423367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</a:t>
            </a:r>
            <a:endParaRPr lang="en-US" sz="1400" dirty="0"/>
          </a:p>
        </p:txBody>
      </p:sp>
      <p:sp>
        <p:nvSpPr>
          <p:cNvPr id="39" name="Text 30"/>
          <p:cNvSpPr txBox="1"/>
          <p:nvPr/>
        </p:nvSpPr>
        <p:spPr>
          <a:xfrm>
            <a:off x="9153144" y="449884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a browser</a:t>
            </a:r>
            <a:endParaRPr lang="en-US" sz="1100" dirty="0"/>
          </a:p>
        </p:txBody>
      </p:sp>
      <p:sp>
        <p:nvSpPr>
          <p:cNvPr id="40" name="conn_178"/>
          <p:cNvSpPr/>
          <p:nvPr/>
        </p:nvSpPr>
        <p:spPr>
          <a:xfrm>
            <a:off x="3840480" y="2496312"/>
            <a:ext cx="530352" cy="1252728"/>
          </a:xfrm>
          <a:prstGeom prst="line">
            <a:avLst/>
          </a:prstGeom>
          <a:noFill/>
          <a:ln w="19050">
            <a:solidFill>
              <a:srgbClr val="26375A"/>
            </a:solidFill>
            <a:prstDash val="solid"/>
            <a:headEnd type="arrow"/>
            <a:tailEnd type="arrow"/>
          </a:ln>
        </p:spPr>
      </p:sp>
      <p:sp>
        <p:nvSpPr>
          <p:cNvPr id="41" name="conn_179"/>
          <p:cNvSpPr/>
          <p:nvPr/>
        </p:nvSpPr>
        <p:spPr>
          <a:xfrm>
            <a:off x="3840480" y="3502152"/>
            <a:ext cx="530352" cy="246888"/>
          </a:xfrm>
          <a:prstGeom prst="line">
            <a:avLst/>
          </a:prstGeom>
          <a:noFill/>
          <a:ln w="19050">
            <a:solidFill>
              <a:srgbClr val="26375A"/>
            </a:solidFill>
            <a:prstDash val="solid"/>
            <a:headEnd type="arrow"/>
            <a:tailEnd type="arrow"/>
          </a:ln>
        </p:spPr>
      </p:sp>
      <p:sp>
        <p:nvSpPr>
          <p:cNvPr id="42" name="conn_180"/>
          <p:cNvSpPr/>
          <p:nvPr/>
        </p:nvSpPr>
        <p:spPr>
          <a:xfrm flipV="1">
            <a:off x="3840480" y="3749040"/>
            <a:ext cx="530352" cy="758952"/>
          </a:xfrm>
          <a:prstGeom prst="line">
            <a:avLst/>
          </a:prstGeom>
          <a:noFill/>
          <a:ln w="19050">
            <a:solidFill>
              <a:srgbClr val="26375A"/>
            </a:solidFill>
            <a:prstDash val="solid"/>
            <a:headEnd type="arrow"/>
            <a:tailEnd type="arrow"/>
          </a:ln>
        </p:spPr>
      </p:sp>
      <p:sp>
        <p:nvSpPr>
          <p:cNvPr id="43" name="conn_181"/>
          <p:cNvSpPr/>
          <p:nvPr/>
        </p:nvSpPr>
        <p:spPr>
          <a:xfrm flipH="1">
            <a:off x="7827264" y="2496312"/>
            <a:ext cx="521208" cy="1252728"/>
          </a:xfrm>
          <a:prstGeom prst="line">
            <a:avLst/>
          </a:prstGeom>
          <a:noFill/>
          <a:ln w="19050">
            <a:solidFill>
              <a:srgbClr val="26375A"/>
            </a:solidFill>
            <a:prstDash val="solid"/>
            <a:headEnd type="arrow"/>
            <a:tailEnd type="arrow"/>
          </a:ln>
        </p:spPr>
      </p:sp>
      <p:sp>
        <p:nvSpPr>
          <p:cNvPr id="44" name="conn_182"/>
          <p:cNvSpPr/>
          <p:nvPr/>
        </p:nvSpPr>
        <p:spPr>
          <a:xfrm flipH="1">
            <a:off x="7827264" y="3502152"/>
            <a:ext cx="521208" cy="246888"/>
          </a:xfrm>
          <a:prstGeom prst="line">
            <a:avLst/>
          </a:prstGeom>
          <a:noFill/>
          <a:ln w="19050">
            <a:solidFill>
              <a:srgbClr val="26375A"/>
            </a:solidFill>
            <a:prstDash val="solid"/>
            <a:headEnd type="arrow"/>
            <a:tailEnd type="arrow"/>
          </a:ln>
        </p:spPr>
      </p:sp>
      <p:sp>
        <p:nvSpPr>
          <p:cNvPr id="45" name="conn_183"/>
          <p:cNvSpPr/>
          <p:nvPr/>
        </p:nvSpPr>
        <p:spPr>
          <a:xfrm flipV="1">
            <a:off x="9994392" y="3895344"/>
            <a:ext cx="0" cy="219456"/>
          </a:xfrm>
          <a:prstGeom prst="line">
            <a:avLst/>
          </a:prstGeom>
          <a:noFill/>
          <a:ln w="19050">
            <a:solidFill>
              <a:srgbClr val="26375A"/>
            </a:solidFill>
            <a:prstDash val="solid"/>
            <a:headEnd type="arrow"/>
            <a:tailEnd type="arrow"/>
          </a:ln>
        </p:spPr>
      </p:sp>
      <p:sp>
        <p:nvSpPr>
          <p:cNvPr id="46" name="panel_184"/>
          <p:cNvSpPr/>
          <p:nvPr/>
        </p:nvSpPr>
        <p:spPr>
          <a:xfrm>
            <a:off x="548640" y="5120640"/>
            <a:ext cx="11091672" cy="713232"/>
          </a:xfrm>
          <a:prstGeom prst="roundRect">
            <a:avLst>
              <a:gd name="adj" fmla="val 15385"/>
            </a:avLst>
          </a:prstGeom>
          <a:solidFill>
            <a:srgbClr val="1A274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859536" y="5193792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None of them talk to each other. They all just read and write the notebook in the middle.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ONE RULE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Everything goes through the notebook</a:t>
            </a:r>
            <a:endParaRPr lang="en-US" sz="3200" dirty="0"/>
          </a:p>
        </p:txBody>
      </p:sp>
      <p:sp>
        <p:nvSpPr>
          <p:cNvPr id="4" name="panel_185"/>
          <p:cNvSpPr/>
          <p:nvPr/>
        </p:nvSpPr>
        <p:spPr>
          <a:xfrm>
            <a:off x="548640" y="164592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1051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scheduler never phones the worker. The webserver never phones the scheduler. They write notes and they read notes.</a:t>
            </a:r>
            <a:endParaRPr lang="en-US" sz="2000" dirty="0"/>
          </a:p>
        </p:txBody>
      </p:sp>
      <p:sp>
        <p:nvSpPr>
          <p:cNvPr id="6" name="panel_186"/>
          <p:cNvSpPr/>
          <p:nvPr/>
        </p:nvSpPr>
        <p:spPr>
          <a:xfrm>
            <a:off x="548640" y="3017520"/>
            <a:ext cx="3511296" cy="2011680"/>
          </a:xfrm>
          <a:prstGeom prst="roundRect">
            <a:avLst>
              <a:gd name="adj" fmla="val 545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7" name="badge_187"/>
          <p:cNvSpPr/>
          <p:nvPr/>
        </p:nvSpPr>
        <p:spPr>
          <a:xfrm>
            <a:off x="749808" y="3218688"/>
            <a:ext cx="621792" cy="621792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8" name="icon_18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692" y="3386572"/>
            <a:ext cx="286024" cy="28602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9808" y="3913632"/>
            <a:ext cx="3108960" cy="31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part can break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4260327"/>
            <a:ext cx="3108960" cy="46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 the web page and your pipelines keep running. They never needed it.</a:t>
            </a:r>
            <a:endParaRPr lang="en-US" sz="1200" dirty="0"/>
          </a:p>
        </p:txBody>
      </p:sp>
      <p:sp>
        <p:nvSpPr>
          <p:cNvPr id="11" name="panel_189"/>
          <p:cNvSpPr/>
          <p:nvPr/>
        </p:nvSpPr>
        <p:spPr>
          <a:xfrm>
            <a:off x="4306824" y="3017520"/>
            <a:ext cx="3511296" cy="2011680"/>
          </a:xfrm>
          <a:prstGeom prst="roundRect">
            <a:avLst>
              <a:gd name="adj" fmla="val 545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2" name="badge_190"/>
          <p:cNvSpPr/>
          <p:nvPr/>
        </p:nvSpPr>
        <p:spPr>
          <a:xfrm>
            <a:off x="4507992" y="3218688"/>
            <a:ext cx="621792" cy="621792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13" name="icon_19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876" y="3386572"/>
            <a:ext cx="286024" cy="286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07992" y="3913632"/>
            <a:ext cx="3108960" cy="31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can add more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507992" y="4260327"/>
            <a:ext cx="3108960" cy="5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 much work? Start more workers. Nothing else has to change.</a:t>
            </a:r>
            <a:endParaRPr lang="en-US" sz="1400" dirty="0"/>
          </a:p>
        </p:txBody>
      </p:sp>
      <p:sp>
        <p:nvSpPr>
          <p:cNvPr id="16" name="panel_192"/>
          <p:cNvSpPr/>
          <p:nvPr/>
        </p:nvSpPr>
        <p:spPr>
          <a:xfrm>
            <a:off x="8065008" y="3017520"/>
            <a:ext cx="3511296" cy="2011680"/>
          </a:xfrm>
          <a:prstGeom prst="roundRect">
            <a:avLst>
              <a:gd name="adj" fmla="val 545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7" name="badge_193"/>
          <p:cNvSpPr/>
          <p:nvPr/>
        </p:nvSpPr>
        <p:spPr>
          <a:xfrm>
            <a:off x="8266176" y="3218688"/>
            <a:ext cx="621792" cy="621792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18" name="icon_19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060" y="3386572"/>
            <a:ext cx="286024" cy="286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66176" y="3913632"/>
            <a:ext cx="3108960" cy="31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can always look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266176" y="4260327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red box on the web page is just a row in a table that says "failed".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2578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why Airflow feels confusing at first and then suddenly simple. Once you know every part writes to one database, you always know where to look.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 OF 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DAG processor reads your files</a:t>
            </a:r>
            <a:endParaRPr lang="en-US" sz="3200" dirty="0"/>
          </a:p>
        </p:txBody>
      </p:sp>
      <p:sp>
        <p:nvSpPr>
          <p:cNvPr id="4" name="panel_195"/>
          <p:cNvSpPr/>
          <p:nvPr/>
        </p:nvSpPr>
        <p:spPr>
          <a:xfrm>
            <a:off x="548640" y="164592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1A2741"/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5" name="badge_196"/>
          <p:cNvSpPr/>
          <p:nvPr/>
        </p:nvSpPr>
        <p:spPr>
          <a:xfrm>
            <a:off x="841248" y="1911096"/>
            <a:ext cx="658368" cy="658368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6" name="icon_19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07" y="2088855"/>
            <a:ext cx="302849" cy="3028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19072" y="1828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30 seconds it looks in the dags/ folder, opens each .py file, and writes down which pipelines it found.</a:t>
            </a:r>
            <a:endParaRPr lang="en-US" sz="1800" dirty="0"/>
          </a:p>
        </p:txBody>
      </p:sp>
      <p:sp>
        <p:nvSpPr>
          <p:cNvPr id="8" name="panel_198"/>
          <p:cNvSpPr/>
          <p:nvPr/>
        </p:nvSpPr>
        <p:spPr>
          <a:xfrm>
            <a:off x="548640" y="3017520"/>
            <a:ext cx="5943600" cy="2194560"/>
          </a:xfrm>
          <a:prstGeom prst="roundRect">
            <a:avLst>
              <a:gd name="adj" fmla="val 5000"/>
            </a:avLst>
          </a:prstGeom>
          <a:solidFill>
            <a:srgbClr val="131D31"/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23697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AA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02736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 your Python files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Finds the pipelines inside them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Writes them into the database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Notices when you change a file</a:t>
            </a:r>
            <a:endParaRPr lang="en-US" sz="1450" dirty="0"/>
          </a:p>
        </p:txBody>
      </p:sp>
      <p:sp>
        <p:nvSpPr>
          <p:cNvPr id="11" name="panel_199"/>
          <p:cNvSpPr/>
          <p:nvPr/>
        </p:nvSpPr>
        <p:spPr>
          <a:xfrm>
            <a:off x="6702552" y="3017520"/>
            <a:ext cx="4937760" cy="2194560"/>
          </a:xfrm>
          <a:prstGeom prst="roundRect">
            <a:avLst>
              <a:gd name="adj" fmla="val 5000"/>
            </a:avLst>
          </a:prstGeom>
          <a:solidFill>
            <a:srgbClr val="131D31"/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76872" y="323697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DOES NOT DO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976872" y="3602736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any of your tasks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when anything should start</a:t>
            </a:r>
            <a:endParaRPr lang="en-US" sz="1450" dirty="0"/>
          </a:p>
        </p:txBody>
      </p:sp>
      <p:sp>
        <p:nvSpPr>
          <p:cNvPr id="14" name="panel_200"/>
          <p:cNvSpPr/>
          <p:nvPr/>
        </p:nvSpPr>
        <p:spPr>
          <a:xfrm>
            <a:off x="548640" y="5394960"/>
            <a:ext cx="11091672" cy="749808"/>
          </a:xfrm>
          <a:prstGeom prst="roundRect">
            <a:avLst>
              <a:gd name="adj" fmla="val 14634"/>
            </a:avLst>
          </a:prstGeom>
          <a:solidFill>
            <a:srgbClr val="1A2741"/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9536" y="5468112"/>
            <a:ext cx="10469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This is the only part of Airflow that ever opens your code. If your file has a typo, this is where the complaint appears.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 OF 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scheduler decides when</a:t>
            </a:r>
            <a:endParaRPr lang="en-US" sz="3200" dirty="0"/>
          </a:p>
        </p:txBody>
      </p:sp>
      <p:sp>
        <p:nvSpPr>
          <p:cNvPr id="4" name="panel_201"/>
          <p:cNvSpPr/>
          <p:nvPr/>
        </p:nvSpPr>
        <p:spPr>
          <a:xfrm>
            <a:off x="548640" y="164592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badge_202"/>
          <p:cNvSpPr/>
          <p:nvPr/>
        </p:nvSpPr>
        <p:spPr>
          <a:xfrm>
            <a:off x="841248" y="1911096"/>
            <a:ext cx="658368" cy="658368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6" name="icon_20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07" y="2088855"/>
            <a:ext cx="302849" cy="3028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19072" y="1828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checks the clock, checks the notebook, and asks one question over and over: is any task allowed to start right now?</a:t>
            </a:r>
            <a:endParaRPr lang="en-US" sz="1800" dirty="0"/>
          </a:p>
        </p:txBody>
      </p:sp>
      <p:sp>
        <p:nvSpPr>
          <p:cNvPr id="8" name="panel_204"/>
          <p:cNvSpPr/>
          <p:nvPr/>
        </p:nvSpPr>
        <p:spPr>
          <a:xfrm>
            <a:off x="548640" y="3017520"/>
            <a:ext cx="5943600" cy="2194560"/>
          </a:xfrm>
          <a:prstGeom prst="roundRect">
            <a:avLst>
              <a:gd name="adj" fmla="val 5000"/>
            </a:avLst>
          </a:prstGeom>
          <a:solidFill>
            <a:srgbClr val="131D31"/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23697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AA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02736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 if a pipeline is due to run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 whether a task's turn has come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Puts ready tasks in the queue</a:t>
            </a:r>
            <a:endParaRPr lang="en-US" sz="1450" dirty="0"/>
          </a:p>
        </p:txBody>
      </p:sp>
      <p:sp>
        <p:nvSpPr>
          <p:cNvPr id="11" name="panel_205"/>
          <p:cNvSpPr/>
          <p:nvPr/>
        </p:nvSpPr>
        <p:spPr>
          <a:xfrm>
            <a:off x="6702552" y="3017520"/>
            <a:ext cx="4937760" cy="2194560"/>
          </a:xfrm>
          <a:prstGeom prst="roundRect">
            <a:avLst>
              <a:gd name="adj" fmla="val 5000"/>
            </a:avLst>
          </a:prstGeom>
          <a:solidFill>
            <a:srgbClr val="131D31"/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76872" y="323697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DOES NOT DO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976872" y="3602736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your code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your Python files</a:t>
            </a:r>
            <a:endParaRPr lang="en-US" sz="1450" dirty="0"/>
          </a:p>
        </p:txBody>
      </p:sp>
      <p:sp>
        <p:nvSpPr>
          <p:cNvPr id="14" name="panel_206"/>
          <p:cNvSpPr/>
          <p:nvPr/>
        </p:nvSpPr>
        <p:spPr>
          <a:xfrm>
            <a:off x="548640" y="5394960"/>
            <a:ext cx="11091672" cy="749808"/>
          </a:xfrm>
          <a:prstGeom prst="roundRect">
            <a:avLst>
              <a:gd name="adj" fmla="val 14634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9536" y="5468112"/>
            <a:ext cx="10469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task is only allowed to start when every task with an arrow into it has already finished successfully. That rule is the whole point of Airflow.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 OF 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worker does the actual work</a:t>
            </a:r>
            <a:endParaRPr lang="en-US" sz="3200" dirty="0"/>
          </a:p>
        </p:txBody>
      </p:sp>
      <p:sp>
        <p:nvSpPr>
          <p:cNvPr id="4" name="panel_207"/>
          <p:cNvSpPr/>
          <p:nvPr/>
        </p:nvSpPr>
        <p:spPr>
          <a:xfrm>
            <a:off x="548640" y="164592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A2741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badge_208"/>
          <p:cNvSpPr/>
          <p:nvPr/>
        </p:nvSpPr>
        <p:spPr>
          <a:xfrm>
            <a:off x="841248" y="1892808"/>
            <a:ext cx="640080" cy="640080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6" name="icon_20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070" y="2065630"/>
            <a:ext cx="294437" cy="2944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00784" y="18288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worker takes a task out of the queue and runs your Python. This is the only part that runs your code.</a:t>
            </a:r>
            <a:endParaRPr lang="en-US" sz="1800" dirty="0"/>
          </a:p>
        </p:txBody>
      </p:sp>
      <p:sp>
        <p:nvSpPr>
          <p:cNvPr id="8" name="panel_210"/>
          <p:cNvSpPr/>
          <p:nvPr/>
        </p:nvSpPr>
        <p:spPr>
          <a:xfrm>
            <a:off x="548640" y="2971800"/>
            <a:ext cx="3511296" cy="2011680"/>
          </a:xfrm>
          <a:prstGeom prst="roundRect">
            <a:avLst>
              <a:gd name="adj" fmla="val 545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9" name="badge_211"/>
          <p:cNvSpPr/>
          <p:nvPr/>
        </p:nvSpPr>
        <p:spPr>
          <a:xfrm>
            <a:off x="749808" y="3172968"/>
            <a:ext cx="603504" cy="603504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10" name="icon_21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754" y="3335914"/>
            <a:ext cx="277612" cy="2776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9808" y="384962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runs your function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4179090"/>
            <a:ext cx="3108960" cy="52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code you would run yourself, just on a different machine.</a:t>
            </a:r>
            <a:endParaRPr lang="en-US" sz="1350" dirty="0"/>
          </a:p>
        </p:txBody>
      </p:sp>
      <p:sp>
        <p:nvSpPr>
          <p:cNvPr id="13" name="panel_213"/>
          <p:cNvSpPr/>
          <p:nvPr/>
        </p:nvSpPr>
        <p:spPr>
          <a:xfrm>
            <a:off x="4306824" y="2971800"/>
            <a:ext cx="3511296" cy="2011680"/>
          </a:xfrm>
          <a:prstGeom prst="roundRect">
            <a:avLst>
              <a:gd name="adj" fmla="val 545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4" name="badge_214"/>
          <p:cNvSpPr/>
          <p:nvPr/>
        </p:nvSpPr>
        <p:spPr>
          <a:xfrm>
            <a:off x="4507992" y="3172968"/>
            <a:ext cx="603504" cy="603504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5" name="icon_2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938" y="3335914"/>
            <a:ext cx="277612" cy="2776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507992" y="384962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saves what it printed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507992" y="4179090"/>
            <a:ext cx="3108960" cy="52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print() and every error becomes a log you can read.</a:t>
            </a:r>
            <a:endParaRPr lang="en-US" sz="1350" dirty="0"/>
          </a:p>
        </p:txBody>
      </p:sp>
      <p:sp>
        <p:nvSpPr>
          <p:cNvPr id="18" name="panel_216"/>
          <p:cNvSpPr/>
          <p:nvPr/>
        </p:nvSpPr>
        <p:spPr>
          <a:xfrm>
            <a:off x="8065008" y="2971800"/>
            <a:ext cx="3511296" cy="2011680"/>
          </a:xfrm>
          <a:prstGeom prst="roundRect">
            <a:avLst>
              <a:gd name="adj" fmla="val 5455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9" name="badge_217"/>
          <p:cNvSpPr/>
          <p:nvPr/>
        </p:nvSpPr>
        <p:spPr>
          <a:xfrm>
            <a:off x="8266176" y="3172968"/>
            <a:ext cx="603504" cy="603504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20" name="icon_2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122" y="3335914"/>
            <a:ext cx="277612" cy="2776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66176" y="384962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writes down the result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266176" y="4179090"/>
            <a:ext cx="3108960" cy="50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or failed, and how long it took, straight into the database.</a:t>
            </a:r>
            <a:endParaRPr lang="en-US" sz="1300" dirty="0"/>
          </a:p>
        </p:txBody>
      </p:sp>
      <p:sp>
        <p:nvSpPr>
          <p:cNvPr id="23" name="panel_219"/>
          <p:cNvSpPr/>
          <p:nvPr/>
        </p:nvSpPr>
        <p:spPr>
          <a:xfrm>
            <a:off x="548640" y="502920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68680" y="51572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 run more than one worker. Then two tasks that do not depend on each other run at the same time, on different machines, and your pipeline finishes sooner.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4 OF 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webserver shows you the page</a:t>
            </a:r>
            <a:endParaRPr lang="en-US" sz="3200" dirty="0"/>
          </a:p>
        </p:txBody>
      </p:sp>
      <p:sp>
        <p:nvSpPr>
          <p:cNvPr id="4" name="panel_220"/>
          <p:cNvSpPr/>
          <p:nvPr/>
        </p:nvSpPr>
        <p:spPr>
          <a:xfrm>
            <a:off x="548640" y="164592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1A2741"/>
          </a:solidFill>
          <a:ln w="12700">
            <a:solidFill>
              <a:srgbClr val="8C4FFF"/>
            </a:solidFill>
            <a:prstDash val="solid"/>
          </a:ln>
        </p:spPr>
      </p:sp>
      <p:sp>
        <p:nvSpPr>
          <p:cNvPr id="5" name="badge_221"/>
          <p:cNvSpPr/>
          <p:nvPr/>
        </p:nvSpPr>
        <p:spPr>
          <a:xfrm>
            <a:off x="841248" y="1911096"/>
            <a:ext cx="658368" cy="658368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6" name="icon_22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07" y="2088855"/>
            <a:ext cx="302849" cy="3028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19072" y="1828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reads the notebook and draws it as a web page at localhost:8080. That is genuinely all it does.</a:t>
            </a:r>
            <a:endParaRPr lang="en-US" sz="1800" dirty="0"/>
          </a:p>
        </p:txBody>
      </p:sp>
      <p:sp>
        <p:nvSpPr>
          <p:cNvPr id="8" name="panel_223"/>
          <p:cNvSpPr/>
          <p:nvPr/>
        </p:nvSpPr>
        <p:spPr>
          <a:xfrm>
            <a:off x="548640" y="3017520"/>
            <a:ext cx="5943600" cy="2194560"/>
          </a:xfrm>
          <a:prstGeom prst="roundRect">
            <a:avLst>
              <a:gd name="adj" fmla="val 5000"/>
            </a:avLst>
          </a:prstGeom>
          <a:solidFill>
            <a:srgbClr val="131D31"/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23697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AA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02736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every pipeline and every run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a green or red box per task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Lets you read a task's log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Lets you start a run by hand</a:t>
            </a:r>
            <a:endParaRPr lang="en-US" sz="1450" dirty="0"/>
          </a:p>
        </p:txBody>
      </p:sp>
      <p:sp>
        <p:nvSpPr>
          <p:cNvPr id="11" name="panel_224"/>
          <p:cNvSpPr/>
          <p:nvPr/>
        </p:nvSpPr>
        <p:spPr>
          <a:xfrm>
            <a:off x="6702552" y="3017520"/>
            <a:ext cx="4937760" cy="2194560"/>
          </a:xfrm>
          <a:prstGeom prst="roundRect">
            <a:avLst>
              <a:gd name="adj" fmla="val 5000"/>
            </a:avLst>
          </a:prstGeom>
          <a:solidFill>
            <a:srgbClr val="131D31"/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76872" y="323697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DOES NOT DO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976872" y="3602736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anything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anything</a:t>
            </a:r>
            <a:endParaRPr lang="en-US" sz="1450" dirty="0"/>
          </a:p>
        </p:txBody>
      </p:sp>
      <p:sp>
        <p:nvSpPr>
          <p:cNvPr id="14" name="panel_225"/>
          <p:cNvSpPr/>
          <p:nvPr/>
        </p:nvSpPr>
        <p:spPr>
          <a:xfrm>
            <a:off x="548640" y="5394960"/>
            <a:ext cx="11091672" cy="749808"/>
          </a:xfrm>
          <a:prstGeom prst="roundRect">
            <a:avLst>
              <a:gd name="adj" fmla="val 14634"/>
            </a:avLst>
          </a:prstGeom>
          <a:solidFill>
            <a:srgbClr val="1A2741"/>
          </a:solidFill>
          <a:ln w="12700">
            <a:solidFill>
              <a:srgbClr val="8C4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9536" y="5468112"/>
            <a:ext cx="10469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the web page is down, your pipelines are still running perfectly. You just cannot see them.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PARTS 5 AND 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waiter and the notebook</a:t>
            </a:r>
            <a:endParaRPr lang="en-US" sz="3200" dirty="0"/>
          </a:p>
        </p:txBody>
      </p:sp>
      <p:sp>
        <p:nvSpPr>
          <p:cNvPr id="4" name="panel_226"/>
          <p:cNvSpPr/>
          <p:nvPr/>
        </p:nvSpPr>
        <p:spPr>
          <a:xfrm>
            <a:off x="548640" y="164592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131D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badge_227"/>
          <p:cNvSpPr/>
          <p:nvPr/>
        </p:nvSpPr>
        <p:spPr>
          <a:xfrm>
            <a:off x="822960" y="1901952"/>
            <a:ext cx="658368" cy="658368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6" name="icon_22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719" y="2079711"/>
            <a:ext cx="302849" cy="3028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00784" y="20482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triggerer waits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lot of data work is just waiting. Waiting for a file to arrive. Waiting for another system to finish.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576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worker that is waiting is a worker that cannot do anything else. So Airflow hands long waits to the triggerer, which can hold thousands of them at once and only wakes a worker when the wait is over.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212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will not write one today. Just know why it is in the list.</a:t>
            </a:r>
            <a:endParaRPr lang="en-US" sz="1250" dirty="0"/>
          </a:p>
        </p:txBody>
      </p:sp>
      <p:sp>
        <p:nvSpPr>
          <p:cNvPr id="11" name="panel_229"/>
          <p:cNvSpPr/>
          <p:nvPr/>
        </p:nvSpPr>
        <p:spPr>
          <a:xfrm>
            <a:off x="6245352" y="164592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badge_230"/>
          <p:cNvSpPr/>
          <p:nvPr/>
        </p:nvSpPr>
        <p:spPr>
          <a:xfrm>
            <a:off x="6519672" y="1901952"/>
            <a:ext cx="658368" cy="658368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3" name="icon_23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431" y="2079711"/>
            <a:ext cx="302849" cy="30284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97496" y="20482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database remembers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6519672" y="2834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normal PostgreSQL database — the same kind you write SQL against. Everything Airflow knows lives here: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6519672" y="36576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pipelines exist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run there has ever been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Whether each task worked or failed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Passwords for other systems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values passed between tasks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BY STEP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happens when your pipeline runs</a:t>
            </a:r>
            <a:endParaRPr lang="en-US" sz="3200" dirty="0"/>
          </a:p>
        </p:txBody>
      </p:sp>
      <p:sp>
        <p:nvSpPr>
          <p:cNvPr id="4" name="panel_232"/>
          <p:cNvSpPr/>
          <p:nvPr/>
        </p:nvSpPr>
        <p:spPr>
          <a:xfrm>
            <a:off x="548640" y="16459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282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A1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2821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save daily_report.py into the dags/ folder</a:t>
            </a:r>
            <a:endParaRPr lang="en-US" sz="1400" dirty="0"/>
          </a:p>
        </p:txBody>
      </p:sp>
      <p:sp>
        <p:nvSpPr>
          <p:cNvPr id="7" name="panel_233"/>
          <p:cNvSpPr/>
          <p:nvPr/>
        </p:nvSpPr>
        <p:spPr>
          <a:xfrm>
            <a:off x="548640" y="2167128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24942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A1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24942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DAG processor reads it and writes the pipeline into the database</a:t>
            </a:r>
            <a:endParaRPr lang="en-US" sz="1400" dirty="0"/>
          </a:p>
        </p:txBody>
      </p:sp>
      <p:sp>
        <p:nvSpPr>
          <p:cNvPr id="10" name="panel_234"/>
          <p:cNvSpPr/>
          <p:nvPr/>
        </p:nvSpPr>
        <p:spPr>
          <a:xfrm>
            <a:off x="548640" y="2688336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77063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77063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6 AM the scheduler sees it is due and creates a new run</a:t>
            </a:r>
            <a:endParaRPr lang="en-US" sz="1400" dirty="0"/>
          </a:p>
        </p:txBody>
      </p:sp>
      <p:sp>
        <p:nvSpPr>
          <p:cNvPr id="13" name="panel_235"/>
          <p:cNvSpPr/>
          <p:nvPr/>
        </p:nvSpPr>
        <p:spPr>
          <a:xfrm>
            <a:off x="548640" y="3209544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918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29184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task has nothing before it, so the scheduler queues it</a:t>
            </a:r>
            <a:endParaRPr lang="en-US" sz="1400" dirty="0"/>
          </a:p>
        </p:txBody>
      </p:sp>
      <p:sp>
        <p:nvSpPr>
          <p:cNvPr id="16" name="panel_236"/>
          <p:cNvSpPr/>
          <p:nvPr/>
        </p:nvSpPr>
        <p:spPr>
          <a:xfrm>
            <a:off x="548640" y="3730752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81304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B5E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81304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worker picks it up, runs your Python, and writes down "worked"</a:t>
            </a:r>
            <a:endParaRPr lang="en-US" sz="1400" dirty="0"/>
          </a:p>
        </p:txBody>
      </p:sp>
      <p:sp>
        <p:nvSpPr>
          <p:cNvPr id="19" name="panel_237"/>
          <p:cNvSpPr/>
          <p:nvPr/>
        </p:nvSpPr>
        <p:spPr>
          <a:xfrm>
            <a:off x="548640" y="425196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3342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33425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scheduler sees that, and queues the next task along the arrow</a:t>
            </a:r>
            <a:endParaRPr lang="en-US" sz="1400" dirty="0"/>
          </a:p>
        </p:txBody>
      </p:sp>
      <p:sp>
        <p:nvSpPr>
          <p:cNvPr id="22" name="panel_238"/>
          <p:cNvSpPr/>
          <p:nvPr/>
        </p:nvSpPr>
        <p:spPr>
          <a:xfrm>
            <a:off x="548640" y="4773168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85546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4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85546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 until the last task is done, or one of them fails</a:t>
            </a:r>
            <a:endParaRPr lang="en-US" sz="1400" dirty="0"/>
          </a:p>
        </p:txBody>
      </p:sp>
      <p:sp>
        <p:nvSpPr>
          <p:cNvPr id="25" name="panel_239"/>
          <p:cNvSpPr/>
          <p:nvPr/>
        </p:nvSpPr>
        <p:spPr>
          <a:xfrm>
            <a:off x="548640" y="5294376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3766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157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537667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web page shows you a row of green boxes</a:t>
            </a:r>
            <a:endParaRPr lang="en-US" sz="1400" dirty="0"/>
          </a:p>
        </p:txBody>
      </p:sp>
      <p:sp>
        <p:nvSpPr>
          <p:cNvPr id="28" name="panel_240"/>
          <p:cNvSpPr/>
          <p:nvPr/>
        </p:nvSpPr>
        <p:spPr>
          <a:xfrm>
            <a:off x="9006840" y="1645920"/>
            <a:ext cx="2633472" cy="4078224"/>
          </a:xfrm>
          <a:prstGeom prst="roundRect">
            <a:avLst>
              <a:gd name="adj" fmla="val 4167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9" name="badge_241"/>
          <p:cNvSpPr/>
          <p:nvPr/>
        </p:nvSpPr>
        <p:spPr>
          <a:xfrm>
            <a:off x="9281160" y="1901952"/>
            <a:ext cx="658368" cy="658368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30" name="icon_24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919" y="2079711"/>
            <a:ext cx="302849" cy="302849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9281160" y="270662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this list matters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9281160" y="33832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a pipeline gets stuck, it is stuck at exactly one of these eight points. Work out which one and you have nearly fixed it.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BOXES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colours on the page mean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007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AA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EVERYTHING GOES WELL</a:t>
            </a:r>
            <a:endParaRPr lang="en-US" sz="1100" dirty="0"/>
          </a:p>
        </p:txBody>
      </p:sp>
      <p:sp>
        <p:nvSpPr>
          <p:cNvPr id="5" name="pill_243"/>
          <p:cNvSpPr/>
          <p:nvPr/>
        </p:nvSpPr>
        <p:spPr>
          <a:xfrm>
            <a:off x="548640" y="2011680"/>
            <a:ext cx="2286000" cy="475488"/>
          </a:xfrm>
          <a:prstGeom prst="roundRect">
            <a:avLst>
              <a:gd name="adj" fmla="val 32692"/>
            </a:avLst>
          </a:prstGeom>
          <a:solidFill>
            <a:srgbClr val="5B6B85">
              <a:alpha val="15000"/>
            </a:srgbClr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turn has not come</a:t>
            </a:r>
            <a:endParaRPr lang="en-US" sz="1150" dirty="0"/>
          </a:p>
        </p:txBody>
      </p:sp>
      <p:sp>
        <p:nvSpPr>
          <p:cNvPr id="8" name="conn_244"/>
          <p:cNvSpPr/>
          <p:nvPr/>
        </p:nvSpPr>
        <p:spPr>
          <a:xfrm>
            <a:off x="2889504" y="2249424"/>
            <a:ext cx="438912" cy="0"/>
          </a:xfrm>
          <a:prstGeom prst="line">
            <a:avLst/>
          </a:prstGeom>
          <a:noFill/>
          <a:ln w="19050">
            <a:solidFill>
              <a:srgbClr val="26375A"/>
            </a:solidFill>
            <a:prstDash val="solid"/>
            <a:headEnd type="none"/>
            <a:tailEnd type="arrow"/>
          </a:ln>
        </p:spPr>
      </p:sp>
      <p:sp>
        <p:nvSpPr>
          <p:cNvPr id="9" name="pill_245"/>
          <p:cNvSpPr/>
          <p:nvPr/>
        </p:nvSpPr>
        <p:spPr>
          <a:xfrm>
            <a:off x="3383280" y="2011680"/>
            <a:ext cx="2286000" cy="475488"/>
          </a:xfrm>
          <a:prstGeom prst="roundRect">
            <a:avLst>
              <a:gd name="adj" fmla="val 32692"/>
            </a:avLst>
          </a:prstGeom>
          <a:solidFill>
            <a:srgbClr val="FF9900">
              <a:alpha val="15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20116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queued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allowed, lining up</a:t>
            </a:r>
            <a:endParaRPr lang="en-US" sz="1150" dirty="0"/>
          </a:p>
        </p:txBody>
      </p:sp>
      <p:sp>
        <p:nvSpPr>
          <p:cNvPr id="12" name="conn_246"/>
          <p:cNvSpPr/>
          <p:nvPr/>
        </p:nvSpPr>
        <p:spPr>
          <a:xfrm>
            <a:off x="5724144" y="2249424"/>
            <a:ext cx="438912" cy="0"/>
          </a:xfrm>
          <a:prstGeom prst="line">
            <a:avLst/>
          </a:prstGeom>
          <a:noFill/>
          <a:ln w="19050">
            <a:solidFill>
              <a:srgbClr val="26375A"/>
            </a:solidFill>
            <a:prstDash val="solid"/>
            <a:headEnd type="none"/>
            <a:tailEnd type="arrow"/>
          </a:ln>
        </p:spPr>
      </p:sp>
      <p:sp>
        <p:nvSpPr>
          <p:cNvPr id="13" name="pill_247"/>
          <p:cNvSpPr/>
          <p:nvPr/>
        </p:nvSpPr>
        <p:spPr>
          <a:xfrm>
            <a:off x="6217920" y="2011680"/>
            <a:ext cx="2286000" cy="475488"/>
          </a:xfrm>
          <a:prstGeom prst="roundRect">
            <a:avLst>
              <a:gd name="adj" fmla="val 32692"/>
            </a:avLst>
          </a:prstGeom>
          <a:solidFill>
            <a:srgbClr val="29B5E8">
              <a:alpha val="15000"/>
            </a:srgbClr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0116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worker has it now</a:t>
            </a:r>
            <a:endParaRPr lang="en-US" sz="1150" dirty="0"/>
          </a:p>
        </p:txBody>
      </p:sp>
      <p:sp>
        <p:nvSpPr>
          <p:cNvPr id="16" name="conn_248"/>
          <p:cNvSpPr/>
          <p:nvPr/>
        </p:nvSpPr>
        <p:spPr>
          <a:xfrm>
            <a:off x="8558784" y="2249424"/>
            <a:ext cx="438912" cy="0"/>
          </a:xfrm>
          <a:prstGeom prst="line">
            <a:avLst/>
          </a:prstGeom>
          <a:noFill/>
          <a:ln w="19050">
            <a:solidFill>
              <a:srgbClr val="26375A"/>
            </a:solidFill>
            <a:prstDash val="solid"/>
            <a:headEnd type="none"/>
            <a:tailEnd type="arrow"/>
          </a:ln>
        </p:spPr>
      </p:sp>
      <p:sp>
        <p:nvSpPr>
          <p:cNvPr id="17" name="pill_249"/>
          <p:cNvSpPr/>
          <p:nvPr/>
        </p:nvSpPr>
        <p:spPr>
          <a:xfrm>
            <a:off x="9052560" y="2011680"/>
            <a:ext cx="2286000" cy="475488"/>
          </a:xfrm>
          <a:prstGeom prst="roundRect">
            <a:avLst>
              <a:gd name="adj" fmla="val 32692"/>
            </a:avLst>
          </a:prstGeom>
          <a:solidFill>
            <a:srgbClr val="7AA116">
              <a:alpha val="15000"/>
            </a:srgbClr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52560" y="20116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done, it worked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1089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SOMETHING BREAKS</a:t>
            </a:r>
            <a:endParaRPr lang="en-US" sz="1100" dirty="0"/>
          </a:p>
        </p:txBody>
      </p:sp>
      <p:sp>
        <p:nvSpPr>
          <p:cNvPr id="21" name="panel_250"/>
          <p:cNvSpPr/>
          <p:nvPr/>
        </p:nvSpPr>
        <p:spPr>
          <a:xfrm>
            <a:off x="548640" y="3419856"/>
            <a:ext cx="2578608" cy="1188720"/>
          </a:xfrm>
          <a:prstGeom prst="roundRect">
            <a:avLst>
              <a:gd name="adj" fmla="val 9231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2" name="pill_251"/>
          <p:cNvSpPr/>
          <p:nvPr/>
        </p:nvSpPr>
        <p:spPr>
          <a:xfrm>
            <a:off x="694944" y="3584448"/>
            <a:ext cx="2286000" cy="402336"/>
          </a:xfrm>
          <a:prstGeom prst="roundRect">
            <a:avLst>
              <a:gd name="adj" fmla="val 38636"/>
            </a:avLst>
          </a:prstGeom>
          <a:solidFill>
            <a:srgbClr val="F2545B">
              <a:alpha val="15000"/>
            </a:srgbClr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944" y="35844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failed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07822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code raised an error</a:t>
            </a:r>
            <a:endParaRPr lang="en-US" sz="1250" dirty="0"/>
          </a:p>
        </p:txBody>
      </p:sp>
      <p:sp>
        <p:nvSpPr>
          <p:cNvPr id="25" name="panel_252"/>
          <p:cNvSpPr/>
          <p:nvPr/>
        </p:nvSpPr>
        <p:spPr>
          <a:xfrm>
            <a:off x="3383280" y="3419856"/>
            <a:ext cx="2578608" cy="1188720"/>
          </a:xfrm>
          <a:prstGeom prst="roundRect">
            <a:avLst>
              <a:gd name="adj" fmla="val 9231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6" name="pill_253"/>
          <p:cNvSpPr/>
          <p:nvPr/>
        </p:nvSpPr>
        <p:spPr>
          <a:xfrm>
            <a:off x="3529584" y="3584448"/>
            <a:ext cx="2286000" cy="402336"/>
          </a:xfrm>
          <a:prstGeom prst="roundRect">
            <a:avLst>
              <a:gd name="adj" fmla="val 38636"/>
            </a:avLst>
          </a:prstGeom>
          <a:solidFill>
            <a:srgbClr val="FF9900">
              <a:alpha val="15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29584" y="35844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up_for_retry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3566160" y="407822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will try again on its own</a:t>
            </a:r>
            <a:endParaRPr lang="en-US" sz="1250" dirty="0"/>
          </a:p>
        </p:txBody>
      </p:sp>
      <p:sp>
        <p:nvSpPr>
          <p:cNvPr id="29" name="panel_254"/>
          <p:cNvSpPr/>
          <p:nvPr/>
        </p:nvSpPr>
        <p:spPr>
          <a:xfrm>
            <a:off x="6217920" y="3419856"/>
            <a:ext cx="2578608" cy="1188720"/>
          </a:xfrm>
          <a:prstGeom prst="roundRect">
            <a:avLst>
              <a:gd name="adj" fmla="val 9231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30" name="pill_255"/>
          <p:cNvSpPr/>
          <p:nvPr/>
        </p:nvSpPr>
        <p:spPr>
          <a:xfrm>
            <a:off x="6364224" y="3584448"/>
            <a:ext cx="2286000" cy="402336"/>
          </a:xfrm>
          <a:prstGeom prst="roundRect">
            <a:avLst>
              <a:gd name="adj" fmla="val 38636"/>
            </a:avLst>
          </a:prstGeom>
          <a:solidFill>
            <a:srgbClr val="E7157B">
              <a:alpha val="15000"/>
            </a:srgbClr>
          </a:solidFill>
          <a:ln w="12700">
            <a:solidFill>
              <a:srgbClr val="E7157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64224" y="35844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upstream_failed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407822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step before it failed</a:t>
            </a:r>
            <a:endParaRPr lang="en-US" sz="1250" dirty="0"/>
          </a:p>
        </p:txBody>
      </p:sp>
      <p:sp>
        <p:nvSpPr>
          <p:cNvPr id="33" name="panel_256"/>
          <p:cNvSpPr/>
          <p:nvPr/>
        </p:nvSpPr>
        <p:spPr>
          <a:xfrm>
            <a:off x="9052560" y="3419856"/>
            <a:ext cx="2578608" cy="1188720"/>
          </a:xfrm>
          <a:prstGeom prst="roundRect">
            <a:avLst>
              <a:gd name="adj" fmla="val 9231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34" name="pill_257"/>
          <p:cNvSpPr/>
          <p:nvPr/>
        </p:nvSpPr>
        <p:spPr>
          <a:xfrm>
            <a:off x="9198864" y="3584448"/>
            <a:ext cx="2286000" cy="402336"/>
          </a:xfrm>
          <a:prstGeom prst="roundRect">
            <a:avLst>
              <a:gd name="adj" fmla="val 38636"/>
            </a:avLst>
          </a:prstGeom>
          <a:solidFill>
            <a:srgbClr val="8C4FFF">
              <a:alpha val="15000"/>
            </a:srgbClr>
          </a:solidFill>
          <a:ln w="12700">
            <a:solidFill>
              <a:srgbClr val="8C4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98864" y="35844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skipped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9235440" y="407822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choice went the other way</a:t>
            </a:r>
            <a:endParaRPr lang="en-US" sz="1250" dirty="0"/>
          </a:p>
        </p:txBody>
      </p:sp>
      <p:sp>
        <p:nvSpPr>
          <p:cNvPr id="37" name="panel_258"/>
          <p:cNvSpPr/>
          <p:nvPr/>
        </p:nvSpPr>
        <p:spPr>
          <a:xfrm>
            <a:off x="548640" y="48463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9536" y="4919472"/>
            <a:ext cx="104698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of these confuse everyone at first. skipped is not an error — a choice simply went the other way. upstream_failed is not your task's fault — something before it broke, so go and fix that one.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UNSTUCK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to look when nothing is happening</a:t>
            </a:r>
            <a:endParaRPr lang="en-US" sz="3200" dirty="0"/>
          </a:p>
        </p:txBody>
      </p:sp>
      <p:graphicFrame>
        <p:nvGraphicFramePr>
          <p:cNvPr id="29" name="table_2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931920"/>
                <a:gridCol w="414223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The box says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It usually means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Go and look at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queued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worker is free to take it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 the worker container running?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running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 is stuck inside your code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task's log on the web page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up_for_retry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 failed and will try again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task's log, for the real error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upstream_failed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step before it failed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Fix that step first, then re-run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nothing at all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Airflow never saw your file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DAG processor's log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</a:tbl>
          </a:graphicData>
        </a:graphic>
      </p:graphicFrame>
      <p:sp>
        <p:nvSpPr>
          <p:cNvPr id="5" name="panel_260"/>
          <p:cNvSpPr/>
          <p:nvPr/>
        </p:nvSpPr>
        <p:spPr>
          <a:xfrm>
            <a:off x="548640" y="5394960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1A274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" y="5468112"/>
            <a:ext cx="10469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colour of the box tells you which part of Airflow to go and blame. That is the whole trick.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PASSING DATA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one task hands something to the next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task runs on its own, maybe on a different machine. They do not share variables. So how does clean() get the rows that download() fetched?</a:t>
            </a:r>
            <a:endParaRPr lang="en-US" sz="1500" dirty="0"/>
          </a:p>
        </p:txBody>
      </p:sp>
      <p:sp>
        <p:nvSpPr>
          <p:cNvPr id="5" name="panel_261"/>
          <p:cNvSpPr/>
          <p:nvPr/>
        </p:nvSpPr>
        <p:spPr>
          <a:xfrm>
            <a:off x="548640" y="2194560"/>
            <a:ext cx="2926080" cy="731520"/>
          </a:xfrm>
          <a:prstGeom prst="roundRect">
            <a:avLst>
              <a:gd name="adj" fmla="val 12500"/>
            </a:avLst>
          </a:prstGeom>
          <a:solidFill>
            <a:srgbClr val="131D3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badge_262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7" name="icon_26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2455164"/>
            <a:ext cx="210312" cy="210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53312" y="228600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download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353312" y="255117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 a value</a:t>
            </a:r>
            <a:endParaRPr lang="en-US" sz="1100" dirty="0"/>
          </a:p>
        </p:txBody>
      </p:sp>
      <p:sp>
        <p:nvSpPr>
          <p:cNvPr id="10" name="panel_264"/>
          <p:cNvSpPr/>
          <p:nvPr/>
        </p:nvSpPr>
        <p:spPr>
          <a:xfrm>
            <a:off x="4480560" y="219456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131D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badge_265"/>
          <p:cNvSpPr/>
          <p:nvPr/>
        </p:nvSpPr>
        <p:spPr>
          <a:xfrm>
            <a:off x="4663440" y="2331720"/>
            <a:ext cx="457200" cy="457200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2" name="icon_26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4" y="2455164"/>
            <a:ext cx="210312" cy="2103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85232" y="228600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database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285232" y="255117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holds it for a moment</a:t>
            </a:r>
            <a:endParaRPr lang="en-US" sz="1100" dirty="0"/>
          </a:p>
        </p:txBody>
      </p:sp>
      <p:sp>
        <p:nvSpPr>
          <p:cNvPr id="15" name="panel_267"/>
          <p:cNvSpPr/>
          <p:nvPr/>
        </p:nvSpPr>
        <p:spPr>
          <a:xfrm>
            <a:off x="8714232" y="2194560"/>
            <a:ext cx="2926080" cy="731520"/>
          </a:xfrm>
          <a:prstGeom prst="roundRect">
            <a:avLst>
              <a:gd name="adj" fmla="val 12500"/>
            </a:avLst>
          </a:prstGeom>
          <a:solidFill>
            <a:srgbClr val="131D31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6" name="badge_268"/>
          <p:cNvSpPr/>
          <p:nvPr/>
        </p:nvSpPr>
        <p:spPr>
          <a:xfrm>
            <a:off x="8897112" y="2331720"/>
            <a:ext cx="457200" cy="457200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17" name="icon_26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556" y="2455164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518904" y="228600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clean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9518904" y="2551176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receives it</a:t>
            </a:r>
            <a:endParaRPr lang="en-US" sz="1100" dirty="0"/>
          </a:p>
        </p:txBody>
      </p:sp>
      <p:sp>
        <p:nvSpPr>
          <p:cNvPr id="20" name="conn_270"/>
          <p:cNvSpPr/>
          <p:nvPr/>
        </p:nvSpPr>
        <p:spPr>
          <a:xfrm>
            <a:off x="3529584" y="2560320"/>
            <a:ext cx="868680" cy="0"/>
          </a:xfrm>
          <a:prstGeom prst="line">
            <a:avLst/>
          </a:prstGeom>
          <a:noFill/>
          <a:ln w="19050">
            <a:solidFill>
              <a:srgbClr val="26375A"/>
            </a:solidFill>
            <a:prstDash val="solid"/>
            <a:headEnd type="none"/>
            <a:tailEnd type="arrow"/>
          </a:ln>
        </p:spPr>
      </p:sp>
      <p:sp>
        <p:nvSpPr>
          <p:cNvPr id="21" name="conn_271"/>
          <p:cNvSpPr/>
          <p:nvPr/>
        </p:nvSpPr>
        <p:spPr>
          <a:xfrm>
            <a:off x="7735824" y="2560320"/>
            <a:ext cx="914400" cy="0"/>
          </a:xfrm>
          <a:prstGeom prst="line">
            <a:avLst/>
          </a:prstGeom>
          <a:noFill/>
          <a:ln w="19050">
            <a:solidFill>
              <a:srgbClr val="26375A"/>
            </a:solidFill>
            <a:prstDash val="solid"/>
            <a:headEnd type="none"/>
            <a:tailEnd type="arrow"/>
          </a:ln>
        </p:spPr>
      </p:sp>
      <p:sp>
        <p:nvSpPr>
          <p:cNvPr id="22" name="Text 17"/>
          <p:cNvSpPr txBox="1"/>
          <p:nvPr/>
        </p:nvSpPr>
        <p:spPr>
          <a:xfrm>
            <a:off x="548640" y="31089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Airflow calls this an XCom. You do not have to do anything special — just return a value from one task and accept it as an argument in the next.</a:t>
            </a:r>
            <a:endParaRPr lang="en-US" sz="1450" dirty="0"/>
          </a:p>
        </p:txBody>
      </p:sp>
      <p:sp>
        <p:nvSpPr>
          <p:cNvPr id="23" name="panel_272"/>
          <p:cNvSpPr/>
          <p:nvPr/>
        </p:nvSpPr>
        <p:spPr>
          <a:xfrm>
            <a:off x="548640" y="3611880"/>
            <a:ext cx="6309360" cy="2194560"/>
          </a:xfrm>
          <a:prstGeom prst="roundRect">
            <a:avLst>
              <a:gd name="adj" fmla="val 5000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86384" y="3776472"/>
            <a:ext cx="5833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ALL IT TAKES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786384" y="4123944"/>
            <a:ext cx="58338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@task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download():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1423            # just return it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@task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clean(row_count):      # just accept it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print(row_count)</a:t>
            </a:r>
            <a:endParaRPr lang="en-US" sz="950" dirty="0"/>
          </a:p>
        </p:txBody>
      </p:sp>
      <p:sp>
        <p:nvSpPr>
          <p:cNvPr id="26" name="panel_273"/>
          <p:cNvSpPr/>
          <p:nvPr/>
        </p:nvSpPr>
        <p:spPr>
          <a:xfrm>
            <a:off x="7159752" y="3611880"/>
            <a:ext cx="4480560" cy="2194560"/>
          </a:xfrm>
          <a:prstGeom prst="roundRect">
            <a:avLst>
              <a:gd name="adj" fmla="val 5000"/>
            </a:avLst>
          </a:prstGeom>
          <a:solidFill>
            <a:srgbClr val="1A2741"/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434072" y="3813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IMPORTANT RULE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7434072" y="416052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small things only. A row count, a file name, a status.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pass a whole table or a big file — it goes into the database and will slow everything down. Save the file somewhere and pass its name instead.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Keeping secrets out of your code</a:t>
            </a:r>
            <a:endParaRPr lang="en-US" sz="3200" dirty="0"/>
          </a:p>
        </p:txBody>
      </p:sp>
      <p:sp>
        <p:nvSpPr>
          <p:cNvPr id="4" name="panel_274"/>
          <p:cNvSpPr/>
          <p:nvPr/>
        </p:nvSpPr>
        <p:spPr>
          <a:xfrm>
            <a:off x="548640" y="164592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1A2741"/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4708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DO THIS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connect(host="prod-db",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password="admin123")</a:t>
            </a:r>
            <a:endParaRPr lang="en-US" sz="1350" dirty="0"/>
          </a:p>
        </p:txBody>
      </p:sp>
      <p:sp>
        <p:nvSpPr>
          <p:cNvPr id="7" name="panel_275"/>
          <p:cNvSpPr/>
          <p:nvPr/>
        </p:nvSpPr>
        <p:spPr>
          <a:xfrm>
            <a:off x="6245352" y="164592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1A2741"/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9672" y="184708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AA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THIS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2494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conn_id="sales_db"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type the host, username and password into Airflow once, under Admin → Connections, and give it a short name. Your code only ever uses the name. Airflow looks the rest up for you.</a:t>
            </a:r>
            <a:endParaRPr lang="en-US" sz="1500" dirty="0"/>
          </a:p>
        </p:txBody>
      </p:sp>
      <p:sp>
        <p:nvSpPr>
          <p:cNvPr id="11" name="panel_276"/>
          <p:cNvSpPr/>
          <p:nvPr/>
        </p:nvSpPr>
        <p:spPr>
          <a:xfrm>
            <a:off x="548640" y="3840480"/>
            <a:ext cx="3511296" cy="2103120"/>
          </a:xfrm>
          <a:prstGeom prst="roundRect">
            <a:avLst>
              <a:gd name="adj" fmla="val 5217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2" name="badge_277"/>
          <p:cNvSpPr/>
          <p:nvPr/>
        </p:nvSpPr>
        <p:spPr>
          <a:xfrm>
            <a:off x="749808" y="4041648"/>
            <a:ext cx="603504" cy="603504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13" name="icon_27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754" y="4204594"/>
            <a:ext cx="277612" cy="27761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49808" y="471830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Nothing secret in git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" y="5047770"/>
            <a:ext cx="3108960" cy="52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code can go in a public repo and no password leaks.</a:t>
            </a:r>
            <a:endParaRPr lang="en-US" sz="1350" dirty="0"/>
          </a:p>
        </p:txBody>
      </p:sp>
      <p:sp>
        <p:nvSpPr>
          <p:cNvPr id="16" name="panel_279"/>
          <p:cNvSpPr/>
          <p:nvPr/>
        </p:nvSpPr>
        <p:spPr>
          <a:xfrm>
            <a:off x="4306824" y="3840480"/>
            <a:ext cx="3511296" cy="2103120"/>
          </a:xfrm>
          <a:prstGeom prst="roundRect">
            <a:avLst>
              <a:gd name="adj" fmla="val 5217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7" name="badge_280"/>
          <p:cNvSpPr/>
          <p:nvPr/>
        </p:nvSpPr>
        <p:spPr>
          <a:xfrm>
            <a:off x="4507992" y="4041648"/>
            <a:ext cx="603504" cy="603504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8" name="icon_28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938" y="4204594"/>
            <a:ext cx="277612" cy="27761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507992" y="471830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 code everywhere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4507992" y="5047770"/>
            <a:ext cx="3108960" cy="67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test database and the real one share one name. Only Airflow knows the difference.</a:t>
            </a:r>
            <a:endParaRPr lang="en-US" sz="1150" dirty="0"/>
          </a:p>
        </p:txBody>
      </p:sp>
      <p:sp>
        <p:nvSpPr>
          <p:cNvPr id="21" name="panel_282"/>
          <p:cNvSpPr/>
          <p:nvPr/>
        </p:nvSpPr>
        <p:spPr>
          <a:xfrm>
            <a:off x="8065008" y="3840480"/>
            <a:ext cx="3511296" cy="2103120"/>
          </a:xfrm>
          <a:prstGeom prst="roundRect">
            <a:avLst>
              <a:gd name="adj" fmla="val 5217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2" name="badge_283"/>
          <p:cNvSpPr/>
          <p:nvPr/>
        </p:nvSpPr>
        <p:spPr>
          <a:xfrm>
            <a:off x="8266176" y="4041648"/>
            <a:ext cx="603504" cy="603504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23" name="icon_28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122" y="4204594"/>
            <a:ext cx="277612" cy="27761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266176" y="471830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Set it in the browser</a:t>
            </a:r>
            <a:endParaRPr lang="en-US" sz="1700" dirty="0"/>
          </a:p>
        </p:txBody>
      </p:sp>
      <p:sp>
        <p:nvSpPr>
          <p:cNvPr id="25" name="Text 20"/>
          <p:cNvSpPr txBox="1"/>
          <p:nvPr/>
        </p:nvSpPr>
        <p:spPr>
          <a:xfrm>
            <a:off x="8266176" y="5047770"/>
            <a:ext cx="3108960" cy="52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→ Connections → Add. No file to edit, no restart needed.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Things you want to change without editing code</a:t>
            </a:r>
            <a:endParaRPr lang="en-US" sz="3200" dirty="0"/>
          </a:p>
        </p:txBody>
      </p:sp>
      <p:sp>
        <p:nvSpPr>
          <p:cNvPr id="4" name="panel_285"/>
          <p:cNvSpPr/>
          <p:nvPr/>
        </p:nvSpPr>
        <p:spPr>
          <a:xfrm>
            <a:off x="548640" y="1737360"/>
            <a:ext cx="6400800" cy="1920240"/>
          </a:xfrm>
          <a:prstGeom prst="roundRect">
            <a:avLst>
              <a:gd name="adj" fmla="val 5714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01952"/>
            <a:ext cx="5925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VARIABLE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249424"/>
            <a:ext cx="592531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9B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airflow.sdk import Variable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folder = Variable.get("sales_folder")</a:t>
            </a:r>
            <a:endParaRPr lang="en-US" sz="1300" dirty="0"/>
          </a:p>
        </p:txBody>
      </p:sp>
      <p:sp>
        <p:nvSpPr>
          <p:cNvPr id="7" name="panel_286"/>
          <p:cNvSpPr/>
          <p:nvPr/>
        </p:nvSpPr>
        <p:spPr>
          <a:xfrm>
            <a:off x="7251192" y="1737360"/>
            <a:ext cx="4389120" cy="1920240"/>
          </a:xfrm>
          <a:prstGeom prst="roundRect">
            <a:avLst>
              <a:gd name="adj" fmla="val 5714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25512" y="1938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THINGS TO PUT HERE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525512" y="22860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folder name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many rows per batch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gets the email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04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set these in the browser too, under Admin → Variables. Change the value there and the next run picks it up — no code change, no restart.</a:t>
            </a:r>
            <a:endParaRPr lang="en-US" sz="1500" dirty="0"/>
          </a:p>
        </p:txBody>
      </p:sp>
      <p:sp>
        <p:nvSpPr>
          <p:cNvPr id="11" name="panel_287"/>
          <p:cNvSpPr/>
          <p:nvPr/>
        </p:nvSpPr>
        <p:spPr>
          <a:xfrm>
            <a:off x="548640" y="4434840"/>
            <a:ext cx="11091672" cy="1280160"/>
          </a:xfrm>
          <a:prstGeom prst="roundRect">
            <a:avLst>
              <a:gd name="adj" fmla="val 8571"/>
            </a:avLst>
          </a:prstGeom>
          <a:solidFill>
            <a:srgbClr val="131D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6451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CONNECTIONS OR VARIABLES?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992624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password or a database address goes in a Connection. Anything else you might want to tweak goes in a Variable. If in doubt: is it a secret? Connection. Is it a setting? Variable.</a:t>
            </a:r>
            <a:endParaRPr lang="en-US" sz="14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WARNING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Old tutorials will confuse you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Airflow 3 came out recently. Most tutorials you find online were written for Airflow 2. The ideas are the same, but three names changed — and these are the ones that will break your code.</a:t>
            </a:r>
            <a:endParaRPr lang="en-US" sz="1500" dirty="0"/>
          </a:p>
        </p:txBody>
      </p:sp>
      <p:sp>
        <p:nvSpPr>
          <p:cNvPr id="5" name="panel_288"/>
          <p:cNvSpPr/>
          <p:nvPr/>
        </p:nvSpPr>
        <p:spPr>
          <a:xfrm>
            <a:off x="548640" y="210312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2860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5237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schedule_interval="@daily"</a:t>
            </a:r>
            <a:endParaRPr lang="en-US" sz="1350" dirty="0"/>
          </a:p>
        </p:txBody>
      </p:sp>
      <p:sp>
        <p:nvSpPr>
          <p:cNvPr id="9" name="mig1"/>
          <p:cNvSpPr/>
          <p:nvPr/>
        </p:nvSpPr>
        <p:spPr>
          <a:xfrm>
            <a:off x="5577840" y="2578608"/>
            <a:ext cx="365760" cy="182880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22860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7AA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5237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schedule="@daily"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871216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setting was simply renamed.</a:t>
            </a:r>
            <a:endParaRPr lang="en-US" sz="1250" dirty="0"/>
          </a:p>
        </p:txBody>
      </p:sp>
      <p:sp>
        <p:nvSpPr>
          <p:cNvPr id="13" name="panel_289"/>
          <p:cNvSpPr/>
          <p:nvPr/>
        </p:nvSpPr>
        <p:spPr>
          <a:xfrm>
            <a:off x="548640" y="333756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5204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7581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execution_date</a:t>
            </a:r>
            <a:endParaRPr lang="en-US" sz="1350" dirty="0"/>
          </a:p>
        </p:txBody>
      </p:sp>
      <p:sp>
        <p:nvSpPr>
          <p:cNvPr id="17" name="mig2"/>
          <p:cNvSpPr/>
          <p:nvPr/>
        </p:nvSpPr>
        <p:spPr>
          <a:xfrm>
            <a:off x="5577840" y="3813048"/>
            <a:ext cx="365760" cy="182880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26480" y="35204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7AA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37581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logical_date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105656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Renamed, because it never was the date it actually ran.</a:t>
            </a:r>
            <a:endParaRPr lang="en-US" sz="1250" dirty="0"/>
          </a:p>
        </p:txBody>
      </p:sp>
      <p:sp>
        <p:nvSpPr>
          <p:cNvPr id="21" name="panel_290"/>
          <p:cNvSpPr/>
          <p:nvPr/>
        </p:nvSpPr>
        <p:spPr>
          <a:xfrm>
            <a:off x="548640" y="457200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B5E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7548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49926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A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catchup was on by default</a:t>
            </a:r>
            <a:endParaRPr lang="en-US" sz="1350" dirty="0"/>
          </a:p>
        </p:txBody>
      </p:sp>
      <p:sp>
        <p:nvSpPr>
          <p:cNvPr id="25" name="mig3"/>
          <p:cNvSpPr/>
          <p:nvPr/>
        </p:nvSpPr>
        <p:spPr>
          <a:xfrm>
            <a:off x="5577840" y="5047488"/>
            <a:ext cx="365760" cy="182880"/>
          </a:xfrm>
          <a:prstGeom prst="rightArrow">
            <a:avLst/>
          </a:prstGeom>
          <a:solidFill>
            <a:srgbClr val="2637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26480" y="47548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7AA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4992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catchup=False is the default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5340096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Old Airflow would run every day you had missed. Now it does not. Write it down either way.</a:t>
            </a:r>
            <a:endParaRPr lang="en-US" sz="1250" dirty="0"/>
          </a:p>
        </p:txBody>
      </p:sp>
      <p:sp>
        <p:nvSpPr>
          <p:cNvPr id="29" name="panel_291"/>
          <p:cNvSpPr/>
          <p:nvPr/>
        </p:nvSpPr>
        <p:spPr>
          <a:xfrm>
            <a:off x="548640" y="5852160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9536" y="5925312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Copied some code and got "unexpected keyword argument"? It is almost always one of these three.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whole machine, in six boxes</a:t>
            </a:r>
            <a:endParaRPr lang="en-US" sz="3200" dirty="0"/>
          </a:p>
        </p:txBody>
      </p:sp>
      <p:sp>
        <p:nvSpPr>
          <p:cNvPr id="4" name="panel_292"/>
          <p:cNvSpPr/>
          <p:nvPr/>
        </p:nvSpPr>
        <p:spPr>
          <a:xfrm>
            <a:off x="548640" y="164592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badge_293"/>
          <p:cNvSpPr/>
          <p:nvPr/>
        </p:nvSpPr>
        <p:spPr>
          <a:xfrm>
            <a:off x="749808" y="1847088"/>
            <a:ext cx="603504" cy="603504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6" name="icon_29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754" y="2010034"/>
            <a:ext cx="277612" cy="2776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52374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DAG processor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85321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your .py files and writes down what it found.</a:t>
            </a:r>
            <a:endParaRPr lang="en-US" sz="1250" dirty="0"/>
          </a:p>
        </p:txBody>
      </p:sp>
      <p:sp>
        <p:nvSpPr>
          <p:cNvPr id="9" name="panel_295"/>
          <p:cNvSpPr/>
          <p:nvPr/>
        </p:nvSpPr>
        <p:spPr>
          <a:xfrm>
            <a:off x="4306824" y="164592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0" name="badge_296"/>
          <p:cNvSpPr/>
          <p:nvPr/>
        </p:nvSpPr>
        <p:spPr>
          <a:xfrm>
            <a:off x="4507992" y="1847088"/>
            <a:ext cx="603504" cy="603504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1" name="icon_29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938" y="2010034"/>
            <a:ext cx="277612" cy="2776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07992" y="252374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Scheduler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07992" y="285321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Decides when a task is allowed to start.</a:t>
            </a:r>
            <a:endParaRPr lang="en-US" sz="1250" dirty="0"/>
          </a:p>
        </p:txBody>
      </p:sp>
      <p:sp>
        <p:nvSpPr>
          <p:cNvPr id="14" name="panel_298"/>
          <p:cNvSpPr/>
          <p:nvPr/>
        </p:nvSpPr>
        <p:spPr>
          <a:xfrm>
            <a:off x="8065008" y="164592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5" name="badge_299"/>
          <p:cNvSpPr/>
          <p:nvPr/>
        </p:nvSpPr>
        <p:spPr>
          <a:xfrm>
            <a:off x="8266176" y="1847088"/>
            <a:ext cx="603504" cy="603504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16" name="icon_30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122" y="2010034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66176" y="252374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Worker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66176" y="285321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your code and saves what it printed.</a:t>
            </a:r>
            <a:endParaRPr lang="en-US" sz="1250" dirty="0"/>
          </a:p>
        </p:txBody>
      </p:sp>
      <p:sp>
        <p:nvSpPr>
          <p:cNvPr id="19" name="panel_301"/>
          <p:cNvSpPr/>
          <p:nvPr/>
        </p:nvSpPr>
        <p:spPr>
          <a:xfrm>
            <a:off x="548640" y="365760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badge_302"/>
          <p:cNvSpPr/>
          <p:nvPr/>
        </p:nvSpPr>
        <p:spPr>
          <a:xfrm>
            <a:off x="749808" y="3858768"/>
            <a:ext cx="603504" cy="603504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21" name="icon_30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754" y="4021714"/>
            <a:ext cx="277612" cy="2776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" y="453542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Webserver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486489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Draws the page you look at. Decides nothing.</a:t>
            </a:r>
            <a:endParaRPr lang="en-US" sz="1250" dirty="0"/>
          </a:p>
        </p:txBody>
      </p:sp>
      <p:sp>
        <p:nvSpPr>
          <p:cNvPr id="24" name="panel_304"/>
          <p:cNvSpPr/>
          <p:nvPr/>
        </p:nvSpPr>
        <p:spPr>
          <a:xfrm>
            <a:off x="4306824" y="365760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5" name="badge_305"/>
          <p:cNvSpPr/>
          <p:nvPr/>
        </p:nvSpPr>
        <p:spPr>
          <a:xfrm>
            <a:off x="4507992" y="3858768"/>
            <a:ext cx="603504" cy="603504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26" name="icon_30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938" y="4021714"/>
            <a:ext cx="277612" cy="2776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07992" y="453542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Triggerer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07992" y="486489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the long waiting so workers stay free.</a:t>
            </a:r>
            <a:endParaRPr lang="en-US" sz="1250" dirty="0"/>
          </a:p>
        </p:txBody>
      </p:sp>
      <p:sp>
        <p:nvSpPr>
          <p:cNvPr id="29" name="panel_307"/>
          <p:cNvSpPr/>
          <p:nvPr/>
        </p:nvSpPr>
        <p:spPr>
          <a:xfrm>
            <a:off x="8065008" y="365760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30" name="badge_308"/>
          <p:cNvSpPr/>
          <p:nvPr/>
        </p:nvSpPr>
        <p:spPr>
          <a:xfrm>
            <a:off x="8266176" y="3858768"/>
            <a:ext cx="603504" cy="603504"/>
          </a:xfrm>
          <a:prstGeom prst="ellipse">
            <a:avLst/>
          </a:prstGeom>
          <a:solidFill>
            <a:srgbClr val="E7157B">
              <a:alpha val="18000"/>
            </a:srgbClr>
          </a:solidFill>
          <a:ln w="15875">
            <a:solidFill>
              <a:srgbClr val="E7157B"/>
            </a:solidFill>
            <a:prstDash val="solid"/>
          </a:ln>
        </p:spPr>
      </p:sp>
      <p:pic>
        <p:nvPicPr>
          <p:cNvPr id="31" name="icon_30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122" y="4021714"/>
            <a:ext cx="277612" cy="27761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66176" y="453542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database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266176" y="486489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shared notebook they all read and write.</a:t>
            </a:r>
            <a:endParaRPr lang="en-US" sz="1250" dirty="0"/>
          </a:p>
        </p:txBody>
      </p:sp>
      <p:sp>
        <p:nvSpPr>
          <p:cNvPr id="34" name="panel_310"/>
          <p:cNvSpPr/>
          <p:nvPr/>
        </p:nvSpPr>
        <p:spPr>
          <a:xfrm>
            <a:off x="548640" y="5687568"/>
            <a:ext cx="11091672" cy="530352"/>
          </a:xfrm>
          <a:prstGeom prst="roundRect">
            <a:avLst>
              <a:gd name="adj" fmla="val 20690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859536" y="5760720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Next: start all six on your own laptop and watch a pipeline run.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5544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108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 it on your laptop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605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programs, started with two commands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is Docker?</a:t>
            </a:r>
            <a:endParaRPr lang="en-US" sz="3200" dirty="0"/>
          </a:p>
        </p:txBody>
      </p:sp>
      <p:sp>
        <p:nvSpPr>
          <p:cNvPr id="4" name="panel_311"/>
          <p:cNvSpPr/>
          <p:nvPr/>
        </p:nvSpPr>
        <p:spPr>
          <a:xfrm>
            <a:off x="548640" y="164592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1A2741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badge_312"/>
          <p:cNvSpPr/>
          <p:nvPr/>
        </p:nvSpPr>
        <p:spPr>
          <a:xfrm>
            <a:off x="841248" y="1911096"/>
            <a:ext cx="658368" cy="658368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6" name="icon_31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07" y="2088855"/>
            <a:ext cx="302849" cy="3028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19072" y="1828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9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Docker runs a program inside a sealed box that already contains everything that program needs.</a:t>
            </a:r>
            <a:endParaRPr lang="en-US" sz="1900" dirty="0"/>
          </a:p>
        </p:txBody>
      </p:sp>
      <p:sp>
        <p:nvSpPr>
          <p:cNvPr id="8" name="panel_314"/>
          <p:cNvSpPr/>
          <p:nvPr/>
        </p:nvSpPr>
        <p:spPr>
          <a:xfrm>
            <a:off x="548640" y="3017520"/>
            <a:ext cx="3511296" cy="2194560"/>
          </a:xfrm>
          <a:prstGeom prst="roundRect">
            <a:avLst>
              <a:gd name="adj" fmla="val 5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9" name="badge_315"/>
          <p:cNvSpPr/>
          <p:nvPr/>
        </p:nvSpPr>
        <p:spPr>
          <a:xfrm>
            <a:off x="749808" y="3218688"/>
            <a:ext cx="621792" cy="621792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10" name="icon_31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92" y="3386572"/>
            <a:ext cx="286024" cy="2860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9808" y="3913632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box is called a container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4243098"/>
            <a:ext cx="3108960" cy="75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Airflow needs a certain Python, some libraries and a database. The box has them.</a:t>
            </a:r>
            <a:endParaRPr lang="en-US" sz="1300" dirty="0"/>
          </a:p>
        </p:txBody>
      </p:sp>
      <p:sp>
        <p:nvSpPr>
          <p:cNvPr id="13" name="panel_317"/>
          <p:cNvSpPr/>
          <p:nvPr/>
        </p:nvSpPr>
        <p:spPr>
          <a:xfrm>
            <a:off x="4306824" y="3017520"/>
            <a:ext cx="3511296" cy="2194560"/>
          </a:xfrm>
          <a:prstGeom prst="roundRect">
            <a:avLst>
              <a:gd name="adj" fmla="val 5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4" name="badge_318"/>
          <p:cNvSpPr/>
          <p:nvPr/>
        </p:nvSpPr>
        <p:spPr>
          <a:xfrm>
            <a:off x="4507992" y="3218688"/>
            <a:ext cx="621792" cy="621792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15" name="icon_31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876" y="3386572"/>
            <a:ext cx="286024" cy="2860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507992" y="3913632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Nothing to install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507992" y="4243098"/>
            <a:ext cx="3108960" cy="75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do not install Airflow, or Python libraries, or PostgreSQL. You just start the boxes.</a:t>
            </a:r>
            <a:endParaRPr lang="en-US" sz="1300" dirty="0"/>
          </a:p>
        </p:txBody>
      </p:sp>
      <p:sp>
        <p:nvSpPr>
          <p:cNvPr id="18" name="panel_320"/>
          <p:cNvSpPr/>
          <p:nvPr/>
        </p:nvSpPr>
        <p:spPr>
          <a:xfrm>
            <a:off x="8065008" y="3017520"/>
            <a:ext cx="3511296" cy="2194560"/>
          </a:xfrm>
          <a:prstGeom prst="roundRect">
            <a:avLst>
              <a:gd name="adj" fmla="val 5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9" name="badge_321"/>
          <p:cNvSpPr/>
          <p:nvPr/>
        </p:nvSpPr>
        <p:spPr>
          <a:xfrm>
            <a:off x="8266176" y="3218688"/>
            <a:ext cx="621792" cy="621792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20" name="icon_32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4060" y="3386572"/>
            <a:ext cx="286024" cy="2860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66176" y="3913632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works the same everywhere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266176" y="4243098"/>
            <a:ext cx="3108960" cy="52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laptop, mine, the company server. Same box, same result.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394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will use Docker Compose: one file that lists all the boxes we want and starts them together. You will not have to write that file — Airflow publishes it.</a:t>
            </a:r>
            <a:endParaRPr lang="en-US" sz="14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TARGET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Seven boxes, one for each part</a:t>
            </a:r>
            <a:endParaRPr lang="en-US" sz="3200" dirty="0"/>
          </a:p>
        </p:txBody>
      </p:sp>
      <p:sp>
        <p:nvSpPr>
          <p:cNvPr id="4" name="panel_323"/>
          <p:cNvSpPr/>
          <p:nvPr/>
        </p:nvSpPr>
        <p:spPr>
          <a:xfrm>
            <a:off x="548640" y="1645920"/>
            <a:ext cx="2578608" cy="1627632"/>
          </a:xfrm>
          <a:prstGeom prst="roundRect">
            <a:avLst>
              <a:gd name="adj" fmla="val 6742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badge_324"/>
          <p:cNvSpPr/>
          <p:nvPr/>
        </p:nvSpPr>
        <p:spPr>
          <a:xfrm>
            <a:off x="731520" y="1828800"/>
            <a:ext cx="512064" cy="512064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6" name="icon_32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777" y="1967057"/>
            <a:ext cx="235549" cy="2355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414016"/>
            <a:ext cx="2212848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apiserver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09024"/>
            <a:ext cx="2212848" cy="233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web page, on port 8080</a:t>
            </a:r>
            <a:endParaRPr lang="en-US" sz="1200" dirty="0"/>
          </a:p>
        </p:txBody>
      </p:sp>
      <p:sp>
        <p:nvSpPr>
          <p:cNvPr id="9" name="panel_326"/>
          <p:cNvSpPr/>
          <p:nvPr/>
        </p:nvSpPr>
        <p:spPr>
          <a:xfrm>
            <a:off x="3383280" y="1645920"/>
            <a:ext cx="2578608" cy="1627632"/>
          </a:xfrm>
          <a:prstGeom prst="roundRect">
            <a:avLst>
              <a:gd name="adj" fmla="val 6742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0" name="badge_327"/>
          <p:cNvSpPr/>
          <p:nvPr/>
        </p:nvSpPr>
        <p:spPr>
          <a:xfrm>
            <a:off x="3566160" y="1828800"/>
            <a:ext cx="512064" cy="512064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1" name="icon_32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417" y="1967057"/>
            <a:ext cx="235549" cy="2355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414016"/>
            <a:ext cx="2212848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scheduler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709024"/>
            <a:ext cx="2212848" cy="223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Decides when a task may run</a:t>
            </a:r>
            <a:endParaRPr lang="en-US" sz="1150" dirty="0"/>
          </a:p>
        </p:txBody>
      </p:sp>
      <p:sp>
        <p:nvSpPr>
          <p:cNvPr id="14" name="panel_329"/>
          <p:cNvSpPr/>
          <p:nvPr/>
        </p:nvSpPr>
        <p:spPr>
          <a:xfrm>
            <a:off x="6217920" y="1645920"/>
            <a:ext cx="2578608" cy="1627632"/>
          </a:xfrm>
          <a:prstGeom prst="roundRect">
            <a:avLst>
              <a:gd name="adj" fmla="val 6742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5" name="badge_330"/>
          <p:cNvSpPr/>
          <p:nvPr/>
        </p:nvSpPr>
        <p:spPr>
          <a:xfrm>
            <a:off x="6400800" y="1828800"/>
            <a:ext cx="512064" cy="512064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16" name="icon_33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057" y="1967057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0" y="2414016"/>
            <a:ext cx="2212848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dag-processor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2709024"/>
            <a:ext cx="2212848" cy="24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your dags/ folder</a:t>
            </a:r>
            <a:endParaRPr lang="en-US" sz="1250" dirty="0"/>
          </a:p>
        </p:txBody>
      </p:sp>
      <p:sp>
        <p:nvSpPr>
          <p:cNvPr id="19" name="panel_332"/>
          <p:cNvSpPr/>
          <p:nvPr/>
        </p:nvSpPr>
        <p:spPr>
          <a:xfrm>
            <a:off x="9052560" y="1645920"/>
            <a:ext cx="2578608" cy="1627632"/>
          </a:xfrm>
          <a:prstGeom prst="roundRect">
            <a:avLst>
              <a:gd name="adj" fmla="val 6742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badge_333"/>
          <p:cNvSpPr/>
          <p:nvPr/>
        </p:nvSpPr>
        <p:spPr>
          <a:xfrm>
            <a:off x="9235440" y="1828800"/>
            <a:ext cx="512064" cy="512064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21" name="icon_33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3697" y="1967057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35440" y="2414016"/>
            <a:ext cx="2212848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worker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235440" y="2709024"/>
            <a:ext cx="2212848" cy="24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your Python</a:t>
            </a:r>
            <a:endParaRPr lang="en-US" sz="1250" dirty="0"/>
          </a:p>
        </p:txBody>
      </p:sp>
      <p:sp>
        <p:nvSpPr>
          <p:cNvPr id="24" name="panel_335"/>
          <p:cNvSpPr/>
          <p:nvPr/>
        </p:nvSpPr>
        <p:spPr>
          <a:xfrm>
            <a:off x="548640" y="3383280"/>
            <a:ext cx="2578608" cy="1627632"/>
          </a:xfrm>
          <a:prstGeom prst="roundRect">
            <a:avLst>
              <a:gd name="adj" fmla="val 6742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5" name="badge_336"/>
          <p:cNvSpPr/>
          <p:nvPr/>
        </p:nvSpPr>
        <p:spPr>
          <a:xfrm>
            <a:off x="731520" y="3566160"/>
            <a:ext cx="512064" cy="512064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26" name="icon_33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777" y="3704417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31520" y="4151376"/>
            <a:ext cx="2212848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triggerer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731520" y="4446384"/>
            <a:ext cx="2212848" cy="24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the long waiting</a:t>
            </a:r>
            <a:endParaRPr lang="en-US" sz="1250" dirty="0"/>
          </a:p>
        </p:txBody>
      </p:sp>
      <p:sp>
        <p:nvSpPr>
          <p:cNvPr id="29" name="panel_338"/>
          <p:cNvSpPr/>
          <p:nvPr/>
        </p:nvSpPr>
        <p:spPr>
          <a:xfrm>
            <a:off x="3383280" y="3383280"/>
            <a:ext cx="2578608" cy="1627632"/>
          </a:xfrm>
          <a:prstGeom prst="roundRect">
            <a:avLst>
              <a:gd name="adj" fmla="val 6742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30" name="badge_339"/>
          <p:cNvSpPr/>
          <p:nvPr/>
        </p:nvSpPr>
        <p:spPr>
          <a:xfrm>
            <a:off x="3566160" y="3566160"/>
            <a:ext cx="512064" cy="512064"/>
          </a:xfrm>
          <a:prstGeom prst="ellipse">
            <a:avLst/>
          </a:prstGeom>
          <a:solidFill>
            <a:srgbClr val="E7157B">
              <a:alpha val="18000"/>
            </a:srgbClr>
          </a:solidFill>
          <a:ln w="15875">
            <a:solidFill>
              <a:srgbClr val="E7157B"/>
            </a:solidFill>
            <a:prstDash val="solid"/>
          </a:ln>
        </p:spPr>
      </p:sp>
      <p:pic>
        <p:nvPicPr>
          <p:cNvPr id="31" name="icon_34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4417" y="3704417"/>
            <a:ext cx="235549" cy="235549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66160" y="4151376"/>
            <a:ext cx="2212848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postgres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3566160" y="4446384"/>
            <a:ext cx="2212848" cy="24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shared notebook</a:t>
            </a:r>
            <a:endParaRPr lang="en-US" sz="1250" dirty="0"/>
          </a:p>
        </p:txBody>
      </p:sp>
      <p:sp>
        <p:nvSpPr>
          <p:cNvPr id="34" name="panel_341"/>
          <p:cNvSpPr/>
          <p:nvPr/>
        </p:nvSpPr>
        <p:spPr>
          <a:xfrm>
            <a:off x="6217920" y="3383280"/>
            <a:ext cx="2578608" cy="1627632"/>
          </a:xfrm>
          <a:prstGeom prst="roundRect">
            <a:avLst>
              <a:gd name="adj" fmla="val 6742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35" name="badge_342"/>
          <p:cNvSpPr/>
          <p:nvPr/>
        </p:nvSpPr>
        <p:spPr>
          <a:xfrm>
            <a:off x="6400800" y="3566160"/>
            <a:ext cx="512064" cy="512064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36" name="icon_34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9057" y="3704417"/>
            <a:ext cx="235549" cy="235549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00800" y="4151376"/>
            <a:ext cx="2212848" cy="258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redis</a:t>
            </a:r>
            <a:endParaRPr lang="en-US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6400800" y="4446384"/>
            <a:ext cx="2212848" cy="233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queue of waiting tasks</a:t>
            </a:r>
            <a:endParaRPr lang="en-US" sz="1200" dirty="0"/>
          </a:p>
        </p:txBody>
      </p:sp>
      <p:sp>
        <p:nvSpPr>
          <p:cNvPr id="39" name="panel_344"/>
          <p:cNvSpPr/>
          <p:nvPr/>
        </p:nvSpPr>
        <p:spPr>
          <a:xfrm>
            <a:off x="548640" y="5138928"/>
            <a:ext cx="11091672" cy="713232"/>
          </a:xfrm>
          <a:prstGeom prst="roundRect">
            <a:avLst>
              <a:gd name="adj" fmla="val 15385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868680" y="52669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met six of these in part 2. redis is the seventh: it is just the queue the scheduler drops tasks into and the worker picks them out of.</a:t>
            </a:r>
            <a:endParaRPr lang="en-US" sz="1400" dirty="0"/>
          </a:p>
        </p:txBody>
      </p:sp>
      <p:sp>
        <p:nvSpPr>
          <p:cNvPr id="41" name="Text 32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also a one-off box called airflow-init. It sets up the database once and then stops. That is normal — it is not broken.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your laptop needs</a:t>
            </a:r>
            <a:endParaRPr lang="en-US" sz="3200" dirty="0"/>
          </a:p>
        </p:txBody>
      </p:sp>
      <p:sp>
        <p:nvSpPr>
          <p:cNvPr id="4" name="panel_345"/>
          <p:cNvSpPr/>
          <p:nvPr/>
        </p:nvSpPr>
        <p:spPr>
          <a:xfrm>
            <a:off x="548640" y="1737360"/>
            <a:ext cx="3511296" cy="1920240"/>
          </a:xfrm>
          <a:prstGeom prst="roundRect">
            <a:avLst>
              <a:gd name="adj" fmla="val 5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202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GB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578608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memory given to Docker Desktop. Check Settings if it fails later.</a:t>
            </a:r>
            <a:endParaRPr lang="en-US" sz="1250" dirty="0"/>
          </a:p>
        </p:txBody>
      </p:sp>
      <p:sp>
        <p:nvSpPr>
          <p:cNvPr id="7" name="panel_346"/>
          <p:cNvSpPr/>
          <p:nvPr/>
        </p:nvSpPr>
        <p:spPr>
          <a:xfrm>
            <a:off x="4306824" y="1737360"/>
            <a:ext cx="3511296" cy="1920240"/>
          </a:xfrm>
          <a:prstGeom prst="roundRect">
            <a:avLst>
              <a:gd name="adj" fmla="val 5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07992" y="19202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GB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471416" y="2578608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free disk space for the boxes and the logs.</a:t>
            </a:r>
            <a:endParaRPr lang="en-US" sz="1250" dirty="0"/>
          </a:p>
        </p:txBody>
      </p:sp>
      <p:sp>
        <p:nvSpPr>
          <p:cNvPr id="10" name="panel_347"/>
          <p:cNvSpPr/>
          <p:nvPr/>
        </p:nvSpPr>
        <p:spPr>
          <a:xfrm>
            <a:off x="8065008" y="1737360"/>
            <a:ext cx="3511296" cy="1920240"/>
          </a:xfrm>
          <a:prstGeom prst="roundRect">
            <a:avLst>
              <a:gd name="adj" fmla="val 5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66176" y="19202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9B5E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WSL 2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578608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Windows only. Two commands, on the next slide.</a:t>
            </a:r>
            <a:endParaRPr lang="en-US" sz="1250" dirty="0"/>
          </a:p>
        </p:txBody>
      </p:sp>
      <p:sp>
        <p:nvSpPr>
          <p:cNvPr id="13" name="panel_348"/>
          <p:cNvSpPr/>
          <p:nvPr/>
        </p:nvSpPr>
        <p:spPr>
          <a:xfrm>
            <a:off x="548640" y="3886200"/>
            <a:ext cx="5669280" cy="1463040"/>
          </a:xfrm>
          <a:prstGeom prst="roundRect">
            <a:avLst>
              <a:gd name="adj" fmla="val 7500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4050792"/>
            <a:ext cx="5193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DOCKER IS THERE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4398264"/>
            <a:ext cx="51937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--version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version</a:t>
            </a:r>
            <a:endParaRPr lang="en-US" sz="1300" dirty="0"/>
          </a:p>
        </p:txBody>
      </p:sp>
      <p:sp>
        <p:nvSpPr>
          <p:cNvPr id="16" name="panel_349"/>
          <p:cNvSpPr/>
          <p:nvPr/>
        </p:nvSpPr>
        <p:spPr>
          <a:xfrm>
            <a:off x="6519672" y="3886200"/>
            <a:ext cx="5120640" cy="1463040"/>
          </a:xfrm>
          <a:prstGeom prst="roundRect">
            <a:avLst>
              <a:gd name="adj" fmla="val 7500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93992" y="40873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THOSE FAIL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93992" y="444398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Desktop is not running. Open it, wait for the whale icon to stop moving, and try again.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 your browser tabs before we start. Airflow is seven programs at once, and a laptop with 8 GB total will feel it.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ONLY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Turning on WSL 2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on Windows runs its boxes inside a small Linux that Windows provides, called WSL. If you are on Mac or Linux, skip this slide.</a:t>
            </a:r>
            <a:endParaRPr lang="en-US" sz="1500" dirty="0"/>
          </a:p>
        </p:txBody>
      </p:sp>
      <p:sp>
        <p:nvSpPr>
          <p:cNvPr id="5" name="panel_350"/>
          <p:cNvSpPr/>
          <p:nvPr/>
        </p:nvSpPr>
        <p:spPr>
          <a:xfrm>
            <a:off x="548640" y="2103120"/>
            <a:ext cx="5852160" cy="2103120"/>
          </a:xfrm>
          <a:prstGeom prst="roundRect">
            <a:avLst>
              <a:gd name="adj" fmla="val 5217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267712"/>
            <a:ext cx="5376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 — IN POWERSHELL, AS ADMINISTRATOR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615184"/>
            <a:ext cx="53766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wsl --install -d Ubuntu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restart your computer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wsl --list --verbose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VERSION must say 2</a:t>
            </a:r>
            <a:endParaRPr lang="en-US" sz="1250" dirty="0"/>
          </a:p>
        </p:txBody>
      </p:sp>
      <p:sp>
        <p:nvSpPr>
          <p:cNvPr id="8" name="panel_351"/>
          <p:cNvSpPr/>
          <p:nvPr/>
        </p:nvSpPr>
        <p:spPr>
          <a:xfrm>
            <a:off x="6702552" y="2103120"/>
            <a:ext cx="4937760" cy="2103120"/>
          </a:xfrm>
          <a:prstGeom prst="roundRect">
            <a:avLst>
              <a:gd name="adj" fmla="val 5217"/>
            </a:avLst>
          </a:prstGeom>
          <a:solidFill>
            <a:srgbClr val="1A2741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76872" y="230428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9B5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— IN DOCKER DESKTOP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976872" y="2670048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 → Resources → WSL Integration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Ubuntu on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&amp; Restart</a:t>
            </a:r>
            <a:endParaRPr lang="en-US" sz="1450" dirty="0"/>
          </a:p>
        </p:txBody>
      </p:sp>
      <p:sp>
        <p:nvSpPr>
          <p:cNvPr id="11" name="panel_352"/>
          <p:cNvSpPr/>
          <p:nvPr/>
        </p:nvSpPr>
        <p:spPr>
          <a:xfrm>
            <a:off x="548640" y="443484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2" name="badge_353"/>
          <p:cNvSpPr/>
          <p:nvPr/>
        </p:nvSpPr>
        <p:spPr>
          <a:xfrm>
            <a:off x="768096" y="4654296"/>
            <a:ext cx="585216" cy="585216"/>
          </a:xfrm>
          <a:prstGeom prst="ellipse">
            <a:avLst/>
          </a:prstGeom>
          <a:solidFill>
            <a:srgbClr val="F2545B">
              <a:alpha val="18000"/>
            </a:srgbClr>
          </a:solidFill>
          <a:ln w="15875">
            <a:solidFill>
              <a:srgbClr val="F2545B"/>
            </a:solidFill>
            <a:prstDash val="solid"/>
          </a:ln>
        </p:spPr>
      </p:sp>
      <p:pic>
        <p:nvPicPr>
          <p:cNvPr id="13" name="icon_35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104" y="4812304"/>
            <a:ext cx="269199" cy="26919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554480" y="4636008"/>
            <a:ext cx="4169664" cy="27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"docker: command not found"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4957389"/>
            <a:ext cx="4169664" cy="50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skipped step 2. That switch is what makes docker work inside Ubuntu.</a:t>
            </a:r>
            <a:endParaRPr lang="en-US" sz="1300" dirty="0"/>
          </a:p>
        </p:txBody>
      </p:sp>
      <p:sp>
        <p:nvSpPr>
          <p:cNvPr id="16" name="panel_355"/>
          <p:cNvSpPr/>
          <p:nvPr/>
        </p:nvSpPr>
        <p:spPr>
          <a:xfrm>
            <a:off x="6245352" y="443484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7" name="badge_356"/>
          <p:cNvSpPr/>
          <p:nvPr/>
        </p:nvSpPr>
        <p:spPr>
          <a:xfrm>
            <a:off x="6464808" y="4654296"/>
            <a:ext cx="585216" cy="585216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8" name="icon_35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816" y="4812304"/>
            <a:ext cx="269199" cy="269199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251192" y="4636008"/>
            <a:ext cx="4169664" cy="27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Keep your project in Ubuntu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7251192" y="4957389"/>
            <a:ext cx="4169664" cy="50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 the folder under your Ubuntu home, not in C:\Users. It is much faster there.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 1 AND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a folder, download one file</a:t>
            </a:r>
            <a:endParaRPr lang="en-US" sz="3200" dirty="0"/>
          </a:p>
        </p:txBody>
      </p:sp>
      <p:sp>
        <p:nvSpPr>
          <p:cNvPr id="4" name="panel_358"/>
          <p:cNvSpPr/>
          <p:nvPr/>
        </p:nvSpPr>
        <p:spPr>
          <a:xfrm>
            <a:off x="548640" y="1737360"/>
            <a:ext cx="5852160" cy="1828800"/>
          </a:xfrm>
          <a:prstGeom prst="roundRect">
            <a:avLst>
              <a:gd name="adj" fmla="val 6000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01952"/>
            <a:ext cx="5376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THE FOLDERS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249424"/>
            <a:ext cx="53766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airflow-docker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airflow-docker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dags logs plugins config</a:t>
            </a:r>
            <a:endParaRPr lang="en-US" sz="1250" dirty="0"/>
          </a:p>
        </p:txBody>
      </p:sp>
      <p:sp>
        <p:nvSpPr>
          <p:cNvPr id="7" name="panel_359"/>
          <p:cNvSpPr/>
          <p:nvPr/>
        </p:nvSpPr>
        <p:spPr>
          <a:xfrm>
            <a:off x="6702552" y="1737360"/>
            <a:ext cx="4937760" cy="1828800"/>
          </a:xfrm>
          <a:prstGeom prst="roundRect">
            <a:avLst>
              <a:gd name="adj" fmla="val 6000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0296" y="1901952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AIRFLOW'S COMPOSE FILE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940296" y="2249424"/>
            <a:ext cx="44622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-LfO \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'https://airflow.apache.org/docs/\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apache-airflow/stable/\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docker-compose.yaml'</a:t>
            </a:r>
            <a:endParaRPr lang="en-US" sz="1100" dirty="0"/>
          </a:p>
        </p:txBody>
      </p:sp>
      <p:sp>
        <p:nvSpPr>
          <p:cNvPr id="10" name="panel_360"/>
          <p:cNvSpPr/>
          <p:nvPr/>
        </p:nvSpPr>
        <p:spPr>
          <a:xfrm>
            <a:off x="548640" y="3749040"/>
            <a:ext cx="2578608" cy="13716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395020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dags/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4279392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pipeline files go here. This is the folder Airflow watches.</a:t>
            </a:r>
            <a:endParaRPr lang="en-US" sz="1250" dirty="0"/>
          </a:p>
        </p:txBody>
      </p:sp>
      <p:sp>
        <p:nvSpPr>
          <p:cNvPr id="13" name="panel_361"/>
          <p:cNvSpPr/>
          <p:nvPr/>
        </p:nvSpPr>
        <p:spPr>
          <a:xfrm>
            <a:off x="3383280" y="3749040"/>
            <a:ext cx="2578608" cy="13716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02736" y="395020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logs/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602736" y="4279392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Airflow writes task logs here by itself.</a:t>
            </a:r>
            <a:endParaRPr lang="en-US" sz="1250" dirty="0"/>
          </a:p>
        </p:txBody>
      </p:sp>
      <p:sp>
        <p:nvSpPr>
          <p:cNvPr id="16" name="panel_362"/>
          <p:cNvSpPr/>
          <p:nvPr/>
        </p:nvSpPr>
        <p:spPr>
          <a:xfrm>
            <a:off x="6217920" y="3749040"/>
            <a:ext cx="2578608" cy="13716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37376" y="395020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plugins/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4279392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your own custom pieces. Empty for now.</a:t>
            </a:r>
            <a:endParaRPr lang="en-US" sz="1250" dirty="0"/>
          </a:p>
        </p:txBody>
      </p:sp>
      <p:sp>
        <p:nvSpPr>
          <p:cNvPr id="19" name="panel_363"/>
          <p:cNvSpPr/>
          <p:nvPr/>
        </p:nvSpPr>
        <p:spPr>
          <a:xfrm>
            <a:off x="9052560" y="3749040"/>
            <a:ext cx="2578608" cy="1371600"/>
          </a:xfrm>
          <a:prstGeom prst="roundRect">
            <a:avLst>
              <a:gd name="adj" fmla="val 8000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72016" y="395020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C4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272016" y="4279392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Settings. Also empty for now.</a:t>
            </a:r>
            <a:endParaRPr lang="en-US" sz="1250" dirty="0"/>
          </a:p>
        </p:txBody>
      </p:sp>
      <p:sp>
        <p:nvSpPr>
          <p:cNvPr id="22" name="panel_364"/>
          <p:cNvSpPr/>
          <p:nvPr/>
        </p:nvSpPr>
        <p:spPr>
          <a:xfrm>
            <a:off x="548640" y="5303520"/>
            <a:ext cx="11091672" cy="502920"/>
          </a:xfrm>
          <a:prstGeom prst="roundRect">
            <a:avLst>
              <a:gd name="adj" fmla="val 21818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9536" y="5376672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That downloaded file lists all seven boxes. You never have to write it yourself.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 3 AND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setting, then set up the database</a:t>
            </a:r>
            <a:endParaRPr lang="en-US" sz="3200" dirty="0"/>
          </a:p>
        </p:txBody>
      </p:sp>
      <p:sp>
        <p:nvSpPr>
          <p:cNvPr id="4" name="panel_365"/>
          <p:cNvSpPr/>
          <p:nvPr/>
        </p:nvSpPr>
        <p:spPr>
          <a:xfrm>
            <a:off x="548640" y="1737360"/>
            <a:ext cx="5852160" cy="1371600"/>
          </a:xfrm>
          <a:prstGeom prst="roundRect">
            <a:avLst>
              <a:gd name="adj" fmla="val 8000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01952"/>
            <a:ext cx="5376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A FILE CALLED .env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249424"/>
            <a:ext cx="5376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"AIRFLOW_UID=50000" &gt; .env</a:t>
            </a:r>
            <a:endParaRPr lang="en-US" sz="1300" dirty="0"/>
          </a:p>
        </p:txBody>
      </p:sp>
      <p:sp>
        <p:nvSpPr>
          <p:cNvPr id="7" name="panel_366"/>
          <p:cNvSpPr/>
          <p:nvPr/>
        </p:nvSpPr>
        <p:spPr>
          <a:xfrm>
            <a:off x="6702552" y="173736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76872" y="19202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976872" y="2249424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tells the boxes which user to write files as. Skip it and you get permission errors that look like Airflow bugs but are not.</a:t>
            </a:r>
            <a:endParaRPr lang="en-US" sz="1350" dirty="0"/>
          </a:p>
        </p:txBody>
      </p:sp>
      <p:sp>
        <p:nvSpPr>
          <p:cNvPr id="10" name="panel_367"/>
          <p:cNvSpPr/>
          <p:nvPr/>
        </p:nvSpPr>
        <p:spPr>
          <a:xfrm>
            <a:off x="548640" y="329184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456432"/>
            <a:ext cx="10616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UP THE DATABASE — RUN THIS ONCE, EVER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3803904"/>
            <a:ext cx="10616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airflow-init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A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when it works, the last line says:  exited with code 0</a:t>
            </a:r>
            <a:endParaRPr lang="en-US" sz="1050" dirty="0"/>
          </a:p>
        </p:txBody>
      </p:sp>
      <p:sp>
        <p:nvSpPr>
          <p:cNvPr id="13" name="panel_368"/>
          <p:cNvSpPr/>
          <p:nvPr/>
        </p:nvSpPr>
        <p:spPr>
          <a:xfrm>
            <a:off x="548640" y="4773168"/>
            <a:ext cx="3511296" cy="1517904"/>
          </a:xfrm>
          <a:prstGeom prst="roundRect">
            <a:avLst>
              <a:gd name="adj" fmla="val 722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4" name="badge_369"/>
          <p:cNvSpPr/>
          <p:nvPr/>
        </p:nvSpPr>
        <p:spPr>
          <a:xfrm>
            <a:off x="731520" y="4956048"/>
            <a:ext cx="512064" cy="512064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15" name="icon_37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777" y="5094305"/>
            <a:ext cx="235549" cy="235549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31520" y="5541264"/>
            <a:ext cx="3145536" cy="267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code 0</a:t>
            </a:r>
            <a:endParaRPr lang="en-US" sz="15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5844887"/>
            <a:ext cx="3145536" cy="25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worked. Carry on.</a:t>
            </a:r>
            <a:endParaRPr lang="en-US" sz="1300" dirty="0"/>
          </a:p>
        </p:txBody>
      </p:sp>
      <p:sp>
        <p:nvSpPr>
          <p:cNvPr id="18" name="panel_371"/>
          <p:cNvSpPr/>
          <p:nvPr/>
        </p:nvSpPr>
        <p:spPr>
          <a:xfrm>
            <a:off x="4306824" y="4773168"/>
            <a:ext cx="3511296" cy="1517904"/>
          </a:xfrm>
          <a:prstGeom prst="roundRect">
            <a:avLst>
              <a:gd name="adj" fmla="val 722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9" name="badge_372"/>
          <p:cNvSpPr/>
          <p:nvPr/>
        </p:nvSpPr>
        <p:spPr>
          <a:xfrm>
            <a:off x="4489704" y="4956048"/>
            <a:ext cx="512064" cy="512064"/>
          </a:xfrm>
          <a:prstGeom prst="ellipse">
            <a:avLst/>
          </a:prstGeom>
          <a:solidFill>
            <a:srgbClr val="F2545B">
              <a:alpha val="18000"/>
            </a:srgbClr>
          </a:solidFill>
          <a:ln w="15875">
            <a:solidFill>
              <a:srgbClr val="F2545B"/>
            </a:solidFill>
            <a:prstDash val="solid"/>
          </a:ln>
        </p:spPr>
      </p:sp>
      <p:pic>
        <p:nvPicPr>
          <p:cNvPr id="20" name="icon_37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961" y="5094305"/>
            <a:ext cx="235549" cy="235549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489704" y="5541264"/>
            <a:ext cx="3145536" cy="267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Any other number</a:t>
            </a:r>
            <a:endParaRPr lang="en-US" sz="1550" dirty="0"/>
          </a:p>
        </p:txBody>
      </p:sp>
      <p:sp>
        <p:nvSpPr>
          <p:cNvPr id="22" name="Text 18"/>
          <p:cNvSpPr txBox="1"/>
          <p:nvPr/>
        </p:nvSpPr>
        <p:spPr>
          <a:xfrm>
            <a:off x="4489704" y="5844887"/>
            <a:ext cx="3145536" cy="213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Almost always memory. Give Docker 4 GB+.</a:t>
            </a:r>
            <a:endParaRPr lang="en-US" sz="1100" dirty="0"/>
          </a:p>
        </p:txBody>
      </p:sp>
      <p:sp>
        <p:nvSpPr>
          <p:cNvPr id="23" name="panel_374"/>
          <p:cNvSpPr/>
          <p:nvPr/>
        </p:nvSpPr>
        <p:spPr>
          <a:xfrm>
            <a:off x="8065008" y="4773168"/>
            <a:ext cx="3511296" cy="1517904"/>
          </a:xfrm>
          <a:prstGeom prst="roundRect">
            <a:avLst>
              <a:gd name="adj" fmla="val 722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4" name="badge_375"/>
          <p:cNvSpPr/>
          <p:nvPr/>
        </p:nvSpPr>
        <p:spPr>
          <a:xfrm>
            <a:off x="8247888" y="4956048"/>
            <a:ext cx="512064" cy="512064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25" name="icon_37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145" y="5094305"/>
            <a:ext cx="235549" cy="235549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247888" y="5541264"/>
            <a:ext cx="3145536" cy="267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Safe to repeat</a:t>
            </a:r>
            <a:endParaRPr lang="en-US" sz="1550" dirty="0"/>
          </a:p>
        </p:txBody>
      </p:sp>
      <p:sp>
        <p:nvSpPr>
          <p:cNvPr id="27" name="Text 22"/>
          <p:cNvSpPr txBox="1"/>
          <p:nvPr/>
        </p:nvSpPr>
        <p:spPr>
          <a:xfrm>
            <a:off x="8247888" y="5844887"/>
            <a:ext cx="3145536" cy="25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it twice breaks nothing.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Start everything</a:t>
            </a:r>
            <a:endParaRPr lang="en-US" sz="3200" dirty="0"/>
          </a:p>
        </p:txBody>
      </p:sp>
      <p:sp>
        <p:nvSpPr>
          <p:cNvPr id="4" name="panel_377"/>
          <p:cNvSpPr/>
          <p:nvPr/>
        </p:nvSpPr>
        <p:spPr>
          <a:xfrm>
            <a:off x="548640" y="1737360"/>
            <a:ext cx="5852160" cy="1554480"/>
          </a:xfrm>
          <a:prstGeom prst="roundRect">
            <a:avLst>
              <a:gd name="adj" fmla="val 7059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01952"/>
            <a:ext cx="5376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START, AND THEN CHECK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249424"/>
            <a:ext cx="53766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</a:t>
            </a:r>
            <a:endParaRPr lang="en-US" sz="1300" dirty="0"/>
          </a:p>
        </p:txBody>
      </p:sp>
      <p:sp>
        <p:nvSpPr>
          <p:cNvPr id="7" name="panel_378"/>
          <p:cNvSpPr/>
          <p:nvPr/>
        </p:nvSpPr>
        <p:spPr>
          <a:xfrm>
            <a:off x="6702552" y="1737360"/>
            <a:ext cx="4937760" cy="1554480"/>
          </a:xfrm>
          <a:prstGeom prst="roundRect">
            <a:avLst>
              <a:gd name="adj" fmla="val 7059"/>
            </a:avLst>
          </a:prstGeom>
          <a:solidFill>
            <a:srgbClr val="1A2741"/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76872" y="19385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AA1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976872" y="22860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 lines, every one saying (healthy). The first time, it downloads the boxes, so give it a few minutes.</a:t>
            </a:r>
            <a:endParaRPr lang="en-US" sz="1400" dirty="0"/>
          </a:p>
        </p:txBody>
      </p:sp>
      <p:graphicFrame>
        <p:nvGraphicFramePr>
          <p:cNvPr id="42" name="table_3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023360"/>
                <a:gridCol w="441655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It says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Which means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Do this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7AA11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(healthy)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That box is up and working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Nothing. Carry on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99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(starting)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Still waking up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Wait a minute or two and check again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2545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(unhealthy)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That box keeps failing its check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Usually memory. Give Docker more and restart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</a:tbl>
          </a:graphicData>
        </a:graphic>
      </p:graphicFrame>
      <p:sp>
        <p:nvSpPr>
          <p:cNvPr id="11" name="panel_380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" y="5687568"/>
            <a:ext cx="106161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something else already using 8080? open docker-compose.yaml and change  "8080:8080"  to  "8081:8080"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it in your browser</a:t>
            </a:r>
            <a:endParaRPr lang="en-US" sz="3200" dirty="0"/>
          </a:p>
        </p:txBody>
      </p:sp>
      <p:sp>
        <p:nvSpPr>
          <p:cNvPr id="4" name="panel_381"/>
          <p:cNvSpPr/>
          <p:nvPr/>
        </p:nvSpPr>
        <p:spPr>
          <a:xfrm>
            <a:off x="548640" y="1737360"/>
            <a:ext cx="5852160" cy="2194560"/>
          </a:xfrm>
          <a:prstGeom prst="roundRect">
            <a:avLst>
              <a:gd name="adj" fmla="val 5000"/>
            </a:avLst>
          </a:prstGeom>
          <a:solidFill>
            <a:srgbClr val="1A2741"/>
          </a:solidFill>
          <a:ln w="12700">
            <a:solidFill>
              <a:srgbClr val="8C4FFF"/>
            </a:solidFill>
            <a:prstDash val="solid"/>
          </a:ln>
        </p:spPr>
      </p:sp>
      <p:sp>
        <p:nvSpPr>
          <p:cNvPr id="5" name="badge_382"/>
          <p:cNvSpPr/>
          <p:nvPr/>
        </p:nvSpPr>
        <p:spPr>
          <a:xfrm>
            <a:off x="841248" y="1993392"/>
            <a:ext cx="676656" cy="676656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6" name="icon_38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945" y="2176089"/>
            <a:ext cx="311262" cy="3112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55648" y="20482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http://localhost:8080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85292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AA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   airflow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AA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  airflow</a:t>
            </a:r>
            <a:endParaRPr lang="en-US" sz="1600" dirty="0"/>
          </a:p>
        </p:txBody>
      </p:sp>
      <p:sp>
        <p:nvSpPr>
          <p:cNvPr id="9" name="panel_384"/>
          <p:cNvSpPr/>
          <p:nvPr/>
        </p:nvSpPr>
        <p:spPr>
          <a:xfrm>
            <a:off x="6702552" y="1737360"/>
            <a:ext cx="4937760" cy="2194560"/>
          </a:xfrm>
          <a:prstGeom prst="roundRect">
            <a:avLst>
              <a:gd name="adj" fmla="val 5000"/>
            </a:avLst>
          </a:prstGeom>
          <a:solidFill>
            <a:srgbClr val="131D31"/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76872" y="19385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FOR YOUR LAPTOP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976872" y="22860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airflow / airflow is the default everyone knows. Fine while it only runs on your own machine. The moment anyone else can reach it, change it.</a:t>
            </a:r>
            <a:endParaRPr lang="en-US" sz="1400" dirty="0"/>
          </a:p>
        </p:txBody>
      </p:sp>
      <p:sp>
        <p:nvSpPr>
          <p:cNvPr id="12" name="panel_385"/>
          <p:cNvSpPr/>
          <p:nvPr/>
        </p:nvSpPr>
        <p:spPr>
          <a:xfrm>
            <a:off x="548640" y="4114800"/>
            <a:ext cx="5394960" cy="1024128"/>
          </a:xfrm>
          <a:prstGeom prst="roundRect">
            <a:avLst>
              <a:gd name="adj" fmla="val 10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3" name="badge_386"/>
          <p:cNvSpPr/>
          <p:nvPr/>
        </p:nvSpPr>
        <p:spPr>
          <a:xfrm>
            <a:off x="749808" y="4315968"/>
            <a:ext cx="457200" cy="457200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4" name="icon_38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4439412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08176" y="4297680"/>
            <a:ext cx="4334256" cy="27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DAGs page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408176" y="4619061"/>
            <a:ext cx="4334256" cy="25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pipeline, and a switch to turn it on.</a:t>
            </a:r>
            <a:endParaRPr lang="en-US" sz="1300" dirty="0"/>
          </a:p>
        </p:txBody>
      </p:sp>
      <p:sp>
        <p:nvSpPr>
          <p:cNvPr id="17" name="panel_388"/>
          <p:cNvSpPr/>
          <p:nvPr/>
        </p:nvSpPr>
        <p:spPr>
          <a:xfrm>
            <a:off x="6245352" y="4114800"/>
            <a:ext cx="5394960" cy="1024128"/>
          </a:xfrm>
          <a:prstGeom prst="roundRect">
            <a:avLst>
              <a:gd name="adj" fmla="val 10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8" name="badge_389"/>
          <p:cNvSpPr/>
          <p:nvPr/>
        </p:nvSpPr>
        <p:spPr>
          <a:xfrm>
            <a:off x="6446520" y="4315968"/>
            <a:ext cx="457200" cy="457200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9" name="icon_39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4439412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104888" y="4297680"/>
            <a:ext cx="4334256" cy="27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Grid view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104888" y="4619061"/>
            <a:ext cx="4334256" cy="25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square per task. Click it to read the log.</a:t>
            </a:r>
            <a:endParaRPr lang="en-US" sz="1300" dirty="0"/>
          </a:p>
        </p:txBody>
      </p:sp>
      <p:sp>
        <p:nvSpPr>
          <p:cNvPr id="22" name="panel_391"/>
          <p:cNvSpPr/>
          <p:nvPr/>
        </p:nvSpPr>
        <p:spPr>
          <a:xfrm>
            <a:off x="548640" y="5212080"/>
            <a:ext cx="5394960" cy="1024128"/>
          </a:xfrm>
          <a:prstGeom prst="roundRect">
            <a:avLst>
              <a:gd name="adj" fmla="val 10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3" name="badge_392"/>
          <p:cNvSpPr/>
          <p:nvPr/>
        </p:nvSpPr>
        <p:spPr>
          <a:xfrm>
            <a:off x="749808" y="5413248"/>
            <a:ext cx="457200" cy="457200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24" name="icon_39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5536692"/>
            <a:ext cx="210312" cy="21031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08176" y="5394960"/>
            <a:ext cx="4334256" cy="27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Graph view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408176" y="5716341"/>
            <a:ext cx="4334256" cy="25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boxes and arrows, drawn by Airflow.</a:t>
            </a:r>
            <a:endParaRPr lang="en-US" sz="1300" dirty="0"/>
          </a:p>
        </p:txBody>
      </p:sp>
      <p:sp>
        <p:nvSpPr>
          <p:cNvPr id="27" name="panel_394"/>
          <p:cNvSpPr/>
          <p:nvPr/>
        </p:nvSpPr>
        <p:spPr>
          <a:xfrm>
            <a:off x="6245352" y="5212080"/>
            <a:ext cx="5394960" cy="1024128"/>
          </a:xfrm>
          <a:prstGeom prst="roundRect">
            <a:avLst>
              <a:gd name="adj" fmla="val 10714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8" name="badge_395"/>
          <p:cNvSpPr/>
          <p:nvPr/>
        </p:nvSpPr>
        <p:spPr>
          <a:xfrm>
            <a:off x="6446520" y="5413248"/>
            <a:ext cx="457200" cy="457200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29" name="icon_39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964" y="5536692"/>
            <a:ext cx="210312" cy="21031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104888" y="5394960"/>
            <a:ext cx="4334256" cy="27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Admin menu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7104888" y="5716341"/>
            <a:ext cx="4334256" cy="25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Connections and Variables live.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7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first pipeline, running for real</a:t>
            </a:r>
            <a:endParaRPr lang="en-US" sz="3200" dirty="0"/>
          </a:p>
        </p:txBody>
      </p:sp>
      <p:sp>
        <p:nvSpPr>
          <p:cNvPr id="4" name="panel_397"/>
          <p:cNvSpPr/>
          <p:nvPr/>
        </p:nvSpPr>
        <p:spPr>
          <a:xfrm>
            <a:off x="548640" y="1737360"/>
            <a:ext cx="6583680" cy="4023360"/>
          </a:xfrm>
          <a:prstGeom prst="roundRect">
            <a:avLst>
              <a:gd name="adj" fmla="val 2727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01952"/>
            <a:ext cx="6108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dags/hello_airflow.py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249424"/>
            <a:ext cx="6108192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9B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airflow.sdk import dag, task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9B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pendulum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@dag(schedule="@once", catchup=False,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start_date=pendulum.datetime(2026, 1, 1))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hello_airflow():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@task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say_hello():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"hello"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@task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say_world(greeting):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print(greeting + ", world")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say_world(say_hello())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hello_airflow()</a:t>
            </a:r>
            <a:endParaRPr lang="en-US" sz="950" dirty="0"/>
          </a:p>
        </p:txBody>
      </p:sp>
      <p:sp>
        <p:nvSpPr>
          <p:cNvPr id="7" name="panel_398"/>
          <p:cNvSpPr/>
          <p:nvPr/>
        </p:nvSpPr>
        <p:spPr>
          <a:xfrm>
            <a:off x="7434072" y="1737360"/>
            <a:ext cx="4206240" cy="493776"/>
          </a:xfrm>
          <a:prstGeom prst="roundRect">
            <a:avLst>
              <a:gd name="adj" fmla="val 1851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07808" y="184708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10144" y="1847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it inside dags/</a:t>
            </a:r>
            <a:endParaRPr lang="en-US" sz="1300" dirty="0"/>
          </a:p>
        </p:txBody>
      </p:sp>
      <p:sp>
        <p:nvSpPr>
          <p:cNvPr id="10" name="panel_399"/>
          <p:cNvSpPr/>
          <p:nvPr/>
        </p:nvSpPr>
        <p:spPr>
          <a:xfrm>
            <a:off x="7434072" y="2304288"/>
            <a:ext cx="4206240" cy="493776"/>
          </a:xfrm>
          <a:prstGeom prst="roundRect">
            <a:avLst>
              <a:gd name="adj" fmla="val 1851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07808" y="241401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010144" y="24140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 about 30 seconds</a:t>
            </a:r>
            <a:endParaRPr lang="en-US" sz="1300" dirty="0"/>
          </a:p>
        </p:txBody>
      </p:sp>
      <p:sp>
        <p:nvSpPr>
          <p:cNvPr id="13" name="panel_400"/>
          <p:cNvSpPr/>
          <p:nvPr/>
        </p:nvSpPr>
        <p:spPr>
          <a:xfrm>
            <a:off x="7434072" y="2871216"/>
            <a:ext cx="4206240" cy="493776"/>
          </a:xfrm>
          <a:prstGeom prst="roundRect">
            <a:avLst>
              <a:gd name="adj" fmla="val 1851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07808" y="298094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10144" y="29809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hello_airflow on the page</a:t>
            </a:r>
            <a:endParaRPr lang="en-US" sz="1300" dirty="0"/>
          </a:p>
        </p:txBody>
      </p:sp>
      <p:sp>
        <p:nvSpPr>
          <p:cNvPr id="16" name="panel_401"/>
          <p:cNvSpPr/>
          <p:nvPr/>
        </p:nvSpPr>
        <p:spPr>
          <a:xfrm>
            <a:off x="7434072" y="3438144"/>
            <a:ext cx="4206240" cy="493776"/>
          </a:xfrm>
          <a:prstGeom prst="roundRect">
            <a:avLst>
              <a:gd name="adj" fmla="val 1851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07808" y="35478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010144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the switch to turn it on</a:t>
            </a:r>
            <a:endParaRPr lang="en-US" sz="1300" dirty="0"/>
          </a:p>
        </p:txBody>
      </p:sp>
      <p:sp>
        <p:nvSpPr>
          <p:cNvPr id="19" name="panel_402"/>
          <p:cNvSpPr/>
          <p:nvPr/>
        </p:nvSpPr>
        <p:spPr>
          <a:xfrm>
            <a:off x="7434072" y="4005072"/>
            <a:ext cx="4206240" cy="493776"/>
          </a:xfrm>
          <a:prstGeom prst="roundRect">
            <a:avLst>
              <a:gd name="adj" fmla="val 1851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07808" y="41148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B5E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010144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 Trigger to run it now</a:t>
            </a:r>
            <a:endParaRPr lang="en-US" sz="1300" dirty="0"/>
          </a:p>
        </p:txBody>
      </p:sp>
      <p:sp>
        <p:nvSpPr>
          <p:cNvPr id="22" name="panel_403"/>
          <p:cNvSpPr/>
          <p:nvPr/>
        </p:nvSpPr>
        <p:spPr>
          <a:xfrm>
            <a:off x="7434072" y="4572000"/>
            <a:ext cx="4206240" cy="493776"/>
          </a:xfrm>
          <a:prstGeom prst="roundRect">
            <a:avLst>
              <a:gd name="adj" fmla="val 1851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07808" y="468172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A1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010144" y="4681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squares turn green</a:t>
            </a:r>
            <a:endParaRPr lang="en-US" sz="1300" dirty="0"/>
          </a:p>
        </p:txBody>
      </p:sp>
      <p:sp>
        <p:nvSpPr>
          <p:cNvPr id="25" name="panel_404"/>
          <p:cNvSpPr/>
          <p:nvPr/>
        </p:nvSpPr>
        <p:spPr>
          <a:xfrm>
            <a:off x="7434072" y="5138928"/>
            <a:ext cx="4206240" cy="493776"/>
          </a:xfrm>
          <a:prstGeom prst="roundRect">
            <a:avLst>
              <a:gd name="adj" fmla="val 1851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07808" y="524865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A1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010144" y="5248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say_world's log and read it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70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say_world never imports say_hello. The word "hello" travelled between them through the database — that is an XCom, doing its job.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IT DOES NOT APPEAR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reasons, in order of likelihood</a:t>
            </a:r>
            <a:endParaRPr lang="en-US" sz="3200" dirty="0"/>
          </a:p>
        </p:txBody>
      </p:sp>
      <p:sp>
        <p:nvSpPr>
          <p:cNvPr id="4" name="panel_405"/>
          <p:cNvSpPr/>
          <p:nvPr/>
        </p:nvSpPr>
        <p:spPr>
          <a:xfrm>
            <a:off x="548640" y="1737360"/>
            <a:ext cx="11091672" cy="1298448"/>
          </a:xfrm>
          <a:prstGeom prst="roundRect">
            <a:avLst>
              <a:gd name="adj" fmla="val 8451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badge_406"/>
          <p:cNvSpPr/>
          <p:nvPr/>
        </p:nvSpPr>
        <p:spPr>
          <a:xfrm>
            <a:off x="804672" y="2048256"/>
            <a:ext cx="658368" cy="658368"/>
          </a:xfrm>
          <a:prstGeom prst="ellipse">
            <a:avLst/>
          </a:prstGeom>
          <a:solidFill>
            <a:srgbClr val="F2545B">
              <a:alpha val="18000"/>
            </a:srgbClr>
          </a:solidFill>
          <a:ln w="15875">
            <a:solidFill>
              <a:srgbClr val="F2545B"/>
            </a:solidFill>
            <a:prstDash val="solid"/>
          </a:ln>
        </p:spPr>
      </p:sp>
      <p:pic>
        <p:nvPicPr>
          <p:cNvPr id="6" name="icon_40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431" y="2226015"/>
            <a:ext cx="302849" cy="3028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27632" y="1920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545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627632" y="21945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There is a typo in your file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627632" y="2523744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Airflow opens your file to read it. If opening it fails, nothing appears at all — not even an error on the page.</a:t>
            </a:r>
            <a:endParaRPr lang="en-US" sz="1250" dirty="0"/>
          </a:p>
        </p:txBody>
      </p:sp>
      <p:sp>
        <p:nvSpPr>
          <p:cNvPr id="10" name="panel_408"/>
          <p:cNvSpPr/>
          <p:nvPr/>
        </p:nvSpPr>
        <p:spPr>
          <a:xfrm>
            <a:off x="6766560" y="1993392"/>
            <a:ext cx="4599432" cy="786384"/>
          </a:xfrm>
          <a:prstGeom prst="roundRect">
            <a:avLst>
              <a:gd name="adj" fmla="val 11628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86016" y="2103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F2545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IT WITH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986016" y="23591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dags/hello_airflow.py</a:t>
            </a:r>
            <a:endParaRPr lang="en-US" sz="1150" dirty="0"/>
          </a:p>
        </p:txBody>
      </p:sp>
      <p:sp>
        <p:nvSpPr>
          <p:cNvPr id="13" name="panel_409"/>
          <p:cNvSpPr/>
          <p:nvPr/>
        </p:nvSpPr>
        <p:spPr>
          <a:xfrm>
            <a:off x="548640" y="3154680"/>
            <a:ext cx="11091672" cy="1298448"/>
          </a:xfrm>
          <a:prstGeom prst="roundRect">
            <a:avLst>
              <a:gd name="adj" fmla="val 8451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4" name="badge_410"/>
          <p:cNvSpPr/>
          <p:nvPr/>
        </p:nvSpPr>
        <p:spPr>
          <a:xfrm>
            <a:off x="804672" y="3465576"/>
            <a:ext cx="658368" cy="658368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5" name="icon_4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31" y="3643335"/>
            <a:ext cx="302849" cy="30284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27632" y="3337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627632" y="36118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have not waited long enough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1627632" y="3941064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Airflow only looks in the folder about every 30 seconds. Refreshing the browser does not make it look sooner.</a:t>
            </a:r>
            <a:endParaRPr lang="en-US" sz="1250" dirty="0"/>
          </a:p>
        </p:txBody>
      </p:sp>
      <p:sp>
        <p:nvSpPr>
          <p:cNvPr id="19" name="panel_412"/>
          <p:cNvSpPr/>
          <p:nvPr/>
        </p:nvSpPr>
        <p:spPr>
          <a:xfrm>
            <a:off x="6766560" y="3410712"/>
            <a:ext cx="4599432" cy="786384"/>
          </a:xfrm>
          <a:prstGeom prst="roundRect">
            <a:avLst>
              <a:gd name="adj" fmla="val 11628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986016" y="3520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IT WITH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6986016" y="37764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wait, then refresh</a:t>
            </a:r>
            <a:endParaRPr lang="en-US" sz="1150" dirty="0"/>
          </a:p>
        </p:txBody>
      </p:sp>
      <p:sp>
        <p:nvSpPr>
          <p:cNvPr id="22" name="panel_413"/>
          <p:cNvSpPr/>
          <p:nvPr/>
        </p:nvSpPr>
        <p:spPr>
          <a:xfrm>
            <a:off x="548640" y="4572000"/>
            <a:ext cx="11091672" cy="1298448"/>
          </a:xfrm>
          <a:prstGeom prst="roundRect">
            <a:avLst>
              <a:gd name="adj" fmla="val 8451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3" name="badge_414"/>
          <p:cNvSpPr/>
          <p:nvPr/>
        </p:nvSpPr>
        <p:spPr>
          <a:xfrm>
            <a:off x="804672" y="4882896"/>
            <a:ext cx="658368" cy="658368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24" name="icon_4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431" y="5060655"/>
            <a:ext cx="302849" cy="302849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627632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1627632" y="50292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file is in the wrong place</a:t>
            </a:r>
            <a:endParaRPr lang="en-US" sz="1700" dirty="0"/>
          </a:p>
        </p:txBody>
      </p:sp>
      <p:sp>
        <p:nvSpPr>
          <p:cNvPr id="27" name="Text 22"/>
          <p:cNvSpPr txBox="1"/>
          <p:nvPr/>
        </p:nvSpPr>
        <p:spPr>
          <a:xfrm>
            <a:off x="1627632" y="5358384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has to be inside the dags/ folder that sits next to docker-compose.yaml. Nowhere else counts.</a:t>
            </a:r>
            <a:endParaRPr lang="en-US" sz="1250" dirty="0"/>
          </a:p>
        </p:txBody>
      </p:sp>
      <p:sp>
        <p:nvSpPr>
          <p:cNvPr id="28" name="panel_416"/>
          <p:cNvSpPr/>
          <p:nvPr/>
        </p:nvSpPr>
        <p:spPr>
          <a:xfrm>
            <a:off x="6766560" y="4828032"/>
            <a:ext cx="4599432" cy="786384"/>
          </a:xfrm>
          <a:prstGeom prst="roundRect">
            <a:avLst>
              <a:gd name="adj" fmla="val 11628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986016" y="49377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IT WITH</a:t>
            </a:r>
            <a:endParaRPr 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6986016" y="5193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logs airflow-dag-processor</a:t>
            </a:r>
            <a:endParaRPr lang="en-US" sz="1150" dirty="0"/>
          </a:p>
        </p:txBody>
      </p:sp>
      <p:sp>
        <p:nvSpPr>
          <p:cNvPr id="31" name="panel_417"/>
          <p:cNvSpPr/>
          <p:nvPr/>
        </p:nvSpPr>
        <p:spPr>
          <a:xfrm>
            <a:off x="548640" y="5943600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859536" y="6016752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Always run the file with python first. It is the fastest check there is, and it is reason 01 nine times out of ten.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TO DAY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commands you will actually use</a:t>
            </a:r>
            <a:endParaRPr lang="en-US" sz="3200" dirty="0"/>
          </a:p>
        </p:txBody>
      </p:sp>
      <p:sp>
        <p:nvSpPr>
          <p:cNvPr id="4" name="panel_418"/>
          <p:cNvSpPr/>
          <p:nvPr/>
        </p:nvSpPr>
        <p:spPr>
          <a:xfrm>
            <a:off x="548640" y="173736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0D1526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01952"/>
            <a:ext cx="10616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AIRFLOW COMMANDS LIKE THIS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249424"/>
            <a:ext cx="10616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run --rm airflow-cli airflow &lt;command&gt;</a:t>
            </a:r>
            <a:endParaRPr lang="en-US" sz="1300" dirty="0"/>
          </a:p>
        </p:txBody>
      </p:sp>
      <p:graphicFrame>
        <p:nvGraphicFramePr>
          <p:cNvPr id="46" name="table_4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91672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64282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Command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What it does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airflow dags list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Shows every pipeline Airflow could read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airflow dags trigger hello_airflow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Starts a run now, from the terminal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airflow tasks list hello_airflow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Shows the task names inside a pipeline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airflow connections list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Shows the connections you have set up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airflow info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Versions and settings — paste this when asking for help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</a:tbl>
          </a:graphicData>
        </a:graphic>
      </p:graphicFrame>
      <p:sp>
        <p:nvSpPr>
          <p:cNvPr id="8" name="panel_420"/>
          <p:cNvSpPr/>
          <p:nvPr/>
        </p:nvSpPr>
        <p:spPr>
          <a:xfrm>
            <a:off x="548640" y="5623560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1A274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9536" y="5696712"/>
            <a:ext cx="10469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can do all of this on the web page too. The terminal is just faster once you know the words.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Stopping and starting again</a:t>
            </a:r>
            <a:endParaRPr lang="en-US" sz="3200" dirty="0"/>
          </a:p>
        </p:txBody>
      </p:sp>
      <p:sp>
        <p:nvSpPr>
          <p:cNvPr id="4" name="panel_421"/>
          <p:cNvSpPr/>
          <p:nvPr/>
        </p:nvSpPr>
        <p:spPr>
          <a:xfrm>
            <a:off x="548640" y="173736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badge_422"/>
          <p:cNvSpPr/>
          <p:nvPr/>
        </p:nvSpPr>
        <p:spPr>
          <a:xfrm>
            <a:off x="786384" y="1956816"/>
            <a:ext cx="566928" cy="566928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6" name="icon_42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455" y="2109887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Pause it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1536192" y="22494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stop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199339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boxes stop. Nothing is lost. Start again with docker compose start.</a:t>
            </a:r>
            <a:endParaRPr lang="en-US" sz="1300" dirty="0"/>
          </a:p>
        </p:txBody>
      </p:sp>
      <p:sp>
        <p:nvSpPr>
          <p:cNvPr id="10" name="panel_424"/>
          <p:cNvSpPr/>
          <p:nvPr/>
        </p:nvSpPr>
        <p:spPr>
          <a:xfrm>
            <a:off x="548640" y="2834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1" name="badge_425"/>
          <p:cNvSpPr/>
          <p:nvPr/>
        </p:nvSpPr>
        <p:spPr>
          <a:xfrm>
            <a:off x="786384" y="3054096"/>
            <a:ext cx="566928" cy="566928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2" name="icon_42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455" y="3207167"/>
            <a:ext cx="260787" cy="26078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36192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Shut it down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1536192" y="33467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309067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Removes the boxes but keeps the database, so all your history survives.</a:t>
            </a:r>
            <a:endParaRPr lang="en-US" sz="1300" dirty="0"/>
          </a:p>
        </p:txBody>
      </p:sp>
      <p:sp>
        <p:nvSpPr>
          <p:cNvPr id="16" name="panel_427"/>
          <p:cNvSpPr/>
          <p:nvPr/>
        </p:nvSpPr>
        <p:spPr>
          <a:xfrm>
            <a:off x="548640" y="393192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7" name="badge_428"/>
          <p:cNvSpPr/>
          <p:nvPr/>
        </p:nvSpPr>
        <p:spPr>
          <a:xfrm>
            <a:off x="786384" y="4151376"/>
            <a:ext cx="566928" cy="566928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18" name="icon_42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455" y="4304447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36192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Bring it back</a:t>
            </a:r>
            <a:endParaRPr lang="en-US" sz="1650" dirty="0"/>
          </a:p>
        </p:txBody>
      </p:sp>
      <p:sp>
        <p:nvSpPr>
          <p:cNvPr id="20" name="Text 15"/>
          <p:cNvSpPr txBox="1"/>
          <p:nvPr/>
        </p:nvSpPr>
        <p:spPr>
          <a:xfrm>
            <a:off x="1536192" y="44439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A1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6492240" y="41879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Starts fresh boxes and reconnects the same database. The normal daily cycle.</a:t>
            </a:r>
            <a:endParaRPr lang="en-US" sz="1300" dirty="0"/>
          </a:p>
        </p:txBody>
      </p:sp>
      <p:sp>
        <p:nvSpPr>
          <p:cNvPr id="22" name="panel_430"/>
          <p:cNvSpPr/>
          <p:nvPr/>
        </p:nvSpPr>
        <p:spPr>
          <a:xfrm>
            <a:off x="548640" y="502920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31D31"/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23" name="badge_431"/>
          <p:cNvSpPr/>
          <p:nvPr/>
        </p:nvSpPr>
        <p:spPr>
          <a:xfrm>
            <a:off x="786384" y="5248656"/>
            <a:ext cx="566928" cy="566928"/>
          </a:xfrm>
          <a:prstGeom prst="ellipse">
            <a:avLst/>
          </a:prstGeom>
          <a:solidFill>
            <a:srgbClr val="F2545B">
              <a:alpha val="18000"/>
            </a:srgbClr>
          </a:solidFill>
          <a:ln w="15875">
            <a:solidFill>
              <a:srgbClr val="F2545B"/>
            </a:solidFill>
            <a:prstDash val="solid"/>
          </a:ln>
        </p:spPr>
      </p:sp>
      <p:pic>
        <p:nvPicPr>
          <p:cNvPr id="24" name="icon_43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455" y="5401727"/>
            <a:ext cx="260787" cy="26078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36192" y="5212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Delete everything</a:t>
            </a:r>
            <a:endParaRPr lang="en-US" sz="1650" dirty="0"/>
          </a:p>
        </p:txBody>
      </p:sp>
      <p:sp>
        <p:nvSpPr>
          <p:cNvPr id="26" name="Text 20"/>
          <p:cNvSpPr txBox="1"/>
          <p:nvPr/>
        </p:nvSpPr>
        <p:spPr>
          <a:xfrm>
            <a:off x="1536192" y="55412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54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 --volumes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6492240" y="528523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Wipes the database too. Every run, connection and setting is gone forever.</a:t>
            </a:r>
            <a:endParaRPr lang="en-US" sz="1300" dirty="0"/>
          </a:p>
        </p:txBody>
      </p:sp>
      <p:sp>
        <p:nvSpPr>
          <p:cNvPr id="28" name="panel_433"/>
          <p:cNvSpPr/>
          <p:nvPr/>
        </p:nvSpPr>
        <p:spPr>
          <a:xfrm>
            <a:off x="548640" y="6126480"/>
            <a:ext cx="11091672" cy="365760"/>
          </a:xfrm>
          <a:prstGeom prst="roundRect">
            <a:avLst>
              <a:gd name="adj" fmla="val 30000"/>
            </a:avLst>
          </a:prstGeom>
          <a:solidFill>
            <a:srgbClr val="1A2741"/>
          </a:solidFill>
          <a:ln w="12700">
            <a:solidFill>
              <a:srgbClr val="F2545B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59536" y="6199632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last one cannot be undone. Read it twice before you press enter.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IT BREAKS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things that actually go wrong</a:t>
            </a:r>
            <a:endParaRPr lang="en-US" sz="3200" dirty="0"/>
          </a:p>
        </p:txBody>
      </p:sp>
      <p:graphicFrame>
        <p:nvGraphicFramePr>
          <p:cNvPr id="48" name="table_4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511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What you see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1F5F9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What to do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page will not load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Wait two minutes, then docker compose ps. All seven must say (healthy) first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Something else uses 8080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Change "8080:8080" to "8081:8080", then down and up -d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Permission denied on dags/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.env is missing. It needs AIRFLOW_UID=50000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Boxes say (unhealthy)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Give Docker more memory, 4 GB or more, and restart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docker not found in Ubuntu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Docker Desktop → Settings → Resources → WSL Integration → switch Ubuntu on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1F5F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task got None from the one before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9AA8B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first task returned nothing. Check it has a return line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B2E"/>
                    </a:solidFill>
                  </a:tcPr>
                </a:tc>
              </a:tr>
            </a:tbl>
          </a:graphicData>
        </a:graphic>
      </p:graphicFrame>
      <p:sp>
        <p:nvSpPr>
          <p:cNvPr id="5" name="panel_435"/>
          <p:cNvSpPr/>
          <p:nvPr/>
        </p:nvSpPr>
        <p:spPr>
          <a:xfrm>
            <a:off x="548640" y="5577840"/>
            <a:ext cx="11091672" cy="713232"/>
          </a:xfrm>
          <a:prstGeom prst="roundRect">
            <a:avLst>
              <a:gd name="adj" fmla="val 15385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" y="5650992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Notice the pattern: memory, ports, permissions and typos. Almost nothing here is an Airflow problem — which is exactly why you can fix it.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can now do all of this on your own</a:t>
            </a:r>
            <a:endParaRPr lang="en-US" sz="3200" dirty="0"/>
          </a:p>
        </p:txBody>
      </p:sp>
      <p:sp>
        <p:nvSpPr>
          <p:cNvPr id="4" name="panel_436"/>
          <p:cNvSpPr/>
          <p:nvPr/>
        </p:nvSpPr>
        <p:spPr>
          <a:xfrm>
            <a:off x="548640" y="164592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badge_437"/>
          <p:cNvSpPr/>
          <p:nvPr/>
        </p:nvSpPr>
        <p:spPr>
          <a:xfrm>
            <a:off x="749808" y="1847088"/>
            <a:ext cx="603504" cy="603504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6" name="icon_43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754" y="2010034"/>
            <a:ext cx="277612" cy="2776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52374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Start Airflow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85321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folder, one downloaded file, two commands.</a:t>
            </a:r>
            <a:endParaRPr lang="en-US" sz="1250" dirty="0"/>
          </a:p>
        </p:txBody>
      </p:sp>
      <p:sp>
        <p:nvSpPr>
          <p:cNvPr id="9" name="panel_439"/>
          <p:cNvSpPr/>
          <p:nvPr/>
        </p:nvSpPr>
        <p:spPr>
          <a:xfrm>
            <a:off x="4306824" y="164592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0" name="badge_440"/>
          <p:cNvSpPr/>
          <p:nvPr/>
        </p:nvSpPr>
        <p:spPr>
          <a:xfrm>
            <a:off x="4507992" y="1847088"/>
            <a:ext cx="603504" cy="603504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11" name="icon_44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938" y="2010034"/>
            <a:ext cx="277612" cy="2776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07992" y="252374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the page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07992" y="285321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in, find a pipeline, switch it on, run it, read a log.</a:t>
            </a:r>
            <a:endParaRPr lang="en-US" sz="1250" dirty="0"/>
          </a:p>
        </p:txBody>
      </p:sp>
      <p:sp>
        <p:nvSpPr>
          <p:cNvPr id="14" name="panel_442"/>
          <p:cNvSpPr/>
          <p:nvPr/>
        </p:nvSpPr>
        <p:spPr>
          <a:xfrm>
            <a:off x="8065008" y="164592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5" name="badge_443"/>
          <p:cNvSpPr/>
          <p:nvPr/>
        </p:nvSpPr>
        <p:spPr>
          <a:xfrm>
            <a:off x="8266176" y="1847088"/>
            <a:ext cx="603504" cy="603504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6" name="icon_44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122" y="2010034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66176" y="252374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Add a pipeline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66176" y="285321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Python, save it in dags/, watch it appear.</a:t>
            </a:r>
            <a:endParaRPr lang="en-US" sz="1250" dirty="0"/>
          </a:p>
        </p:txBody>
      </p:sp>
      <p:sp>
        <p:nvSpPr>
          <p:cNvPr id="19" name="panel_445"/>
          <p:cNvSpPr/>
          <p:nvPr/>
        </p:nvSpPr>
        <p:spPr>
          <a:xfrm>
            <a:off x="548640" y="365760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badge_446"/>
          <p:cNvSpPr/>
          <p:nvPr/>
        </p:nvSpPr>
        <p:spPr>
          <a:xfrm>
            <a:off x="749808" y="3858768"/>
            <a:ext cx="603504" cy="603504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21" name="icon_44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754" y="4021714"/>
            <a:ext cx="277612" cy="2776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" y="453542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the terminal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4864890"/>
            <a:ext cx="3108960" cy="26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dags list, dags trigger, info.</a:t>
            </a:r>
            <a:endParaRPr lang="en-US" sz="1350" dirty="0"/>
          </a:p>
        </p:txBody>
      </p:sp>
      <p:sp>
        <p:nvSpPr>
          <p:cNvPr id="24" name="panel_448"/>
          <p:cNvSpPr/>
          <p:nvPr/>
        </p:nvSpPr>
        <p:spPr>
          <a:xfrm>
            <a:off x="4306824" y="365760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5" name="badge_449"/>
          <p:cNvSpPr/>
          <p:nvPr/>
        </p:nvSpPr>
        <p:spPr>
          <a:xfrm>
            <a:off x="4507992" y="3858768"/>
            <a:ext cx="603504" cy="603504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26" name="icon_45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938" y="4021714"/>
            <a:ext cx="277612" cy="2776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07992" y="453542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Get yourself unstuck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07992" y="486489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box colour, read the right log.</a:t>
            </a:r>
            <a:endParaRPr lang="en-US" sz="1250" dirty="0"/>
          </a:p>
        </p:txBody>
      </p:sp>
      <p:sp>
        <p:nvSpPr>
          <p:cNvPr id="29" name="panel_451"/>
          <p:cNvSpPr/>
          <p:nvPr/>
        </p:nvSpPr>
        <p:spPr>
          <a:xfrm>
            <a:off x="8065008" y="365760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30" name="badge_452"/>
          <p:cNvSpPr/>
          <p:nvPr/>
        </p:nvSpPr>
        <p:spPr>
          <a:xfrm>
            <a:off x="8266176" y="3858768"/>
            <a:ext cx="603504" cy="603504"/>
          </a:xfrm>
          <a:prstGeom prst="ellipse">
            <a:avLst/>
          </a:prstGeom>
          <a:solidFill>
            <a:srgbClr val="E7157B">
              <a:alpha val="18000"/>
            </a:srgbClr>
          </a:solidFill>
          <a:ln w="15875">
            <a:solidFill>
              <a:srgbClr val="E7157B"/>
            </a:solidFill>
            <a:prstDash val="solid"/>
          </a:ln>
        </p:spPr>
      </p:sp>
      <p:pic>
        <p:nvPicPr>
          <p:cNvPr id="31" name="icon_45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122" y="4021714"/>
            <a:ext cx="277612" cy="27761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66176" y="453542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Stop it safely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266176" y="486489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know which command is the dangerous one.</a:t>
            </a:r>
            <a:endParaRPr lang="en-US" sz="1250" dirty="0"/>
          </a:p>
        </p:txBody>
      </p:sp>
      <p:sp>
        <p:nvSpPr>
          <p:cNvPr id="34" name="panel_454"/>
          <p:cNvSpPr/>
          <p:nvPr/>
        </p:nvSpPr>
        <p:spPr>
          <a:xfrm>
            <a:off x="548640" y="5687568"/>
            <a:ext cx="11091672" cy="530352"/>
          </a:xfrm>
          <a:prstGeom prst="roundRect">
            <a:avLst>
              <a:gd name="adj" fmla="val 20690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859536" y="5760720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This is the same setup companies run, just smaller. You have not learned a toy version.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OF IT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Everything we covered, on one slide</a:t>
            </a:r>
            <a:endParaRPr lang="en-US" sz="3200" dirty="0"/>
          </a:p>
        </p:txBody>
      </p:sp>
      <p:sp>
        <p:nvSpPr>
          <p:cNvPr id="4" name="panel_455"/>
          <p:cNvSpPr/>
          <p:nvPr/>
        </p:nvSpPr>
        <p:spPr>
          <a:xfrm>
            <a:off x="548640" y="1645920"/>
            <a:ext cx="2578608" cy="4023360"/>
          </a:xfrm>
          <a:prstGeom prst="roundRect">
            <a:avLst>
              <a:gd name="adj" fmla="val 4255"/>
            </a:avLst>
          </a:prstGeom>
          <a:solidFill>
            <a:srgbClr val="131D3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86537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IDEA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249424"/>
            <a:ext cx="21396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script forgets things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timer only knows the clock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Airflow waits, retries and records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DAG is boxes and arrows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still ordinary Python</a:t>
            </a:r>
            <a:endParaRPr lang="en-US" sz="1300" dirty="0"/>
          </a:p>
        </p:txBody>
      </p:sp>
      <p:sp>
        <p:nvSpPr>
          <p:cNvPr id="7" name="panel_456"/>
          <p:cNvSpPr/>
          <p:nvPr/>
        </p:nvSpPr>
        <p:spPr>
          <a:xfrm>
            <a:off x="3383280" y="1645920"/>
            <a:ext cx="2578608" cy="4023360"/>
          </a:xfrm>
          <a:prstGeom prst="roundRect">
            <a:avLst>
              <a:gd name="adj" fmla="val 4255"/>
            </a:avLst>
          </a:prstGeom>
          <a:solidFill>
            <a:srgbClr val="131D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02736" y="186537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PARTS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602736" y="2249424"/>
            <a:ext cx="21396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DAG processor reads your files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Scheduler decides when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 runs your code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Webserver draws the page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remembers everything</a:t>
            </a:r>
            <a:endParaRPr lang="en-US" sz="1300" dirty="0"/>
          </a:p>
        </p:txBody>
      </p:sp>
      <p:sp>
        <p:nvSpPr>
          <p:cNvPr id="10" name="panel_457"/>
          <p:cNvSpPr/>
          <p:nvPr/>
        </p:nvSpPr>
        <p:spPr>
          <a:xfrm>
            <a:off x="6217920" y="1645920"/>
            <a:ext cx="2578608" cy="4023360"/>
          </a:xfrm>
          <a:prstGeom prst="roundRect">
            <a:avLst>
              <a:gd name="adj" fmla="val 4255"/>
            </a:avLst>
          </a:prstGeom>
          <a:solidFill>
            <a:srgbClr val="131D31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7376" y="186537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9B5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DETAILS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37376" y="2249424"/>
            <a:ext cx="21396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@task marks a step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a value to pass it on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Connections hold passwords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 hold settings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Green, red, skipped, upstream_failed</a:t>
            </a:r>
            <a:endParaRPr lang="en-US" sz="1300" dirty="0"/>
          </a:p>
        </p:txBody>
      </p:sp>
      <p:sp>
        <p:nvSpPr>
          <p:cNvPr id="13" name="panel_458"/>
          <p:cNvSpPr/>
          <p:nvPr/>
        </p:nvSpPr>
        <p:spPr>
          <a:xfrm>
            <a:off x="9052560" y="1645920"/>
            <a:ext cx="2578608" cy="4023360"/>
          </a:xfrm>
          <a:prstGeom prst="roundRect">
            <a:avLst>
              <a:gd name="adj" fmla="val 4255"/>
            </a:avLst>
          </a:prstGeom>
          <a:solidFill>
            <a:srgbClr val="131D31"/>
          </a:solidFill>
          <a:ln w="12700">
            <a:solidFill>
              <a:srgbClr val="8C4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72016" y="186537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C4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IT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272016" y="2249424"/>
            <a:ext cx="21396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runs sealed boxes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airflow-init once, then up -d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localhost:8080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a file in dags/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log when it is red</a:t>
            </a:r>
            <a:endParaRPr lang="en-US" sz="1300" dirty="0"/>
          </a:p>
        </p:txBody>
      </p:sp>
      <p:sp>
        <p:nvSpPr>
          <p:cNvPr id="16" name="panel_459"/>
          <p:cNvSpPr/>
          <p:nvPr/>
        </p:nvSpPr>
        <p:spPr>
          <a:xfrm>
            <a:off x="548640" y="5779008"/>
            <a:ext cx="11091672" cy="502920"/>
          </a:xfrm>
          <a:prstGeom prst="roundRect">
            <a:avLst>
              <a:gd name="adj" fmla="val 21818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9536" y="5852160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one gets you through the interview. Columns two to four get you through the job.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 this before the next class</a:t>
            </a:r>
            <a:endParaRPr lang="en-US" sz="3200" dirty="0"/>
          </a:p>
        </p:txBody>
      </p:sp>
      <p:sp>
        <p:nvSpPr>
          <p:cNvPr id="4" name="panel_460"/>
          <p:cNvSpPr/>
          <p:nvPr/>
        </p:nvSpPr>
        <p:spPr>
          <a:xfrm>
            <a:off x="548640" y="1645920"/>
            <a:ext cx="6766560" cy="4114800"/>
          </a:xfrm>
          <a:prstGeom prst="roundRect">
            <a:avLst>
              <a:gd name="adj" fmla="val 2667"/>
            </a:avLst>
          </a:prstGeom>
          <a:solidFill>
            <a:srgbClr val="1A2741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badge_461"/>
          <p:cNvSpPr/>
          <p:nvPr/>
        </p:nvSpPr>
        <p:spPr>
          <a:xfrm>
            <a:off x="841248" y="1920240"/>
            <a:ext cx="685800" cy="685800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6" name="icon_46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414" y="2105406"/>
            <a:ext cx="315468" cy="3154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55648" y="199339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three-step pipeline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78892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1: make a list of ten fake sales, as Python dictionaries, and return it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2: take that list, count the rows, and return the count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3: print the count with a friendly message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schedule="@daily" and catchup=False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it on in the browser and trigger it by hand</a:t>
            </a:r>
            <a:endParaRPr lang="en-US" sz="1450" dirty="0"/>
          </a:p>
          <a:p>
            <a:pPr marL="203200" indent="-2032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each task's log and find your own print output</a:t>
            </a:r>
            <a:endParaRPr lang="en-US" sz="1450" dirty="0"/>
          </a:p>
        </p:txBody>
      </p:sp>
      <p:sp>
        <p:nvSpPr>
          <p:cNvPr id="9" name="panel_463"/>
          <p:cNvSpPr/>
          <p:nvPr/>
        </p:nvSpPr>
        <p:spPr>
          <a:xfrm>
            <a:off x="7525512" y="1645920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0" name="badge_464"/>
          <p:cNvSpPr/>
          <p:nvPr/>
        </p:nvSpPr>
        <p:spPr>
          <a:xfrm>
            <a:off x="7726680" y="1847088"/>
            <a:ext cx="457200" cy="457200"/>
          </a:xfrm>
          <a:prstGeom prst="ellipse">
            <a:avLst/>
          </a:prstGeom>
          <a:solidFill>
            <a:srgbClr val="F2545B">
              <a:alpha val="18000"/>
            </a:srgbClr>
          </a:solidFill>
          <a:ln w="15875">
            <a:solidFill>
              <a:srgbClr val="F2545B"/>
            </a:solidFill>
            <a:prstDash val="solid"/>
          </a:ln>
        </p:spPr>
      </p:sp>
      <p:pic>
        <p:nvPicPr>
          <p:cNvPr id="11" name="icon_46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124" y="1970532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385048" y="1828800"/>
            <a:ext cx="3054096" cy="267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Then break it on purpose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8385048" y="2141567"/>
            <a:ext cx="3054096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raise Exception("boom") to task 2 and watch what task 3 does.</a:t>
            </a:r>
            <a:endParaRPr lang="en-US" sz="1250" dirty="0"/>
          </a:p>
        </p:txBody>
      </p:sp>
      <p:sp>
        <p:nvSpPr>
          <p:cNvPr id="14" name="panel_466"/>
          <p:cNvSpPr/>
          <p:nvPr/>
        </p:nvSpPr>
        <p:spPr>
          <a:xfrm>
            <a:off x="7525512" y="3017520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5" name="badge_467"/>
          <p:cNvSpPr/>
          <p:nvPr/>
        </p:nvSpPr>
        <p:spPr>
          <a:xfrm>
            <a:off x="7726680" y="3218688"/>
            <a:ext cx="457200" cy="457200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6" name="icon_46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124" y="3342132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85048" y="3200400"/>
            <a:ext cx="3054096" cy="267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Then add retries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385048" y="3513167"/>
            <a:ext cx="3054096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 retries=2 on the task and watch it try again by itself.</a:t>
            </a:r>
            <a:endParaRPr lang="en-US" sz="1250" dirty="0"/>
          </a:p>
        </p:txBody>
      </p:sp>
      <p:sp>
        <p:nvSpPr>
          <p:cNvPr id="19" name="panel_469"/>
          <p:cNvSpPr/>
          <p:nvPr/>
        </p:nvSpPr>
        <p:spPr>
          <a:xfrm>
            <a:off x="7525512" y="4389120"/>
            <a:ext cx="4114800" cy="1280160"/>
          </a:xfrm>
          <a:prstGeom prst="roundRect">
            <a:avLst>
              <a:gd name="adj" fmla="val 8571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badge_470"/>
          <p:cNvSpPr/>
          <p:nvPr/>
        </p:nvSpPr>
        <p:spPr>
          <a:xfrm>
            <a:off x="7726680" y="4590288"/>
            <a:ext cx="457200" cy="457200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21" name="icon_47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124" y="4713732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385048" y="4572000"/>
            <a:ext cx="3054096" cy="267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Then use a Variable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8385048" y="4884767"/>
            <a:ext cx="3054096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the number ten into a Variable and change it from the browser.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525512" y="57972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Breaking it on purpose teaches you more than making it work. Do that one.</a:t>
            </a:r>
            <a:endParaRPr lang="en-US" sz="12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GOING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to learn after today</a:t>
            </a:r>
            <a:endParaRPr lang="en-US" sz="3200" dirty="0"/>
          </a:p>
        </p:txBody>
      </p:sp>
      <p:sp>
        <p:nvSpPr>
          <p:cNvPr id="4" name="panel_472"/>
          <p:cNvSpPr/>
          <p:nvPr/>
        </p:nvSpPr>
        <p:spPr>
          <a:xfrm>
            <a:off x="548640" y="164592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5" name="badge_473"/>
          <p:cNvSpPr/>
          <p:nvPr/>
        </p:nvSpPr>
        <p:spPr>
          <a:xfrm>
            <a:off x="749808" y="1847088"/>
            <a:ext cx="603504" cy="603504"/>
          </a:xfrm>
          <a:prstGeom prst="ellipse">
            <a:avLst/>
          </a:prstGeom>
          <a:solidFill>
            <a:srgbClr val="FF9900">
              <a:alpha val="18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6" name="icon_47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754" y="2010034"/>
            <a:ext cx="277612" cy="2776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52374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official tutorial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85321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airflow.apache.org has a good beginner guide. Start there.</a:t>
            </a:r>
            <a:endParaRPr lang="en-US" sz="1250" dirty="0"/>
          </a:p>
        </p:txBody>
      </p:sp>
      <p:sp>
        <p:nvSpPr>
          <p:cNvPr id="9" name="panel_475"/>
          <p:cNvSpPr/>
          <p:nvPr/>
        </p:nvSpPr>
        <p:spPr>
          <a:xfrm>
            <a:off x="4306824" y="164592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0" name="badge_476"/>
          <p:cNvSpPr/>
          <p:nvPr/>
        </p:nvSpPr>
        <p:spPr>
          <a:xfrm>
            <a:off x="4507992" y="1847088"/>
            <a:ext cx="603504" cy="603504"/>
          </a:xfrm>
          <a:prstGeom prst="ellipse">
            <a:avLst/>
          </a:prstGeom>
          <a:solidFill>
            <a:srgbClr val="2DD4BF">
              <a:alpha val="18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1" name="icon_47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938" y="2010034"/>
            <a:ext cx="277612" cy="2776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07992" y="252374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Airflow's own examples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07992" y="285321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the example pipelines back on and read how they are written.</a:t>
            </a:r>
            <a:endParaRPr lang="en-US" sz="1250" dirty="0"/>
          </a:p>
        </p:txBody>
      </p:sp>
      <p:sp>
        <p:nvSpPr>
          <p:cNvPr id="14" name="panel_478"/>
          <p:cNvSpPr/>
          <p:nvPr/>
        </p:nvSpPr>
        <p:spPr>
          <a:xfrm>
            <a:off x="8065008" y="164592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15" name="badge_479"/>
          <p:cNvSpPr/>
          <p:nvPr/>
        </p:nvSpPr>
        <p:spPr>
          <a:xfrm>
            <a:off x="8266176" y="1847088"/>
            <a:ext cx="603504" cy="603504"/>
          </a:xfrm>
          <a:prstGeom prst="ellipse">
            <a:avLst/>
          </a:prstGeom>
          <a:solidFill>
            <a:srgbClr val="29B5E8">
              <a:alpha val="18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16" name="icon_48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122" y="2010034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66176" y="252374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Add a real database step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66176" y="285321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your SQL. Make a task that writes rows into Postgres.</a:t>
            </a:r>
            <a:endParaRPr lang="en-US" sz="1250" dirty="0"/>
          </a:p>
        </p:txBody>
      </p:sp>
      <p:sp>
        <p:nvSpPr>
          <p:cNvPr id="19" name="panel_481"/>
          <p:cNvSpPr/>
          <p:nvPr/>
        </p:nvSpPr>
        <p:spPr>
          <a:xfrm>
            <a:off x="548640" y="365760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0" name="badge_482"/>
          <p:cNvSpPr/>
          <p:nvPr/>
        </p:nvSpPr>
        <p:spPr>
          <a:xfrm>
            <a:off x="749808" y="3858768"/>
            <a:ext cx="603504" cy="603504"/>
          </a:xfrm>
          <a:prstGeom prst="ellipse">
            <a:avLst/>
          </a:prstGeom>
          <a:solidFill>
            <a:srgbClr val="8C4FFF">
              <a:alpha val="18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21" name="icon_48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754" y="4021714"/>
            <a:ext cx="277612" cy="2776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" y="453542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Ready-made operators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486489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one for almost every system. Look before you write your own.</a:t>
            </a:r>
            <a:endParaRPr lang="en-US" sz="1250" dirty="0"/>
          </a:p>
        </p:txBody>
      </p:sp>
      <p:sp>
        <p:nvSpPr>
          <p:cNvPr id="24" name="panel_484"/>
          <p:cNvSpPr/>
          <p:nvPr/>
        </p:nvSpPr>
        <p:spPr>
          <a:xfrm>
            <a:off x="4306824" y="365760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25" name="badge_485"/>
          <p:cNvSpPr/>
          <p:nvPr/>
        </p:nvSpPr>
        <p:spPr>
          <a:xfrm>
            <a:off x="4507992" y="3858768"/>
            <a:ext cx="603504" cy="603504"/>
          </a:xfrm>
          <a:prstGeom prst="ellipse">
            <a:avLst/>
          </a:prstGeom>
          <a:solidFill>
            <a:srgbClr val="7AA116">
              <a:alpha val="18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26" name="icon_48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938" y="4021714"/>
            <a:ext cx="277612" cy="2776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07992" y="453542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Schedules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07992" y="486489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the cron format so you can say "every Monday at 7".</a:t>
            </a:r>
            <a:endParaRPr lang="en-US" sz="1250" dirty="0"/>
          </a:p>
        </p:txBody>
      </p:sp>
      <p:sp>
        <p:nvSpPr>
          <p:cNvPr id="29" name="panel_487"/>
          <p:cNvSpPr/>
          <p:nvPr/>
        </p:nvSpPr>
        <p:spPr>
          <a:xfrm>
            <a:off x="8065008" y="3657600"/>
            <a:ext cx="3511296" cy="1901952"/>
          </a:xfrm>
          <a:prstGeom prst="roundRect">
            <a:avLst>
              <a:gd name="adj" fmla="val 5769"/>
            </a:avLst>
          </a:prstGeom>
          <a:solidFill>
            <a:srgbClr val="131D31"/>
          </a:solidFill>
          <a:ln w="12700">
            <a:solidFill>
              <a:srgbClr val="26375A"/>
            </a:solidFill>
            <a:prstDash val="solid"/>
          </a:ln>
        </p:spPr>
      </p:sp>
      <p:sp>
        <p:nvSpPr>
          <p:cNvPr id="30" name="badge_488"/>
          <p:cNvSpPr/>
          <p:nvPr/>
        </p:nvSpPr>
        <p:spPr>
          <a:xfrm>
            <a:off x="8266176" y="3858768"/>
            <a:ext cx="603504" cy="603504"/>
          </a:xfrm>
          <a:prstGeom prst="ellipse">
            <a:avLst/>
          </a:prstGeom>
          <a:solidFill>
            <a:srgbClr val="E7157B">
              <a:alpha val="18000"/>
            </a:srgbClr>
          </a:solidFill>
          <a:ln w="15875">
            <a:solidFill>
              <a:srgbClr val="E7157B"/>
            </a:solidFill>
            <a:prstDash val="solid"/>
          </a:ln>
        </p:spPr>
      </p:sp>
      <p:pic>
        <p:nvPicPr>
          <p:cNvPr id="31" name="icon_48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122" y="4021714"/>
            <a:ext cx="277612" cy="27761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66176" y="4535424"/>
            <a:ext cx="3108960" cy="29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Airflow in the cloud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266176" y="4864890"/>
            <a:ext cx="3108960" cy="4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and Google both run it for you. Same Airflow you learned today.</a:t>
            </a:r>
            <a:endParaRPr lang="en-US" sz="1250" dirty="0"/>
          </a:p>
        </p:txBody>
      </p:sp>
      <p:sp>
        <p:nvSpPr>
          <p:cNvPr id="34" name="panel_490"/>
          <p:cNvSpPr/>
          <p:nvPr/>
        </p:nvSpPr>
        <p:spPr>
          <a:xfrm>
            <a:off x="548640" y="5687568"/>
            <a:ext cx="11091672" cy="530352"/>
          </a:xfrm>
          <a:prstGeom prst="roundRect">
            <a:avLst>
              <a:gd name="adj" fmla="val 20690"/>
            </a:avLst>
          </a:prstGeom>
          <a:solidFill>
            <a:srgbClr val="1A274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859536" y="5760720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fastest way to get good: pick a pipeline you actually care about and keep it alive for a month.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IS AIRFLOW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12848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1F5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can run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9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pipelines now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AA8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Questions, stuck containers, red boxes — now is the time to ask.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8BD"/>
                </a:solidFill>
              </a:rPr>
              <a:t>M. Abdullah Khan  •  </a:t>
            </a:r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Saylani Cloud Data Engineering</a:t>
            </a:r>
            <a:endParaRPr lang="en-US" sz="1500" dirty="0"/>
          </a:p>
        </p:txBody>
      </p:sp>
      <p:sp>
        <p:nvSpPr>
          <p:cNvPr id="6" name="chip0"/>
          <p:cNvSpPr/>
          <p:nvPr/>
        </p:nvSpPr>
        <p:spPr>
          <a:xfrm>
            <a:off x="7863840" y="1828800"/>
            <a:ext cx="1691640" cy="1143000"/>
          </a:xfrm>
          <a:prstGeom prst="roundRect">
            <a:avLst>
              <a:gd name="adj" fmla="val 16000"/>
            </a:avLst>
          </a:prstGeom>
          <a:solidFill>
            <a:srgbClr val="7AA116">
              <a:alpha val="12000"/>
            </a:srgbClr>
          </a:solidFill>
          <a:ln w="15875">
            <a:solidFill>
              <a:srgbClr val="7AA11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08" y="2011680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36992" y="248716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files</a:t>
            </a:r>
            <a:endParaRPr lang="en-US" sz="1100" dirty="0"/>
          </a:p>
        </p:txBody>
      </p:sp>
      <p:sp>
        <p:nvSpPr>
          <p:cNvPr id="9" name="chip1"/>
          <p:cNvSpPr/>
          <p:nvPr/>
        </p:nvSpPr>
        <p:spPr>
          <a:xfrm>
            <a:off x="9784080" y="1828800"/>
            <a:ext cx="1691640" cy="1143000"/>
          </a:xfrm>
          <a:prstGeom prst="roundRect">
            <a:avLst>
              <a:gd name="adj" fmla="val 16000"/>
            </a:avLst>
          </a:prstGeom>
          <a:solidFill>
            <a:srgbClr val="FF9900">
              <a:alpha val="12000"/>
            </a:srgbClr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201168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857232" y="248716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Decides when</a:t>
            </a:r>
            <a:endParaRPr lang="en-US" sz="1100" dirty="0"/>
          </a:p>
        </p:txBody>
      </p:sp>
      <p:sp>
        <p:nvSpPr>
          <p:cNvPr id="12" name="chip2"/>
          <p:cNvSpPr/>
          <p:nvPr/>
        </p:nvSpPr>
        <p:spPr>
          <a:xfrm>
            <a:off x="7863840" y="3200400"/>
            <a:ext cx="1691640" cy="1143000"/>
          </a:xfrm>
          <a:prstGeom prst="roundRect">
            <a:avLst>
              <a:gd name="adj" fmla="val 16000"/>
            </a:avLst>
          </a:prstGeom>
          <a:solidFill>
            <a:srgbClr val="29B5E8">
              <a:alpha val="12000"/>
            </a:srgbClr>
          </a:solidFill>
          <a:ln w="15875">
            <a:solidFill>
              <a:srgbClr val="29B5E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338328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936992" y="385876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the code</a:t>
            </a:r>
            <a:endParaRPr lang="en-US" sz="1100" dirty="0"/>
          </a:p>
        </p:txBody>
      </p:sp>
      <p:sp>
        <p:nvSpPr>
          <p:cNvPr id="15" name="chip3"/>
          <p:cNvSpPr/>
          <p:nvPr/>
        </p:nvSpPr>
        <p:spPr>
          <a:xfrm>
            <a:off x="9784080" y="3200400"/>
            <a:ext cx="1691640" cy="1143000"/>
          </a:xfrm>
          <a:prstGeom prst="roundRect">
            <a:avLst>
              <a:gd name="adj" fmla="val 16000"/>
            </a:avLst>
          </a:prstGeom>
          <a:solidFill>
            <a:srgbClr val="2DD4BF">
              <a:alpha val="12000"/>
            </a:srgbClr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448" y="338328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857232" y="385876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the waiting</a:t>
            </a:r>
            <a:endParaRPr lang="en-US" sz="1100" dirty="0"/>
          </a:p>
        </p:txBody>
      </p:sp>
      <p:sp>
        <p:nvSpPr>
          <p:cNvPr id="18" name="chip4"/>
          <p:cNvSpPr/>
          <p:nvPr/>
        </p:nvSpPr>
        <p:spPr>
          <a:xfrm>
            <a:off x="7863840" y="4572000"/>
            <a:ext cx="1691640" cy="1143000"/>
          </a:xfrm>
          <a:prstGeom prst="roundRect">
            <a:avLst>
              <a:gd name="adj" fmla="val 16000"/>
            </a:avLst>
          </a:prstGeom>
          <a:solidFill>
            <a:srgbClr val="8C4FFF">
              <a:alpha val="12000"/>
            </a:srgbClr>
          </a:solidFill>
          <a:ln w="15875">
            <a:solidFill>
              <a:srgbClr val="8C4FFF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4754880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936992" y="523036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Remembers</a:t>
            </a:r>
            <a:endParaRPr lang="en-US" sz="1100" dirty="0"/>
          </a:p>
        </p:txBody>
      </p:sp>
      <p:sp>
        <p:nvSpPr>
          <p:cNvPr id="21" name="chip5"/>
          <p:cNvSpPr/>
          <p:nvPr/>
        </p:nvSpPr>
        <p:spPr>
          <a:xfrm>
            <a:off x="9784080" y="4572000"/>
            <a:ext cx="1691640" cy="1143000"/>
          </a:xfrm>
          <a:prstGeom prst="roundRect">
            <a:avLst>
              <a:gd name="adj" fmla="val 16000"/>
            </a:avLst>
          </a:prstGeom>
          <a:solidFill>
            <a:srgbClr val="E7157B">
              <a:alpha val="12000"/>
            </a:srgbClr>
          </a:solidFill>
          <a:ln w="15875">
            <a:solidFill>
              <a:srgbClr val="E7157B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2448" y="4754880"/>
            <a:ext cx="384048" cy="38404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9857232" y="523036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Workshop">
  <a:themeElements>
    <a:clrScheme name="AWS Workshop">
      <a:dk1>
        <a:srgbClr val="0B1220"/>
      </a:dk1>
      <a:lt1>
        <a:srgbClr val="FFFFFF"/>
      </a:lt1>
      <a:dk2>
        <a:srgbClr val="131D31"/>
      </a:dk2>
      <a:lt2>
        <a:srgbClr val="F1F5F9"/>
      </a:lt2>
      <a:accent1>
        <a:srgbClr val="FF9900"/>
      </a:accent1>
      <a:accent2>
        <a:srgbClr val="2DD4BF"/>
      </a:accent2>
      <a:accent3>
        <a:srgbClr val="29B5E8"/>
      </a:accent3>
      <a:accent4>
        <a:srgbClr val="E7157B"/>
      </a:accent4>
      <a:accent5>
        <a:srgbClr val="7AA116"/>
      </a:accent5>
      <a:accent6>
        <a:srgbClr val="8C4FFF"/>
      </a:accent6>
      <a:hlink>
        <a:srgbClr val="29B5E8"/>
      </a:hlink>
      <a:folHlink>
        <a:srgbClr val="8C4FFF"/>
      </a:folHlink>
    </a:clrScheme>
    <a:fontScheme name="AWS Workshop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Airflow - Orchestration for Data Engineering</dc:title>
  <dc:subject>Part 3: Orchestration with Apache Airflow</dc:subject>
  <dc:creator>M. Abdullah Khan</dc:creator>
  <cp:lastModifiedBy>M. Abdullah Khan</cp:lastModifiedBy>
  <cp:revision>1</cp:revision>
  <dcterms:created xsi:type="dcterms:W3CDTF">2026-10-12T15:43:13Z</dcterms:created>
  <dcterms:modified xsi:type="dcterms:W3CDTF">2026-10-12T15:43:13Z</dcterms:modified>
</cp:coreProperties>
</file>