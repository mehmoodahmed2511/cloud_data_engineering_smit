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</p:sldIdLst>
  <p:notesMasterIdLst>
    <p:notesMasterId r:id="rId4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pening" id="{3729f7a1-5a50-d355-c2ae-b4126b14e684}">
          <p14:sldIdLst>
            <p14:sldId id="256"/>
            <p14:sldId id="257"/>
            <p14:sldId id="258"/>
            <p14:sldId id="259"/>
          </p14:sldIdLst>
        </p14:section>
        <p14:section name="01 — Why containers exist" id="{245bae48-34b2-70f3-f759-3db91c1b7d85}">
          <p14:sldIdLst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</p14:sldIdLst>
        </p14:section>
        <p14:section name="02 — Images and containers" id="{6c81b262-27c9-f45a-3d23-376f4253c8de}">
          <p14:sldIdLst>
            <p14:sldId id="268"/>
            <p14:sldId id="269"/>
            <p14:sldId id="270"/>
            <p14:sldId id="271"/>
            <p14:sldId id="272"/>
            <p14:sldId id="273"/>
            <p14:sldId id="274"/>
            <p14:sldId id="275"/>
            <p14:sldId id="276"/>
          </p14:sldIdLst>
        </p14:section>
        <p14:section name="03 — Build your own image" id="{f3c247aa-d2ee-efb9-2a99-bcd27ae698aa}">
          <p14:sldIdLst>
            <p14:sldId id="277"/>
            <p14:sldId id="278"/>
            <p14:sldId id="279"/>
            <p14:sldId id="280"/>
            <p14:sldId id="281"/>
            <p14:sldId id="282"/>
            <p14:sldId id="283"/>
            <p14:sldId id="284"/>
          </p14:sldIdLst>
        </p14:section>
        <p14:section name="04 — A whole stack" id="{bfa63adb-ef34-0645-6460-5394994eeb64}">
          <p14:sldIdLst>
            <p14:sldId id="285"/>
            <p14:sldId id="286"/>
            <p14:sldId id="287"/>
            <p14:sldId id="288"/>
            <p14:sldId id="289"/>
            <p14:sldId id="290"/>
            <p14:sldId id="291"/>
            <p14:sldId id="292"/>
            <p14:sldId id="293"/>
          </p14:sldIdLst>
        </p14:section>
        <p14:section name="Wrap-up" id="{07cbb548-4740-1587-d471-9bf4002c2d9c}">
          <p14:sldIdLst>
            <p14:sldId id="294"/>
            <p14:sldId id="295"/>
            <p14:sldId id="296"/>
            <p14:sldId id="297"/>
            <p14:sldId id="298"/>
            <p14:sldId id="29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notesMaster" Target="notesMasters/notesMaster1.xml"/><Relationship Id="rId47" Type="http://schemas.openxmlformats.org/officeDocument/2006/relationships/presProps" Target="presProps.xml"/><Relationship Id="rId48" Type="http://schemas.openxmlformats.org/officeDocument/2006/relationships/viewProps" Target="viewProps.xml"/><Relationship Id="rId49" Type="http://schemas.openxmlformats.org/officeDocument/2006/relationships/theme" Target="theme/theme1.xml"/><Relationship Id="rId5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 the room: who has ever followed a README, hit an install error, and given up? Every hand should go up. That is the problem Docker solves.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Set the expectation that this is a hands-on class. Laptops open, Docker Desktop started.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Come back to this slide whenever someone looks lost. Image vs container is the one they will get wrong - say it three different ways today.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That last bullet is the whole promise of the class. Make them do it for real in the lab - swap laptops and run each other's image.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 not start with commands. If they do not feel the pain first, Docker is just extra typing to them.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Tell this as a story, with pauses. Most of the room has lived at least two of these four rows.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 them to guess the fifth row before you reveal it. Env vars catch everyone.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 students have used a virtualenv. Anchor Docker as 'a virtualenv for the whole computer, not just the libraries'.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sentence version: a VM fakes a whole computer, a container only fakes the folders and processes. That is why it is a thousand times lighter.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'locked room' metaphor carries the whole chapter. Repeat it when you get to volumes and ports - those are doors you cut into the room.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Point back at Part 3. They have already used Docker without understanding it - today it stops being magic.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Give them 90 seconds on this. If they cannot do the first bullet, do not move on - re-explain the locked room.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From here on, everything is hands-on. Everyone types along. Do not let anyone just watch.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Make them say it back: 'docker run takes an image and makes a container.' Ask three people individually.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:latest trap is the single most common beginner mistake that bites them six months later. Say it hard.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the room. Everybody must get the hello-world output on screen before you advance.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 not teach flags yet. Get the eight verbs into their fingers first.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Pause here. Let them actually connect with psql and run a SELECT. This is the slide where Docker stops being homework and starts being useful.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Teach them to run docker ps -a reflexively when something 'disappeared'.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Make this a rule for the rest of the course. No question without a log line attached.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That 'your table is gone' moment is deliberate. It sets up volumes perfectly. Do not spoil it early.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Until now they have only used other people's images. This is where it becomes their work.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Stress the last line. Code in git without its environment in git is half a repository.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 Dockerfile out loud as a story: 'start from Python, go to /app, copy requirements, install them, copy the code, run it.'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'I edited the file but nothing changed' confusion will happen within ten minutes. Pre-empt it here.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 this live if you have time. Edit a comment in etl.py, rebuild, and show the CACHED lines scroll past.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Alpine looks like the smart choice and costs beginners hours. Tell them to stick with slim.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Deliberately break one yourself on the projector - rename Dockerfile and run the build. Seeing the error is worth more than reading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Hold the solution Dockerfile back until fifteen minutes in. The struggle is the lesson.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They have one container working. Now make it a system.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Tie this straight back to the checkpoint. 'Remember your table disappearing? Here is why.'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the difference live: bind mount a folder, create a file inside the container, and watch it appear in their file explorer.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Memory aid: 'outside colon inside'. Write it on the board.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saves them hours. Every beginner writes localhost and every beginner's container cannot find the database.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Let the ugly block sit on screen for a few seconds. The relief when Compose appears is the teaching moment.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Warn about tabs. A tab in YAML gives a parse error that reads like nonsense.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Without the healthcheck, etl starts while Postgres is still booting and fails with 'connection refused'. That is the single most common Compose complaint.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last bullet is the finish line. When a classmate's project runs on their machine first try, Docker has earned its place.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 the room which ones they already hit during the labs. Usually four or five hands.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Tell them to keep this open on a second monitor for the next month.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Ten seconds for photographs, then move 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Pair them up now so they know who they are sending it 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That challenge is only half a joke. Forcing themselves to use containers is how it becomes a reflex.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Leave this up during questions. Point at the chip that owns whatever they ask about.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HERO-image-1.pn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SECTION-image-1.png"/><Relationship Id="rId2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image" Target="../media/CONTENT-image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ERO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822960" y="1554480"/>
            <a:ext cx="548640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1000" b="1" dirty="0">
                <a:solidFill>
                  <a:srgbClr val="FF990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defRPr>
            </a:lvl1pPr>
          </a:lstStyle>
          <a:p>
            <a:pPr algn="l" indent="0" marL="0">
              <a:buNone/>
            </a:pPr>
            <a:endParaRPr lang="en-US" sz="110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822960" y="3108960"/>
            <a:ext cx="10515600" cy="10058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800" b="1" dirty="0">
                <a:solidFill>
                  <a:srgbClr val="F1F5F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defRPr>
            </a:lvl1pPr>
          </a:lstStyle>
          <a:p>
            <a:pPr algn="l" indent="0" marL="0">
              <a:buNone/>
            </a:pPr>
            <a:endParaRPr lang="en-US" sz="4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822960" y="4160520"/>
            <a:ext cx="914400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dirty="0">
                <a:solidFill>
                  <a:srgbClr val="9AA8B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defRPr>
            </a:lvl1pPr>
          </a:lstStyle>
          <a:p>
            <a:pPr algn="l" indent="0" marL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200" b="1" spc="200" kern="0" dirty="0">
                <a:solidFill>
                  <a:srgbClr val="FF99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defRPr>
            </a:lvl1pPr>
          </a:lstStyle>
          <a:p>
            <a:pPr algn="l" indent="0" marL="0">
              <a:buNone/>
            </a:pP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rgbClr val="F1F5F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4" name="Text 0"/>
          <p:cNvSpPr txBox="1"/>
          <p:nvPr/>
        </p:nvSpPr>
        <p:spPr>
          <a:xfrm>
            <a:off x="548640" y="641908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5B6B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DOCKER  •  ENGINEERING PRACTICES</a:t>
            </a:r>
            <a:endParaRPr lang="en-US" sz="9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4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4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4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image" Target="../media/image-19-3.png"/><Relationship Id="rId4" Type="http://schemas.openxmlformats.org/officeDocument/2006/relationships/image" Target="../media/image-19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image" Target="../media/image-21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image" Target="../media/image-25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image" Target="../media/image-26-2.png"/><Relationship Id="rId3" Type="http://schemas.openxmlformats.org/officeDocument/2006/relationships/image" Target="../media/image-26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image" Target="../media/image-29-2.png"/><Relationship Id="rId3" Type="http://schemas.openxmlformats.org/officeDocument/2006/relationships/image" Target="../media/image-29-3.png"/><Relationship Id="rId4" Type="http://schemas.openxmlformats.org/officeDocument/2006/relationships/image" Target="../media/image-29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image" Target="../media/image-32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image" Target="../media/image-33-2.png"/><Relationship Id="rId3" Type="http://schemas.openxmlformats.org/officeDocument/2006/relationships/image" Target="../media/image-33-3.png"/><Relationship Id="rId4" Type="http://schemas.openxmlformats.org/officeDocument/2006/relationships/image" Target="../media/image-33-4.png"/><Relationship Id="rId5" Type="http://schemas.openxmlformats.org/officeDocument/2006/relationships/image" Target="../media/image-33-5.png"/><Relationship Id="rId6" Type="http://schemas.openxmlformats.org/officeDocument/2006/relationships/slideLayout" Target="../slideLayouts/slideLayout4.xml"/><Relationship Id="rId7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5-1.png"/><Relationship Id="rId2" Type="http://schemas.openxmlformats.org/officeDocument/2006/relationships/image" Target="../media/image-35-2.png"/><Relationship Id="rId3" Type="http://schemas.openxmlformats.org/officeDocument/2006/relationships/image" Target="../media/image-35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8-1.png"/><Relationship Id="rId2" Type="http://schemas.openxmlformats.org/officeDocument/2006/relationships/image" Target="../media/image-38-2.png"/><Relationship Id="rId3" Type="http://schemas.openxmlformats.org/officeDocument/2006/relationships/image" Target="../media/image-38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2-1.png"/><Relationship Id="rId2" Type="http://schemas.openxmlformats.org/officeDocument/2006/relationships/image" Target="../media/image-42-2.png"/><Relationship Id="rId3" Type="http://schemas.openxmlformats.org/officeDocument/2006/relationships/image" Target="../media/image-42-3.png"/><Relationship Id="rId4" Type="http://schemas.openxmlformats.org/officeDocument/2006/relationships/image" Target="../media/image-42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3-1.png"/><Relationship Id="rId2" Type="http://schemas.openxmlformats.org/officeDocument/2006/relationships/image" Target="../media/image-43-2.png"/><Relationship Id="rId3" Type="http://schemas.openxmlformats.org/officeDocument/2006/relationships/image" Target="../media/image-43-3.png"/><Relationship Id="rId4" Type="http://schemas.openxmlformats.org/officeDocument/2006/relationships/image" Target="../media/image-43-4.png"/><Relationship Id="rId5" Type="http://schemas.openxmlformats.org/officeDocument/2006/relationships/image" Target="../media/image-43-5.png"/><Relationship Id="rId6" Type="http://schemas.openxmlformats.org/officeDocument/2006/relationships/image" Target="../media/image-43-6.png"/><Relationship Id="rId7" Type="http://schemas.openxmlformats.org/officeDocument/2006/relationships/slideLayout" Target="../slideLayouts/slideLayout4.xml"/><Relationship Id="rId8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4-1.png"/><Relationship Id="rId2" Type="http://schemas.openxmlformats.org/officeDocument/2006/relationships/image" Target="../media/image-44-2.png"/><Relationship Id="rId3" Type="http://schemas.openxmlformats.org/officeDocument/2006/relationships/image" Target="../media/image-44-3.png"/><Relationship Id="rId4" Type="http://schemas.openxmlformats.org/officeDocument/2006/relationships/image" Target="../media/image-44-4.png"/><Relationship Id="rId5" Type="http://schemas.openxmlformats.org/officeDocument/2006/relationships/image" Target="../media/image-44-5.png"/><Relationship Id="rId6" Type="http://schemas.openxmlformats.org/officeDocument/2006/relationships/image" Target="../media/image-44-6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4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randPill"/>
          <p:cNvSpPr/>
          <p:nvPr/>
        </p:nvSpPr>
        <p:spPr>
          <a:xfrm>
            <a:off x="822960" y="502920"/>
            <a:ext cx="4526280" cy="566928"/>
          </a:xfrm>
          <a:prstGeom prst="roundRect">
            <a:avLst>
              <a:gd name="adj" fmla="val 50000"/>
            </a:avLst>
          </a:prstGeom>
          <a:solidFill>
            <a:srgbClr val="29B5E8">
              <a:alpha val="12000"/>
            </a:srgbClr>
          </a:solidFill>
          <a:ln w="12700">
            <a:solidFill>
              <a:srgbClr val="29B5E8"/>
            </a:solidFill>
            <a:prstDash val="solid"/>
          </a:ln>
        </p:spPr>
      </p:sp>
      <p:pic>
        <p:nvPicPr>
          <p:cNvPr id="3" name="brand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4128" y="630936"/>
            <a:ext cx="310896" cy="310896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463040" y="502920"/>
            <a:ext cx="3794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1F5F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Saylani Cloud Data Engineering</a:t>
            </a:r>
            <a:endParaRPr lang="en-US" sz="1600" dirty="0"/>
          </a:p>
        </p:txBody>
      </p:sp>
      <p:sp>
        <p:nvSpPr>
          <p:cNvPr id="5" name="Text 2"/>
          <p:cNvSpPr txBox="1"/>
          <p:nvPr/>
        </p:nvSpPr>
        <p:spPr>
          <a:xfrm>
            <a:off x="822960" y="1417320"/>
            <a:ext cx="6949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9B5E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PART 4  •  CHAPTER 1  •  ENGINEERING PRACTICES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822960" y="1783080"/>
            <a:ext cx="67665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5800" b="1" dirty="0">
                <a:solidFill>
                  <a:srgbClr val="F1F5F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Docker for</a:t>
            </a:r>
            <a:endParaRPr lang="en-US" sz="58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5800" b="1" dirty="0">
                <a:solidFill>
                  <a:srgbClr val="29B5E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Data Engineers</a:t>
            </a:r>
            <a:endParaRPr lang="en-US" sz="58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4023360"/>
            <a:ext cx="6309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9AA8B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Stop saying “but it works on my machine”. Put your code in a box that already has everything it needs, and run that same box anywhere.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534924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AA8B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Presented by  </a:t>
            </a:r>
            <a:pPr indent="0" marL="0">
              <a:buNone/>
            </a:pPr>
            <a:r>
              <a:rPr lang="en-US" sz="1600" b="1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M. Abdullah Khan</a:t>
            </a:r>
            <a:endParaRPr lang="en-US" sz="1600" dirty="0"/>
          </a:p>
        </p:txBody>
      </p:sp>
      <p:sp>
        <p:nvSpPr>
          <p:cNvPr id="9" name="orbit_filecode"/>
          <p:cNvSpPr/>
          <p:nvPr/>
        </p:nvSpPr>
        <p:spPr>
          <a:xfrm>
            <a:off x="7589520" y="1234440"/>
            <a:ext cx="1051560" cy="1051560"/>
          </a:xfrm>
          <a:prstGeom prst="roundRect">
            <a:avLst>
              <a:gd name="adj" fmla="val 19130"/>
            </a:avLst>
          </a:prstGeom>
          <a:solidFill>
            <a:srgbClr val="FF9900">
              <a:alpha val="12000"/>
            </a:srgbClr>
          </a:solidFill>
          <a:ln w="15875">
            <a:solidFill>
              <a:srgbClr val="FF9900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22692" y="1467612"/>
            <a:ext cx="585216" cy="585216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7086600" y="233172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9AA8B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You write a recipe</a:t>
            </a:r>
            <a:endParaRPr lang="en-US" sz="1050" dirty="0"/>
          </a:p>
        </p:txBody>
      </p:sp>
      <p:sp>
        <p:nvSpPr>
          <p:cNvPr id="12" name="orbit_layers"/>
          <p:cNvSpPr/>
          <p:nvPr/>
        </p:nvSpPr>
        <p:spPr>
          <a:xfrm>
            <a:off x="9098280" y="2194560"/>
            <a:ext cx="1051560" cy="1051560"/>
          </a:xfrm>
          <a:prstGeom prst="roundRect">
            <a:avLst>
              <a:gd name="adj" fmla="val 19130"/>
            </a:avLst>
          </a:prstGeom>
          <a:solidFill>
            <a:srgbClr val="2DD4BF">
              <a:alpha val="12000"/>
            </a:srgbClr>
          </a:solidFill>
          <a:ln w="15875">
            <a:solidFill>
              <a:srgbClr val="2DD4BF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31452" y="2427732"/>
            <a:ext cx="585216" cy="585216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8595360" y="329184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9AA8B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Docker bakes an image</a:t>
            </a:r>
            <a:endParaRPr lang="en-US" sz="1050" dirty="0"/>
          </a:p>
        </p:txBody>
      </p:sp>
      <p:sp>
        <p:nvSpPr>
          <p:cNvPr id="15" name="orbit_box"/>
          <p:cNvSpPr/>
          <p:nvPr/>
        </p:nvSpPr>
        <p:spPr>
          <a:xfrm>
            <a:off x="10515600" y="3154680"/>
            <a:ext cx="1051560" cy="1051560"/>
          </a:xfrm>
          <a:prstGeom prst="roundRect">
            <a:avLst>
              <a:gd name="adj" fmla="val 19130"/>
            </a:avLst>
          </a:prstGeom>
          <a:solidFill>
            <a:srgbClr val="29B5E8">
              <a:alpha val="12000"/>
            </a:srgbClr>
          </a:solidFill>
          <a:ln w="15875">
            <a:solidFill>
              <a:srgbClr val="29B5E8"/>
            </a:solidFill>
            <a:prstDash val="solid"/>
          </a:ln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48772" y="3387852"/>
            <a:ext cx="585216" cy="585216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10012680" y="425196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9AA8B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image runs as a container</a:t>
            </a:r>
            <a:endParaRPr lang="en-US" sz="1050" dirty="0"/>
          </a:p>
        </p:txBody>
      </p:sp>
      <p:sp>
        <p:nvSpPr>
          <p:cNvPr id="18" name="orbit_globe"/>
          <p:cNvSpPr/>
          <p:nvPr/>
        </p:nvSpPr>
        <p:spPr>
          <a:xfrm>
            <a:off x="9098280" y="4389120"/>
            <a:ext cx="1051560" cy="1051560"/>
          </a:xfrm>
          <a:prstGeom prst="roundRect">
            <a:avLst>
              <a:gd name="adj" fmla="val 19130"/>
            </a:avLst>
          </a:prstGeom>
          <a:solidFill>
            <a:srgbClr val="8C4FFF">
              <a:alpha val="12000"/>
            </a:srgbClr>
          </a:solidFill>
          <a:ln w="15875">
            <a:solidFill>
              <a:srgbClr val="8C4FFF"/>
            </a:solidFill>
            <a:prstDash val="solid"/>
          </a:ln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31452" y="4622292"/>
            <a:ext cx="585216" cy="585216"/>
          </a:xfrm>
          <a:prstGeom prst="rect">
            <a:avLst/>
          </a:prstGeom>
        </p:spPr>
      </p:pic>
      <p:sp>
        <p:nvSpPr>
          <p:cNvPr id="20" name="Text 13"/>
          <p:cNvSpPr txBox="1"/>
          <p:nvPr/>
        </p:nvSpPr>
        <p:spPr>
          <a:xfrm>
            <a:off x="8595360" y="548640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9AA8B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same box runs anywhere</a:t>
            </a:r>
            <a:endParaRPr lang="en-US" sz="1050" dirty="0"/>
          </a:p>
        </p:txBody>
      </p:sp>
      <p:sp>
        <p:nvSpPr>
          <p:cNvPr id="21" name="o1"/>
          <p:cNvSpPr/>
          <p:nvPr/>
        </p:nvSpPr>
        <p:spPr>
          <a:xfrm rot="2700000">
            <a:off x="8686800" y="1828800"/>
            <a:ext cx="365760" cy="274320"/>
          </a:xfrm>
          <a:prstGeom prst="rightArrow">
            <a:avLst/>
          </a:prstGeom>
          <a:solidFill>
            <a:srgbClr val="26375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o2"/>
          <p:cNvSpPr/>
          <p:nvPr/>
        </p:nvSpPr>
        <p:spPr>
          <a:xfrm rot="2700000">
            <a:off x="10104120" y="2788920"/>
            <a:ext cx="365760" cy="274320"/>
          </a:xfrm>
          <a:prstGeom prst="rightArrow">
            <a:avLst/>
          </a:prstGeom>
          <a:solidFill>
            <a:srgbClr val="26375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o3"/>
          <p:cNvSpPr/>
          <p:nvPr/>
        </p:nvSpPr>
        <p:spPr>
          <a:xfrm rot="8100000">
            <a:off x="10058400" y="4572000"/>
            <a:ext cx="365760" cy="274320"/>
          </a:xfrm>
          <a:prstGeom prst="rightArrow">
            <a:avLst/>
          </a:prstGeom>
          <a:solidFill>
            <a:srgbClr val="26375A"/>
          </a:solidFill>
          <a:ln w="12700">
            <a:solidFill>
              <a:srgbClr val="333333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FF99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TODAY'S CLASS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1F5F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Four parts, and you will run every one of them</a:t>
            </a:r>
            <a:endParaRPr lang="en-US" sz="3200" dirty="0"/>
          </a:p>
        </p:txBody>
      </p:sp>
      <p:sp>
        <p:nvSpPr>
          <p:cNvPr id="4" name="panel_1"/>
          <p:cNvSpPr/>
          <p:nvPr/>
        </p:nvSpPr>
        <p:spPr>
          <a:xfrm>
            <a:off x="548640" y="1572768"/>
            <a:ext cx="7863840" cy="1024128"/>
          </a:xfrm>
          <a:prstGeom prst="roundRect">
            <a:avLst>
              <a:gd name="adj" fmla="val 10714"/>
            </a:avLst>
          </a:prstGeom>
          <a:solidFill>
            <a:srgbClr val="131D31"/>
          </a:solidFill>
          <a:ln w="12700">
            <a:solidFill>
              <a:srgbClr val="26375A"/>
            </a:solidFill>
            <a:prstDash val="solid"/>
          </a:ln>
        </p:spPr>
      </p:sp>
      <p:sp>
        <p:nvSpPr>
          <p:cNvPr id="5" name="badge_2"/>
          <p:cNvSpPr/>
          <p:nvPr/>
        </p:nvSpPr>
        <p:spPr>
          <a:xfrm>
            <a:off x="731520" y="1755648"/>
            <a:ext cx="548640" cy="548640"/>
          </a:xfrm>
          <a:prstGeom prst="ellipse">
            <a:avLst/>
          </a:prstGeom>
          <a:solidFill>
            <a:srgbClr val="FF9900">
              <a:alpha val="18000"/>
            </a:srgbClr>
          </a:solidFill>
          <a:ln w="15875">
            <a:solidFill>
              <a:srgbClr val="FF9900"/>
            </a:solidFill>
            <a:prstDash val="solid"/>
          </a:ln>
        </p:spPr>
      </p:sp>
      <p:pic>
        <p:nvPicPr>
          <p:cNvPr id="6" name="icon_3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9653" y="1903781"/>
            <a:ext cx="252374" cy="25237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481328" y="1737360"/>
            <a:ext cx="6748272" cy="301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750" b="1" dirty="0">
                <a:solidFill>
                  <a:srgbClr val="F1F5F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Why containers exist</a:t>
            </a:r>
            <a:endParaRPr lang="en-US" sz="1750" dirty="0"/>
          </a:p>
        </p:txBody>
      </p:sp>
      <p:sp>
        <p:nvSpPr>
          <p:cNvPr id="8" name="Text 5"/>
          <p:cNvSpPr txBox="1"/>
          <p:nvPr/>
        </p:nvSpPr>
        <p:spPr>
          <a:xfrm>
            <a:off x="1481328" y="2084584"/>
            <a:ext cx="6748272" cy="252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9AA8B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goes wrong without them, and why “just write a README” never worked.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7269480" y="173736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FF990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01</a:t>
            </a:r>
            <a:endParaRPr lang="en-US" sz="2200" dirty="0"/>
          </a:p>
        </p:txBody>
      </p:sp>
      <p:sp>
        <p:nvSpPr>
          <p:cNvPr id="10" name="panel_4"/>
          <p:cNvSpPr/>
          <p:nvPr/>
        </p:nvSpPr>
        <p:spPr>
          <a:xfrm>
            <a:off x="548640" y="2688336"/>
            <a:ext cx="7863840" cy="1024128"/>
          </a:xfrm>
          <a:prstGeom prst="roundRect">
            <a:avLst>
              <a:gd name="adj" fmla="val 10714"/>
            </a:avLst>
          </a:prstGeom>
          <a:solidFill>
            <a:srgbClr val="131D31"/>
          </a:solidFill>
          <a:ln w="12700">
            <a:solidFill>
              <a:srgbClr val="26375A"/>
            </a:solidFill>
            <a:prstDash val="solid"/>
          </a:ln>
        </p:spPr>
      </p:sp>
      <p:sp>
        <p:nvSpPr>
          <p:cNvPr id="11" name="badge_5"/>
          <p:cNvSpPr/>
          <p:nvPr/>
        </p:nvSpPr>
        <p:spPr>
          <a:xfrm>
            <a:off x="731520" y="2871216"/>
            <a:ext cx="548640" cy="548640"/>
          </a:xfrm>
          <a:prstGeom prst="ellipse">
            <a:avLst/>
          </a:prstGeom>
          <a:solidFill>
            <a:srgbClr val="2DD4BF">
              <a:alpha val="18000"/>
            </a:srgbClr>
          </a:solidFill>
          <a:ln w="15875">
            <a:solidFill>
              <a:srgbClr val="2DD4BF"/>
            </a:solidFill>
            <a:prstDash val="solid"/>
          </a:ln>
        </p:spPr>
      </p:sp>
      <p:pic>
        <p:nvPicPr>
          <p:cNvPr id="12" name="icon_6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9653" y="3019349"/>
            <a:ext cx="252374" cy="252374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1481328" y="2852928"/>
            <a:ext cx="6748272" cy="301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750" b="1" dirty="0">
                <a:solidFill>
                  <a:srgbClr val="F1F5F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Images and containers</a:t>
            </a:r>
            <a:endParaRPr lang="en-US" sz="1750" dirty="0"/>
          </a:p>
        </p:txBody>
      </p:sp>
      <p:sp>
        <p:nvSpPr>
          <p:cNvPr id="14" name="Text 10"/>
          <p:cNvSpPr txBox="1"/>
          <p:nvPr/>
        </p:nvSpPr>
        <p:spPr>
          <a:xfrm>
            <a:off x="1481328" y="3200152"/>
            <a:ext cx="6748272" cy="242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9AA8B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two words people mix up, and the eight commands that cover 95% of the job.</a:t>
            </a:r>
            <a:endParaRPr lang="en-US" sz="1250" dirty="0"/>
          </a:p>
        </p:txBody>
      </p:sp>
      <p:sp>
        <p:nvSpPr>
          <p:cNvPr id="15" name="Text 11"/>
          <p:cNvSpPr txBox="1"/>
          <p:nvPr/>
        </p:nvSpPr>
        <p:spPr>
          <a:xfrm>
            <a:off x="7269480" y="2852928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2DD4B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02</a:t>
            </a:r>
            <a:endParaRPr lang="en-US" sz="2200" dirty="0"/>
          </a:p>
        </p:txBody>
      </p:sp>
      <p:sp>
        <p:nvSpPr>
          <p:cNvPr id="16" name="panel_7"/>
          <p:cNvSpPr/>
          <p:nvPr/>
        </p:nvSpPr>
        <p:spPr>
          <a:xfrm>
            <a:off x="548640" y="3803904"/>
            <a:ext cx="7863840" cy="1024128"/>
          </a:xfrm>
          <a:prstGeom prst="roundRect">
            <a:avLst>
              <a:gd name="adj" fmla="val 10714"/>
            </a:avLst>
          </a:prstGeom>
          <a:solidFill>
            <a:srgbClr val="131D31"/>
          </a:solidFill>
          <a:ln w="12700">
            <a:solidFill>
              <a:srgbClr val="26375A"/>
            </a:solidFill>
            <a:prstDash val="solid"/>
          </a:ln>
        </p:spPr>
      </p:sp>
      <p:sp>
        <p:nvSpPr>
          <p:cNvPr id="17" name="badge_8"/>
          <p:cNvSpPr/>
          <p:nvPr/>
        </p:nvSpPr>
        <p:spPr>
          <a:xfrm>
            <a:off x="731520" y="3986784"/>
            <a:ext cx="548640" cy="548640"/>
          </a:xfrm>
          <a:prstGeom prst="ellipse">
            <a:avLst/>
          </a:prstGeom>
          <a:solidFill>
            <a:srgbClr val="29B5E8">
              <a:alpha val="18000"/>
            </a:srgbClr>
          </a:solidFill>
          <a:ln w="15875">
            <a:solidFill>
              <a:srgbClr val="29B5E8"/>
            </a:solidFill>
            <a:prstDash val="solid"/>
          </a:ln>
        </p:spPr>
      </p:sp>
      <p:pic>
        <p:nvPicPr>
          <p:cNvPr id="18" name="icon_9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9653" y="4134917"/>
            <a:ext cx="252374" cy="252374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1481328" y="3968496"/>
            <a:ext cx="6748272" cy="301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750" b="1" dirty="0">
                <a:solidFill>
                  <a:srgbClr val="F1F5F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Build your own image</a:t>
            </a:r>
            <a:endParaRPr lang="en-US" sz="1750" dirty="0"/>
          </a:p>
        </p:txBody>
      </p:sp>
      <p:sp>
        <p:nvSpPr>
          <p:cNvPr id="20" name="Text 15"/>
          <p:cNvSpPr txBox="1"/>
          <p:nvPr/>
        </p:nvSpPr>
        <p:spPr>
          <a:xfrm>
            <a:off x="1481328" y="4315720"/>
            <a:ext cx="6748272" cy="233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9AA8B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Put your Python ETL script in a container with a Dockerfile you wrote yourself.</a:t>
            </a:r>
            <a:endParaRPr lang="en-US" sz="1200" dirty="0"/>
          </a:p>
        </p:txBody>
      </p:sp>
      <p:sp>
        <p:nvSpPr>
          <p:cNvPr id="21" name="Text 16"/>
          <p:cNvSpPr txBox="1"/>
          <p:nvPr/>
        </p:nvSpPr>
        <p:spPr>
          <a:xfrm>
            <a:off x="7269480" y="3968496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29B5E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03</a:t>
            </a:r>
            <a:endParaRPr lang="en-US" sz="2200" dirty="0"/>
          </a:p>
        </p:txBody>
      </p:sp>
      <p:sp>
        <p:nvSpPr>
          <p:cNvPr id="22" name="panel_10"/>
          <p:cNvSpPr/>
          <p:nvPr/>
        </p:nvSpPr>
        <p:spPr>
          <a:xfrm>
            <a:off x="548640" y="4919472"/>
            <a:ext cx="7863840" cy="1024128"/>
          </a:xfrm>
          <a:prstGeom prst="roundRect">
            <a:avLst>
              <a:gd name="adj" fmla="val 10714"/>
            </a:avLst>
          </a:prstGeom>
          <a:solidFill>
            <a:srgbClr val="131D31"/>
          </a:solidFill>
          <a:ln w="12700">
            <a:solidFill>
              <a:srgbClr val="26375A"/>
            </a:solidFill>
            <a:prstDash val="solid"/>
          </a:ln>
        </p:spPr>
      </p:sp>
      <p:sp>
        <p:nvSpPr>
          <p:cNvPr id="23" name="badge_11"/>
          <p:cNvSpPr/>
          <p:nvPr/>
        </p:nvSpPr>
        <p:spPr>
          <a:xfrm>
            <a:off x="731520" y="5102352"/>
            <a:ext cx="548640" cy="548640"/>
          </a:xfrm>
          <a:prstGeom prst="ellipse">
            <a:avLst/>
          </a:prstGeom>
          <a:solidFill>
            <a:srgbClr val="8C4FFF">
              <a:alpha val="18000"/>
            </a:srgbClr>
          </a:solidFill>
          <a:ln w="15875">
            <a:solidFill>
              <a:srgbClr val="8C4FFF"/>
            </a:solidFill>
            <a:prstDash val="solid"/>
          </a:ln>
        </p:spPr>
      </p:sp>
      <p:pic>
        <p:nvPicPr>
          <p:cNvPr id="24" name="icon_1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9653" y="5250485"/>
            <a:ext cx="252374" cy="252374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1481328" y="5084064"/>
            <a:ext cx="6748272" cy="301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750" b="1" dirty="0">
                <a:solidFill>
                  <a:srgbClr val="F1F5F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 whole stack with Compose</a:t>
            </a:r>
            <a:endParaRPr lang="en-US" sz="1750" dirty="0"/>
          </a:p>
        </p:txBody>
      </p:sp>
      <p:sp>
        <p:nvSpPr>
          <p:cNvPr id="26" name="Text 20"/>
          <p:cNvSpPr txBox="1"/>
          <p:nvPr/>
        </p:nvSpPr>
        <p:spPr>
          <a:xfrm>
            <a:off x="1481328" y="5431288"/>
            <a:ext cx="6748272" cy="2233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9AA8B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Volumes, ports, networks, and one file that starts Postgres plus your ETL together.</a:t>
            </a:r>
            <a:endParaRPr lang="en-US" sz="1150" dirty="0"/>
          </a:p>
        </p:txBody>
      </p:sp>
      <p:sp>
        <p:nvSpPr>
          <p:cNvPr id="27" name="Text 21"/>
          <p:cNvSpPr txBox="1"/>
          <p:nvPr/>
        </p:nvSpPr>
        <p:spPr>
          <a:xfrm>
            <a:off x="7269480" y="5084064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8C4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04</a:t>
            </a:r>
            <a:endParaRPr lang="en-US" sz="2200" dirty="0"/>
          </a:p>
        </p:txBody>
      </p:sp>
      <p:sp>
        <p:nvSpPr>
          <p:cNvPr id="28" name="panel_13"/>
          <p:cNvSpPr/>
          <p:nvPr/>
        </p:nvSpPr>
        <p:spPr>
          <a:xfrm>
            <a:off x="8641080" y="1572768"/>
            <a:ext cx="2999232" cy="4224528"/>
          </a:xfrm>
          <a:prstGeom prst="roundRect">
            <a:avLst>
              <a:gd name="adj" fmla="val 3659"/>
            </a:avLst>
          </a:prstGeom>
          <a:solidFill>
            <a:srgbClr val="1A2741"/>
          </a:solidFill>
          <a:ln w="12700">
            <a:solidFill>
              <a:srgbClr val="29B5E8"/>
            </a:solidFill>
            <a:prstDash val="solid"/>
          </a:ln>
        </p:spPr>
      </p:sp>
      <p:sp>
        <p:nvSpPr>
          <p:cNvPr id="29" name="Text 23"/>
          <p:cNvSpPr txBox="1"/>
          <p:nvPr/>
        </p:nvSpPr>
        <p:spPr>
          <a:xfrm>
            <a:off x="8915400" y="181051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29B5E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YOU ALREADY KNOW</a:t>
            </a:r>
            <a:endParaRPr lang="en-US" sz="1100" dirty="0"/>
          </a:p>
        </p:txBody>
      </p:sp>
      <p:sp>
        <p:nvSpPr>
          <p:cNvPr id="30" name="Text 24"/>
          <p:cNvSpPr txBox="1"/>
          <p:nvPr/>
        </p:nvSpPr>
        <p:spPr>
          <a:xfrm>
            <a:off x="8915400" y="2194560"/>
            <a:ext cx="2468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How to write a Python script</a:t>
            </a:r>
            <a:endParaRPr lang="en-US" sz="1400" dirty="0"/>
          </a:p>
          <a:p>
            <a:pPr marL="203200" indent="-2032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How to write a SQL query</a:t>
            </a:r>
            <a:endParaRPr lang="en-US" sz="1400" dirty="0"/>
          </a:p>
          <a:p>
            <a:pPr marL="203200" indent="-2032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How to open a terminal</a:t>
            </a:r>
            <a:endParaRPr lang="en-US" sz="1400" dirty="0"/>
          </a:p>
        </p:txBody>
      </p:sp>
      <p:sp>
        <p:nvSpPr>
          <p:cNvPr id="31" name="Text 25"/>
          <p:cNvSpPr txBox="1"/>
          <p:nvPr/>
        </p:nvSpPr>
        <p:spPr>
          <a:xfrm>
            <a:off x="8915400" y="361188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2DD4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THAT IS ENOUGH</a:t>
            </a:r>
            <a:endParaRPr lang="en-US" sz="1100" dirty="0"/>
          </a:p>
        </p:txBody>
      </p:sp>
      <p:sp>
        <p:nvSpPr>
          <p:cNvPr id="32" name="Text 26"/>
          <p:cNvSpPr txBox="1"/>
          <p:nvPr/>
        </p:nvSpPr>
        <p:spPr>
          <a:xfrm>
            <a:off x="8915400" y="3995928"/>
            <a:ext cx="24688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9AA8B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You do not need Linux experience, networking theory or a server. Everything today happens on your own laptop, and every word gets explained before it is used.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FF99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FIRST, THE WORDS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1F5F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Six words you will hear all day</a:t>
            </a:r>
            <a:endParaRPr lang="en-US" sz="3200" dirty="0"/>
          </a:p>
        </p:txBody>
      </p:sp>
      <p:sp>
        <p:nvSpPr>
          <p:cNvPr id="4" name="panel_14"/>
          <p:cNvSpPr/>
          <p:nvPr/>
        </p:nvSpPr>
        <p:spPr>
          <a:xfrm>
            <a:off x="548640" y="1572768"/>
            <a:ext cx="3511296" cy="2011680"/>
          </a:xfrm>
          <a:prstGeom prst="roundRect">
            <a:avLst>
              <a:gd name="adj" fmla="val 5455"/>
            </a:avLst>
          </a:prstGeom>
          <a:solidFill>
            <a:srgbClr val="131D31"/>
          </a:solidFill>
          <a:ln w="12700">
            <a:solidFill>
              <a:srgbClr val="26375A"/>
            </a:solidFill>
            <a:prstDash val="solid"/>
          </a:ln>
        </p:spPr>
      </p:sp>
      <p:sp>
        <p:nvSpPr>
          <p:cNvPr id="5" name="badge_15"/>
          <p:cNvSpPr/>
          <p:nvPr/>
        </p:nvSpPr>
        <p:spPr>
          <a:xfrm>
            <a:off x="749808" y="1773936"/>
            <a:ext cx="621792" cy="621792"/>
          </a:xfrm>
          <a:prstGeom prst="ellipse">
            <a:avLst/>
          </a:prstGeom>
          <a:solidFill>
            <a:srgbClr val="FF9900">
              <a:alpha val="18000"/>
            </a:srgbClr>
          </a:solidFill>
          <a:ln w="15875">
            <a:solidFill>
              <a:srgbClr val="FF9900"/>
            </a:solidFill>
            <a:prstDash val="solid"/>
          </a:ln>
        </p:spPr>
      </p:sp>
      <p:pic>
        <p:nvPicPr>
          <p:cNvPr id="6" name="icon_16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7692" y="1941820"/>
            <a:ext cx="286024" cy="28602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749808" y="2468880"/>
            <a:ext cx="3108960" cy="3101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800" b="1" dirty="0">
                <a:solidFill>
                  <a:srgbClr val="F1F5F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Image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749808" y="2815575"/>
            <a:ext cx="3108960" cy="4273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9AA8B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frozen package: Linux, Python, your libraries and your code, all in one file.</a:t>
            </a:r>
            <a:endParaRPr lang="en-US" sz="1100" dirty="0"/>
          </a:p>
        </p:txBody>
      </p:sp>
      <p:sp>
        <p:nvSpPr>
          <p:cNvPr id="9" name="panel_17"/>
          <p:cNvSpPr/>
          <p:nvPr/>
        </p:nvSpPr>
        <p:spPr>
          <a:xfrm>
            <a:off x="4306824" y="1572768"/>
            <a:ext cx="3511296" cy="2011680"/>
          </a:xfrm>
          <a:prstGeom prst="roundRect">
            <a:avLst>
              <a:gd name="adj" fmla="val 5455"/>
            </a:avLst>
          </a:prstGeom>
          <a:solidFill>
            <a:srgbClr val="131D31"/>
          </a:solidFill>
          <a:ln w="12700">
            <a:solidFill>
              <a:srgbClr val="26375A"/>
            </a:solidFill>
            <a:prstDash val="solid"/>
          </a:ln>
        </p:spPr>
      </p:sp>
      <p:sp>
        <p:nvSpPr>
          <p:cNvPr id="10" name="badge_18"/>
          <p:cNvSpPr/>
          <p:nvPr/>
        </p:nvSpPr>
        <p:spPr>
          <a:xfrm>
            <a:off x="4507992" y="1773936"/>
            <a:ext cx="621792" cy="621792"/>
          </a:xfrm>
          <a:prstGeom prst="ellipse">
            <a:avLst/>
          </a:prstGeom>
          <a:solidFill>
            <a:srgbClr val="2DD4BF">
              <a:alpha val="18000"/>
            </a:srgbClr>
          </a:solidFill>
          <a:ln w="15875">
            <a:solidFill>
              <a:srgbClr val="2DD4BF"/>
            </a:solidFill>
            <a:prstDash val="solid"/>
          </a:ln>
        </p:spPr>
      </p:sp>
      <p:pic>
        <p:nvPicPr>
          <p:cNvPr id="11" name="icon_19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5876" y="1941820"/>
            <a:ext cx="286024" cy="286024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507992" y="2468880"/>
            <a:ext cx="3108960" cy="3101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800" b="1" dirty="0">
                <a:solidFill>
                  <a:srgbClr val="F1F5F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Container</a:t>
            </a:r>
            <a:endParaRPr lang="en-US" sz="1800" dirty="0"/>
          </a:p>
        </p:txBody>
      </p:sp>
      <p:sp>
        <p:nvSpPr>
          <p:cNvPr id="13" name="Text 9"/>
          <p:cNvSpPr txBox="1"/>
          <p:nvPr/>
        </p:nvSpPr>
        <p:spPr>
          <a:xfrm>
            <a:off x="4507992" y="2815575"/>
            <a:ext cx="3108960" cy="4273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9AA8B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 image that is actually running. You can start many containers from one image.</a:t>
            </a:r>
            <a:endParaRPr lang="en-US" sz="1100" dirty="0"/>
          </a:p>
        </p:txBody>
      </p:sp>
      <p:sp>
        <p:nvSpPr>
          <p:cNvPr id="14" name="panel_20"/>
          <p:cNvSpPr/>
          <p:nvPr/>
        </p:nvSpPr>
        <p:spPr>
          <a:xfrm>
            <a:off x="8065008" y="1572768"/>
            <a:ext cx="3511296" cy="2011680"/>
          </a:xfrm>
          <a:prstGeom prst="roundRect">
            <a:avLst>
              <a:gd name="adj" fmla="val 5455"/>
            </a:avLst>
          </a:prstGeom>
          <a:solidFill>
            <a:srgbClr val="131D31"/>
          </a:solidFill>
          <a:ln w="12700">
            <a:solidFill>
              <a:srgbClr val="26375A"/>
            </a:solidFill>
            <a:prstDash val="solid"/>
          </a:ln>
        </p:spPr>
      </p:sp>
      <p:sp>
        <p:nvSpPr>
          <p:cNvPr id="15" name="badge_21"/>
          <p:cNvSpPr/>
          <p:nvPr/>
        </p:nvSpPr>
        <p:spPr>
          <a:xfrm>
            <a:off x="8266176" y="1773936"/>
            <a:ext cx="621792" cy="621792"/>
          </a:xfrm>
          <a:prstGeom prst="ellipse">
            <a:avLst/>
          </a:prstGeom>
          <a:solidFill>
            <a:srgbClr val="29B5E8">
              <a:alpha val="18000"/>
            </a:srgbClr>
          </a:solidFill>
          <a:ln w="15875">
            <a:solidFill>
              <a:srgbClr val="29B5E8"/>
            </a:solidFill>
            <a:prstDash val="solid"/>
          </a:ln>
        </p:spPr>
      </p:sp>
      <p:pic>
        <p:nvPicPr>
          <p:cNvPr id="16" name="icon_2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34060" y="1941820"/>
            <a:ext cx="286024" cy="286024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8266176" y="2468880"/>
            <a:ext cx="3108960" cy="3101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800" b="1" dirty="0">
                <a:solidFill>
                  <a:srgbClr val="F1F5F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Dockerfile</a:t>
            </a:r>
            <a:endParaRPr lang="en-US" sz="1800" dirty="0"/>
          </a:p>
        </p:txBody>
      </p:sp>
      <p:sp>
        <p:nvSpPr>
          <p:cNvPr id="18" name="Text 13"/>
          <p:cNvSpPr txBox="1"/>
          <p:nvPr/>
        </p:nvSpPr>
        <p:spPr>
          <a:xfrm>
            <a:off x="8266176" y="2815575"/>
            <a:ext cx="3108960" cy="485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9AA8B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recipe. A plain text file of steps that says how to build the image.</a:t>
            </a:r>
            <a:endParaRPr lang="en-US" sz="1250" dirty="0"/>
          </a:p>
        </p:txBody>
      </p:sp>
      <p:sp>
        <p:nvSpPr>
          <p:cNvPr id="19" name="panel_23"/>
          <p:cNvSpPr/>
          <p:nvPr/>
        </p:nvSpPr>
        <p:spPr>
          <a:xfrm>
            <a:off x="548640" y="3675888"/>
            <a:ext cx="3511296" cy="2011680"/>
          </a:xfrm>
          <a:prstGeom prst="roundRect">
            <a:avLst>
              <a:gd name="adj" fmla="val 5455"/>
            </a:avLst>
          </a:prstGeom>
          <a:solidFill>
            <a:srgbClr val="131D31"/>
          </a:solidFill>
          <a:ln w="12700">
            <a:solidFill>
              <a:srgbClr val="26375A"/>
            </a:solidFill>
            <a:prstDash val="solid"/>
          </a:ln>
        </p:spPr>
      </p:sp>
      <p:sp>
        <p:nvSpPr>
          <p:cNvPr id="20" name="badge_24"/>
          <p:cNvSpPr/>
          <p:nvPr/>
        </p:nvSpPr>
        <p:spPr>
          <a:xfrm>
            <a:off x="749808" y="3877056"/>
            <a:ext cx="621792" cy="621792"/>
          </a:xfrm>
          <a:prstGeom prst="ellipse">
            <a:avLst/>
          </a:prstGeom>
          <a:solidFill>
            <a:srgbClr val="8C4FFF">
              <a:alpha val="18000"/>
            </a:srgbClr>
          </a:solidFill>
          <a:ln w="15875">
            <a:solidFill>
              <a:srgbClr val="8C4FFF"/>
            </a:solidFill>
            <a:prstDash val="solid"/>
          </a:ln>
        </p:spPr>
      </p:sp>
      <p:pic>
        <p:nvPicPr>
          <p:cNvPr id="21" name="icon_25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7692" y="4044940"/>
            <a:ext cx="286024" cy="286024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749808" y="4572000"/>
            <a:ext cx="3108960" cy="3101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800" b="1" dirty="0">
                <a:solidFill>
                  <a:srgbClr val="F1F5F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Volume</a:t>
            </a:r>
            <a:endParaRPr lang="en-US" sz="1800" dirty="0"/>
          </a:p>
        </p:txBody>
      </p:sp>
      <p:sp>
        <p:nvSpPr>
          <p:cNvPr id="23" name="Text 17"/>
          <p:cNvSpPr txBox="1"/>
          <p:nvPr/>
        </p:nvSpPr>
        <p:spPr>
          <a:xfrm>
            <a:off x="749808" y="4918695"/>
            <a:ext cx="3108960" cy="466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9AA8B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folder that outlives the container. Containers forget; volumes remember.</a:t>
            </a:r>
            <a:endParaRPr lang="en-US" sz="1200" dirty="0"/>
          </a:p>
        </p:txBody>
      </p:sp>
      <p:sp>
        <p:nvSpPr>
          <p:cNvPr id="24" name="panel_26"/>
          <p:cNvSpPr/>
          <p:nvPr/>
        </p:nvSpPr>
        <p:spPr>
          <a:xfrm>
            <a:off x="4306824" y="3675888"/>
            <a:ext cx="3511296" cy="2011680"/>
          </a:xfrm>
          <a:prstGeom prst="roundRect">
            <a:avLst>
              <a:gd name="adj" fmla="val 5455"/>
            </a:avLst>
          </a:prstGeom>
          <a:solidFill>
            <a:srgbClr val="131D31"/>
          </a:solidFill>
          <a:ln w="12700">
            <a:solidFill>
              <a:srgbClr val="26375A"/>
            </a:solidFill>
            <a:prstDash val="solid"/>
          </a:ln>
        </p:spPr>
      </p:sp>
      <p:sp>
        <p:nvSpPr>
          <p:cNvPr id="25" name="badge_27"/>
          <p:cNvSpPr/>
          <p:nvPr/>
        </p:nvSpPr>
        <p:spPr>
          <a:xfrm>
            <a:off x="4507992" y="3877056"/>
            <a:ext cx="621792" cy="621792"/>
          </a:xfrm>
          <a:prstGeom prst="ellipse">
            <a:avLst/>
          </a:prstGeom>
          <a:solidFill>
            <a:srgbClr val="7AA116">
              <a:alpha val="18000"/>
            </a:srgbClr>
          </a:solidFill>
          <a:ln w="15875">
            <a:solidFill>
              <a:srgbClr val="7AA116"/>
            </a:solidFill>
            <a:prstDash val="solid"/>
          </a:ln>
        </p:spPr>
      </p:sp>
      <p:pic>
        <p:nvPicPr>
          <p:cNvPr id="26" name="icon_28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75876" y="4044940"/>
            <a:ext cx="286024" cy="286024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4507992" y="4572000"/>
            <a:ext cx="3108960" cy="3101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800" b="1" dirty="0">
                <a:solidFill>
                  <a:srgbClr val="F1F5F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Port</a:t>
            </a:r>
            <a:endParaRPr lang="en-US" sz="1800" dirty="0"/>
          </a:p>
        </p:txBody>
      </p:sp>
      <p:sp>
        <p:nvSpPr>
          <p:cNvPr id="28" name="Text 21"/>
          <p:cNvSpPr txBox="1"/>
          <p:nvPr/>
        </p:nvSpPr>
        <p:spPr>
          <a:xfrm>
            <a:off x="4507992" y="4918695"/>
            <a:ext cx="3108960" cy="466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9AA8B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door you open so your browser can reach a program inside the container.</a:t>
            </a:r>
            <a:endParaRPr lang="en-US" sz="1200" dirty="0"/>
          </a:p>
        </p:txBody>
      </p:sp>
      <p:sp>
        <p:nvSpPr>
          <p:cNvPr id="29" name="panel_29"/>
          <p:cNvSpPr/>
          <p:nvPr/>
        </p:nvSpPr>
        <p:spPr>
          <a:xfrm>
            <a:off x="8065008" y="3675888"/>
            <a:ext cx="3511296" cy="2011680"/>
          </a:xfrm>
          <a:prstGeom prst="roundRect">
            <a:avLst>
              <a:gd name="adj" fmla="val 5455"/>
            </a:avLst>
          </a:prstGeom>
          <a:solidFill>
            <a:srgbClr val="131D31"/>
          </a:solidFill>
          <a:ln w="12700">
            <a:solidFill>
              <a:srgbClr val="26375A"/>
            </a:solidFill>
            <a:prstDash val="solid"/>
          </a:ln>
        </p:spPr>
      </p:sp>
      <p:sp>
        <p:nvSpPr>
          <p:cNvPr id="30" name="badge_30"/>
          <p:cNvSpPr/>
          <p:nvPr/>
        </p:nvSpPr>
        <p:spPr>
          <a:xfrm>
            <a:off x="8266176" y="3877056"/>
            <a:ext cx="621792" cy="621792"/>
          </a:xfrm>
          <a:prstGeom prst="ellipse">
            <a:avLst/>
          </a:prstGeom>
          <a:solidFill>
            <a:srgbClr val="E7157B">
              <a:alpha val="18000"/>
            </a:srgbClr>
          </a:solidFill>
          <a:ln w="15875">
            <a:solidFill>
              <a:srgbClr val="E7157B"/>
            </a:solidFill>
            <a:prstDash val="solid"/>
          </a:ln>
        </p:spPr>
      </p:sp>
      <p:pic>
        <p:nvPicPr>
          <p:cNvPr id="31" name="icon_31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34060" y="4044940"/>
            <a:ext cx="286024" cy="286024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8266176" y="4572000"/>
            <a:ext cx="3108960" cy="3101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800" b="1" dirty="0">
                <a:solidFill>
                  <a:srgbClr val="F1F5F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Compose</a:t>
            </a:r>
            <a:endParaRPr lang="en-US" sz="1800" dirty="0"/>
          </a:p>
        </p:txBody>
      </p:sp>
      <p:sp>
        <p:nvSpPr>
          <p:cNvPr id="33" name="Text 25"/>
          <p:cNvSpPr txBox="1"/>
          <p:nvPr/>
        </p:nvSpPr>
        <p:spPr>
          <a:xfrm>
            <a:off x="8266176" y="4918695"/>
            <a:ext cx="3108960" cy="466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9AA8B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 YAML file that starts several containers together, wired up correctly.</a:t>
            </a:r>
            <a:endParaRPr lang="en-US" sz="1200" dirty="0"/>
          </a:p>
        </p:txBody>
      </p:sp>
      <p:sp>
        <p:nvSpPr>
          <p:cNvPr id="34" name="panel_32"/>
          <p:cNvSpPr/>
          <p:nvPr/>
        </p:nvSpPr>
        <p:spPr>
          <a:xfrm>
            <a:off x="548640" y="5797296"/>
            <a:ext cx="11091672" cy="502920"/>
          </a:xfrm>
          <a:prstGeom prst="roundRect">
            <a:avLst>
              <a:gd name="adj" fmla="val 21818"/>
            </a:avLst>
          </a:prstGeom>
          <a:solidFill>
            <a:srgbClr val="1A2741"/>
          </a:solidFill>
          <a:ln w="12700">
            <a:solidFill>
              <a:srgbClr val="29B5E8"/>
            </a:solidFill>
            <a:prstDash val="solid"/>
          </a:ln>
        </p:spPr>
      </p:sp>
      <p:sp>
        <p:nvSpPr>
          <p:cNvPr id="35" name="Text 27"/>
          <p:cNvSpPr txBox="1"/>
          <p:nvPr/>
        </p:nvSpPr>
        <p:spPr>
          <a:xfrm>
            <a:off x="859536" y="5870448"/>
            <a:ext cx="1046988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F1F5F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If you remember only one: an image is the recipe baked into a file, a container is that file brought to life.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FF99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 EXAMPLE, ALL DAY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1F5F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 daily sales report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36192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9AA8B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 slide today uses the same small job, so you are only ever learning one new thing at a time. Here it is.</a:t>
            </a:r>
            <a:endParaRPr lang="en-US" sz="1500" dirty="0"/>
          </a:p>
        </p:txBody>
      </p:sp>
      <p:sp>
        <p:nvSpPr>
          <p:cNvPr id="5" name="panel_33"/>
          <p:cNvSpPr/>
          <p:nvPr/>
        </p:nvSpPr>
        <p:spPr>
          <a:xfrm>
            <a:off x="548640" y="2011680"/>
            <a:ext cx="2594610" cy="1691640"/>
          </a:xfrm>
          <a:prstGeom prst="roundRect">
            <a:avLst>
              <a:gd name="adj" fmla="val 6486"/>
            </a:avLst>
          </a:prstGeom>
          <a:solidFill>
            <a:srgbClr val="131D31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2157984"/>
            <a:ext cx="222885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FF990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01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468880"/>
            <a:ext cx="22288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F1F5F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Read sales.csv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2944368"/>
            <a:ext cx="222885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9AA8B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Yesterday's orders arrive as a CSV file.</a:t>
            </a:r>
            <a:endParaRPr lang="en-US" sz="1250" dirty="0"/>
          </a:p>
        </p:txBody>
      </p:sp>
      <p:sp>
        <p:nvSpPr>
          <p:cNvPr id="9" name="arrow_34"/>
          <p:cNvSpPr/>
          <p:nvPr/>
        </p:nvSpPr>
        <p:spPr>
          <a:xfrm>
            <a:off x="3170682" y="2775204"/>
            <a:ext cx="182880" cy="164592"/>
          </a:xfrm>
          <a:prstGeom prst="rightArrow">
            <a:avLst/>
          </a:prstGeom>
          <a:solidFill>
            <a:srgbClr val="26375A"/>
          </a:solidFill>
          <a:ln w="12700">
            <a:solidFill>
              <a:srgbClr val="26375A"/>
            </a:solidFill>
            <a:prstDash val="solid"/>
          </a:ln>
        </p:spPr>
      </p:sp>
      <p:sp>
        <p:nvSpPr>
          <p:cNvPr id="10" name="panel_35"/>
          <p:cNvSpPr/>
          <p:nvPr/>
        </p:nvSpPr>
        <p:spPr>
          <a:xfrm>
            <a:off x="3380994" y="2011680"/>
            <a:ext cx="2594610" cy="1691640"/>
          </a:xfrm>
          <a:prstGeom prst="roundRect">
            <a:avLst>
              <a:gd name="adj" fmla="val 6486"/>
            </a:avLst>
          </a:prstGeom>
          <a:solidFill>
            <a:srgbClr val="131D31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563874" y="2157984"/>
            <a:ext cx="222885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2DD4B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02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3563874" y="2468880"/>
            <a:ext cx="22288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F1F5F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Clean it in Python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3563874" y="2944368"/>
            <a:ext cx="222885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9AA8B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Drop bad rows, fix the date column, add a total.</a:t>
            </a:r>
            <a:endParaRPr lang="en-US" sz="1250" dirty="0"/>
          </a:p>
        </p:txBody>
      </p:sp>
      <p:sp>
        <p:nvSpPr>
          <p:cNvPr id="14" name="arrow_36"/>
          <p:cNvSpPr/>
          <p:nvPr/>
        </p:nvSpPr>
        <p:spPr>
          <a:xfrm>
            <a:off x="6003036" y="2775204"/>
            <a:ext cx="182880" cy="164592"/>
          </a:xfrm>
          <a:prstGeom prst="rightArrow">
            <a:avLst/>
          </a:prstGeom>
          <a:solidFill>
            <a:srgbClr val="26375A"/>
          </a:solidFill>
          <a:ln w="12700">
            <a:solidFill>
              <a:srgbClr val="26375A"/>
            </a:solidFill>
            <a:prstDash val="solid"/>
          </a:ln>
        </p:spPr>
      </p:sp>
      <p:sp>
        <p:nvSpPr>
          <p:cNvPr id="15" name="panel_37"/>
          <p:cNvSpPr/>
          <p:nvPr/>
        </p:nvSpPr>
        <p:spPr>
          <a:xfrm>
            <a:off x="6213348" y="2011680"/>
            <a:ext cx="2594610" cy="1691640"/>
          </a:xfrm>
          <a:prstGeom prst="roundRect">
            <a:avLst>
              <a:gd name="adj" fmla="val 6486"/>
            </a:avLst>
          </a:prstGeom>
          <a:solidFill>
            <a:srgbClr val="131D31"/>
          </a:solidFill>
          <a:ln w="12700">
            <a:solidFill>
              <a:srgbClr val="29B5E8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396228" y="2157984"/>
            <a:ext cx="222885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29B5E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03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6396228" y="2468880"/>
            <a:ext cx="22288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F1F5F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Load into Postgres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6396228" y="2944368"/>
            <a:ext cx="222885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9AA8B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Write the clean rows into a database table.</a:t>
            </a:r>
            <a:endParaRPr lang="en-US" sz="1250" dirty="0"/>
          </a:p>
        </p:txBody>
      </p:sp>
      <p:sp>
        <p:nvSpPr>
          <p:cNvPr id="19" name="arrow_38"/>
          <p:cNvSpPr/>
          <p:nvPr/>
        </p:nvSpPr>
        <p:spPr>
          <a:xfrm>
            <a:off x="8835390" y="2775204"/>
            <a:ext cx="182880" cy="164592"/>
          </a:xfrm>
          <a:prstGeom prst="rightArrow">
            <a:avLst/>
          </a:prstGeom>
          <a:solidFill>
            <a:srgbClr val="26375A"/>
          </a:solidFill>
          <a:ln w="12700">
            <a:solidFill>
              <a:srgbClr val="26375A"/>
            </a:solidFill>
            <a:prstDash val="solid"/>
          </a:ln>
        </p:spPr>
      </p:sp>
      <p:sp>
        <p:nvSpPr>
          <p:cNvPr id="20" name="panel_39"/>
          <p:cNvSpPr/>
          <p:nvPr/>
        </p:nvSpPr>
        <p:spPr>
          <a:xfrm>
            <a:off x="9045702" y="2011680"/>
            <a:ext cx="2594610" cy="1691640"/>
          </a:xfrm>
          <a:prstGeom prst="roundRect">
            <a:avLst>
              <a:gd name="adj" fmla="val 6486"/>
            </a:avLst>
          </a:prstGeom>
          <a:solidFill>
            <a:srgbClr val="131D31"/>
          </a:solidFill>
          <a:ln w="12700">
            <a:solidFill>
              <a:srgbClr val="8C4FF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9228582" y="2157984"/>
            <a:ext cx="222885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8C4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04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9228582" y="2468880"/>
            <a:ext cx="22288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F1F5F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Print a summary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9228582" y="2944368"/>
            <a:ext cx="222885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9AA8B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“412 rows loaded, PKR 1.2M in sales.”</a:t>
            </a:r>
            <a:endParaRPr lang="en-US" sz="1250" dirty="0"/>
          </a:p>
        </p:txBody>
      </p:sp>
      <p:sp>
        <p:nvSpPr>
          <p:cNvPr id="24" name="panel_40"/>
          <p:cNvSpPr/>
          <p:nvPr/>
        </p:nvSpPr>
        <p:spPr>
          <a:xfrm>
            <a:off x="548640" y="3931920"/>
            <a:ext cx="5394960" cy="1828800"/>
          </a:xfrm>
          <a:prstGeom prst="roundRect">
            <a:avLst>
              <a:gd name="adj" fmla="val 6000"/>
            </a:avLst>
          </a:prstGeom>
          <a:solidFill>
            <a:srgbClr val="131D31"/>
          </a:solidFill>
          <a:ln w="12700">
            <a:solidFill>
              <a:srgbClr val="F2545B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822960" y="4133088"/>
            <a:ext cx="4846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F2545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THIS JOB NEEDS TO RUN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822960" y="4498848"/>
            <a:ext cx="4846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9AA8B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Python 3.11 — not 3.9, not 3.13</a:t>
            </a:r>
            <a:endParaRPr lang="en-US" sz="1350" dirty="0"/>
          </a:p>
          <a:p>
            <a:pPr marL="203200" indent="-2032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9AA8B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pandas, psycopg2, python-dotenv</a:t>
            </a:r>
            <a:endParaRPr lang="en-US" sz="1350" dirty="0"/>
          </a:p>
          <a:p>
            <a:pPr marL="203200" indent="-2032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9AA8B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running PostgreSQL server</a:t>
            </a:r>
            <a:endParaRPr lang="en-US" sz="1350" dirty="0"/>
          </a:p>
          <a:p>
            <a:pPr marL="203200" indent="-2032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9AA8B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database user, password and table</a:t>
            </a:r>
            <a:endParaRPr lang="en-US" sz="1350" dirty="0"/>
          </a:p>
          <a:p>
            <a:pPr marL="203200" indent="-2032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9AA8B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CSV file in the right folder</a:t>
            </a:r>
            <a:endParaRPr lang="en-US" sz="1350" dirty="0"/>
          </a:p>
        </p:txBody>
      </p:sp>
      <p:sp>
        <p:nvSpPr>
          <p:cNvPr id="27" name="panel_41"/>
          <p:cNvSpPr/>
          <p:nvPr/>
        </p:nvSpPr>
        <p:spPr>
          <a:xfrm>
            <a:off x="6245352" y="3931920"/>
            <a:ext cx="5394960" cy="1828800"/>
          </a:xfrm>
          <a:prstGeom prst="roundRect">
            <a:avLst>
              <a:gd name="adj" fmla="val 6000"/>
            </a:avLst>
          </a:prstGeom>
          <a:solidFill>
            <a:srgbClr val="1A2741"/>
          </a:solidFill>
          <a:ln w="12700">
            <a:solidFill>
              <a:srgbClr val="7AA116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519672" y="4133088"/>
            <a:ext cx="4846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7AA11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YOU WILL DO BY 5 PM</a:t>
            </a:r>
            <a:endParaRPr lang="en-US" sz="1100" dirty="0"/>
          </a:p>
        </p:txBody>
      </p:sp>
      <p:sp>
        <p:nvSpPr>
          <p:cNvPr id="29" name="Text 27"/>
          <p:cNvSpPr txBox="1"/>
          <p:nvPr/>
        </p:nvSpPr>
        <p:spPr>
          <a:xfrm>
            <a:off x="6519672" y="4498848"/>
            <a:ext cx="4846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Package all of that into one image</a:t>
            </a:r>
            <a:endParaRPr lang="en-US" sz="1350" dirty="0"/>
          </a:p>
          <a:p>
            <a:pPr marL="203200" indent="-2032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Start Postgres without installing it</a:t>
            </a:r>
            <a:endParaRPr lang="en-US" sz="1350" dirty="0"/>
          </a:p>
          <a:p>
            <a:pPr marL="203200" indent="-2032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Start both with a single command</a:t>
            </a:r>
            <a:endParaRPr lang="en-US" sz="1350" dirty="0"/>
          </a:p>
          <a:p>
            <a:pPr marL="203200" indent="-2032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Hand it to the person next to you</a:t>
            </a:r>
            <a:endParaRPr lang="en-US" sz="1350" dirty="0"/>
          </a:p>
          <a:p>
            <a:pPr marL="203200" indent="-2032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Watch it work on their laptop too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822960" y="1554480"/>
            <a:ext cx="5486400" cy="1463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1000" b="1" dirty="0">
                <a:solidFill>
                  <a:srgbClr val="FF990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01</a:t>
            </a:r>
            <a:endParaRPr lang="en-US" sz="110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822960" y="310896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1F5F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Why containers exist</a:t>
            </a:r>
            <a:endParaRPr lang="en-US" sz="4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822960" y="4160520"/>
            <a:ext cx="9144000" cy="109728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2000" dirty="0">
                <a:solidFill>
                  <a:srgbClr val="9AA8B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problem nobody warns you about until it costs you a week</a:t>
            </a:r>
            <a:endParaRPr lang="en-US" sz="2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FF99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TRUE STORY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1F5F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Monday, 9 AM</a:t>
            </a:r>
            <a:endParaRPr lang="en-US" sz="3200" dirty="0"/>
          </a:p>
        </p:txBody>
      </p:sp>
      <p:sp>
        <p:nvSpPr>
          <p:cNvPr id="4" name="panel_42"/>
          <p:cNvSpPr/>
          <p:nvPr/>
        </p:nvSpPr>
        <p:spPr>
          <a:xfrm>
            <a:off x="548640" y="1572768"/>
            <a:ext cx="7589520" cy="1115568"/>
          </a:xfrm>
          <a:prstGeom prst="roundRect">
            <a:avLst>
              <a:gd name="adj" fmla="val 9836"/>
            </a:avLst>
          </a:prstGeom>
          <a:solidFill>
            <a:srgbClr val="131D31"/>
          </a:solidFill>
          <a:ln w="12700">
            <a:solidFill>
              <a:srgbClr val="26375A"/>
            </a:solidFill>
            <a:prstDash val="solid"/>
          </a:ln>
        </p:spPr>
      </p:sp>
      <p:sp>
        <p:nvSpPr>
          <p:cNvPr id="5" name="badge_43"/>
          <p:cNvSpPr/>
          <p:nvPr/>
        </p:nvSpPr>
        <p:spPr>
          <a:xfrm>
            <a:off x="731520" y="1755648"/>
            <a:ext cx="530352" cy="530352"/>
          </a:xfrm>
          <a:prstGeom prst="ellipse">
            <a:avLst/>
          </a:prstGeom>
          <a:solidFill>
            <a:srgbClr val="7AA116">
              <a:alpha val="18000"/>
            </a:srgbClr>
          </a:solidFill>
          <a:ln w="15875">
            <a:solidFill>
              <a:srgbClr val="7AA116"/>
            </a:solidFill>
            <a:prstDash val="solid"/>
          </a:ln>
        </p:spPr>
      </p:sp>
      <p:pic>
        <p:nvPicPr>
          <p:cNvPr id="6" name="icon_44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4715" y="1898843"/>
            <a:ext cx="243962" cy="24396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463040" y="1737360"/>
            <a:ext cx="6492240" cy="2842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650" b="1" dirty="0">
                <a:solidFill>
                  <a:srgbClr val="F1F5F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You finish the script</a:t>
            </a:r>
            <a:endParaRPr lang="en-US" sz="1650" dirty="0"/>
          </a:p>
        </p:txBody>
      </p:sp>
      <p:sp>
        <p:nvSpPr>
          <p:cNvPr id="8" name="Text 5"/>
          <p:cNvSpPr txBox="1"/>
          <p:nvPr/>
        </p:nvSpPr>
        <p:spPr>
          <a:xfrm>
            <a:off x="1463040" y="2067356"/>
            <a:ext cx="6492240" cy="4273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9AA8B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sales ETL runs on your laptop. 412 rows loaded. You are proud. You push to GitHub.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6675120" y="1755648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7AA11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09:00</a:t>
            </a:r>
            <a:endParaRPr lang="en-US" sz="1700" dirty="0"/>
          </a:p>
        </p:txBody>
      </p:sp>
      <p:sp>
        <p:nvSpPr>
          <p:cNvPr id="10" name="panel_45"/>
          <p:cNvSpPr/>
          <p:nvPr/>
        </p:nvSpPr>
        <p:spPr>
          <a:xfrm>
            <a:off x="548640" y="2761488"/>
            <a:ext cx="7589520" cy="1115568"/>
          </a:xfrm>
          <a:prstGeom prst="roundRect">
            <a:avLst>
              <a:gd name="adj" fmla="val 9836"/>
            </a:avLst>
          </a:prstGeom>
          <a:solidFill>
            <a:srgbClr val="131D31"/>
          </a:solidFill>
          <a:ln w="12700">
            <a:solidFill>
              <a:srgbClr val="26375A"/>
            </a:solidFill>
            <a:prstDash val="solid"/>
          </a:ln>
        </p:spPr>
      </p:sp>
      <p:sp>
        <p:nvSpPr>
          <p:cNvPr id="11" name="badge_46"/>
          <p:cNvSpPr/>
          <p:nvPr/>
        </p:nvSpPr>
        <p:spPr>
          <a:xfrm>
            <a:off x="731520" y="2944368"/>
            <a:ext cx="530352" cy="530352"/>
          </a:xfrm>
          <a:prstGeom prst="ellipse">
            <a:avLst/>
          </a:prstGeom>
          <a:solidFill>
            <a:srgbClr val="FF9900">
              <a:alpha val="18000"/>
            </a:srgbClr>
          </a:solidFill>
          <a:ln w="15875">
            <a:solidFill>
              <a:srgbClr val="FF9900"/>
            </a:solidFill>
            <a:prstDash val="solid"/>
          </a:ln>
        </p:spPr>
      </p:sp>
      <p:pic>
        <p:nvPicPr>
          <p:cNvPr id="12" name="icon_47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4715" y="3087563"/>
            <a:ext cx="243962" cy="243962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1463040" y="2926080"/>
            <a:ext cx="6492240" cy="2842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650" b="1" dirty="0">
                <a:solidFill>
                  <a:srgbClr val="F1F5F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 teammate pulls it</a:t>
            </a:r>
            <a:endParaRPr lang="en-US" sz="1650" dirty="0"/>
          </a:p>
        </p:txBody>
      </p:sp>
      <p:sp>
        <p:nvSpPr>
          <p:cNvPr id="14" name="Text 10"/>
          <p:cNvSpPr txBox="1"/>
          <p:nvPr/>
        </p:nvSpPr>
        <p:spPr>
          <a:xfrm>
            <a:off x="1463040" y="3256076"/>
            <a:ext cx="6492240" cy="233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9AA8B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They run it. ModuleNotFoundError: pandas. You tell them to pip install pandas.</a:t>
            </a:r>
            <a:endParaRPr lang="en-US" sz="1200" dirty="0"/>
          </a:p>
        </p:txBody>
      </p:sp>
      <p:sp>
        <p:nvSpPr>
          <p:cNvPr id="15" name="Text 11"/>
          <p:cNvSpPr txBox="1"/>
          <p:nvPr/>
        </p:nvSpPr>
        <p:spPr>
          <a:xfrm>
            <a:off x="6675120" y="2944368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FF990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11:00</a:t>
            </a:r>
            <a:endParaRPr lang="en-US" sz="1700" dirty="0"/>
          </a:p>
        </p:txBody>
      </p:sp>
      <p:sp>
        <p:nvSpPr>
          <p:cNvPr id="16" name="panel_48"/>
          <p:cNvSpPr/>
          <p:nvPr/>
        </p:nvSpPr>
        <p:spPr>
          <a:xfrm>
            <a:off x="548640" y="3950208"/>
            <a:ext cx="7589520" cy="1115568"/>
          </a:xfrm>
          <a:prstGeom prst="roundRect">
            <a:avLst>
              <a:gd name="adj" fmla="val 9836"/>
            </a:avLst>
          </a:prstGeom>
          <a:solidFill>
            <a:srgbClr val="131D31"/>
          </a:solidFill>
          <a:ln w="12700">
            <a:solidFill>
              <a:srgbClr val="26375A"/>
            </a:solidFill>
            <a:prstDash val="solid"/>
          </a:ln>
        </p:spPr>
      </p:sp>
      <p:sp>
        <p:nvSpPr>
          <p:cNvPr id="17" name="badge_49"/>
          <p:cNvSpPr/>
          <p:nvPr/>
        </p:nvSpPr>
        <p:spPr>
          <a:xfrm>
            <a:off x="731520" y="4133088"/>
            <a:ext cx="530352" cy="530352"/>
          </a:xfrm>
          <a:prstGeom prst="ellipse">
            <a:avLst/>
          </a:prstGeom>
          <a:solidFill>
            <a:srgbClr val="E7157B">
              <a:alpha val="18000"/>
            </a:srgbClr>
          </a:solidFill>
          <a:ln w="15875">
            <a:solidFill>
              <a:srgbClr val="E7157B"/>
            </a:solidFill>
            <a:prstDash val="solid"/>
          </a:ln>
        </p:spPr>
      </p:sp>
      <p:pic>
        <p:nvPicPr>
          <p:cNvPr id="18" name="icon_50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4715" y="4276283"/>
            <a:ext cx="243962" cy="243962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1463040" y="4114800"/>
            <a:ext cx="6492240" cy="2842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650" b="1" dirty="0">
                <a:solidFill>
                  <a:srgbClr val="F1F5F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Still broken</a:t>
            </a:r>
            <a:endParaRPr lang="en-US" sz="1650" dirty="0"/>
          </a:p>
        </p:txBody>
      </p:sp>
      <p:sp>
        <p:nvSpPr>
          <p:cNvPr id="20" name="Text 15"/>
          <p:cNvSpPr txBox="1"/>
          <p:nvPr/>
        </p:nvSpPr>
        <p:spPr>
          <a:xfrm>
            <a:off x="1463040" y="4444796"/>
            <a:ext cx="6492240" cy="4273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9AA8B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Now psycopg2 will not build on their Mac. Then their Python is 3.9 and your code uses a 3.11 feature.</a:t>
            </a:r>
            <a:endParaRPr lang="en-US" sz="1100" dirty="0"/>
          </a:p>
        </p:txBody>
      </p:sp>
      <p:sp>
        <p:nvSpPr>
          <p:cNvPr id="21" name="Text 16"/>
          <p:cNvSpPr txBox="1"/>
          <p:nvPr/>
        </p:nvSpPr>
        <p:spPr>
          <a:xfrm>
            <a:off x="6675120" y="4133088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E7157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14:00</a:t>
            </a:r>
            <a:endParaRPr lang="en-US" sz="1700" dirty="0"/>
          </a:p>
        </p:txBody>
      </p:sp>
      <p:sp>
        <p:nvSpPr>
          <p:cNvPr id="22" name="panel_51"/>
          <p:cNvSpPr/>
          <p:nvPr/>
        </p:nvSpPr>
        <p:spPr>
          <a:xfrm>
            <a:off x="548640" y="5138928"/>
            <a:ext cx="7589520" cy="1115568"/>
          </a:xfrm>
          <a:prstGeom prst="roundRect">
            <a:avLst>
              <a:gd name="adj" fmla="val 9836"/>
            </a:avLst>
          </a:prstGeom>
          <a:solidFill>
            <a:srgbClr val="131D31"/>
          </a:solidFill>
          <a:ln w="12700">
            <a:solidFill>
              <a:srgbClr val="26375A"/>
            </a:solidFill>
            <a:prstDash val="solid"/>
          </a:ln>
        </p:spPr>
      </p:sp>
      <p:sp>
        <p:nvSpPr>
          <p:cNvPr id="23" name="badge_52"/>
          <p:cNvSpPr/>
          <p:nvPr/>
        </p:nvSpPr>
        <p:spPr>
          <a:xfrm>
            <a:off x="731520" y="5321808"/>
            <a:ext cx="530352" cy="530352"/>
          </a:xfrm>
          <a:prstGeom prst="ellipse">
            <a:avLst/>
          </a:prstGeom>
          <a:solidFill>
            <a:srgbClr val="F2545B">
              <a:alpha val="18000"/>
            </a:srgbClr>
          </a:solidFill>
          <a:ln w="15875">
            <a:solidFill>
              <a:srgbClr val="F2545B"/>
            </a:solidFill>
            <a:prstDash val="solid"/>
          </a:ln>
        </p:spPr>
      </p:sp>
      <p:pic>
        <p:nvPicPr>
          <p:cNvPr id="24" name="icon_5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4715" y="5465003"/>
            <a:ext cx="243962" cy="243962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1463040" y="5303520"/>
            <a:ext cx="6492240" cy="2842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650" b="1" dirty="0">
                <a:solidFill>
                  <a:srgbClr val="F1F5F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It runs on the server</a:t>
            </a:r>
            <a:endParaRPr lang="en-US" sz="1650" dirty="0"/>
          </a:p>
        </p:txBody>
      </p:sp>
      <p:sp>
        <p:nvSpPr>
          <p:cNvPr id="26" name="Text 20"/>
          <p:cNvSpPr txBox="1"/>
          <p:nvPr/>
        </p:nvSpPr>
        <p:spPr>
          <a:xfrm>
            <a:off x="1463040" y="5633516"/>
            <a:ext cx="6492240" cy="4273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9AA8B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… and crashes. The server has no PostgreSQL client library. Nobody knows who installed what.</a:t>
            </a:r>
            <a:endParaRPr lang="en-US" sz="1100" dirty="0"/>
          </a:p>
        </p:txBody>
      </p:sp>
      <p:sp>
        <p:nvSpPr>
          <p:cNvPr id="27" name="Text 21"/>
          <p:cNvSpPr txBox="1"/>
          <p:nvPr/>
        </p:nvSpPr>
        <p:spPr>
          <a:xfrm>
            <a:off x="6675120" y="5321808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F2545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17:00</a:t>
            </a:r>
            <a:endParaRPr lang="en-US" sz="1700" dirty="0"/>
          </a:p>
        </p:txBody>
      </p:sp>
      <p:sp>
        <p:nvSpPr>
          <p:cNvPr id="28" name="panel_54"/>
          <p:cNvSpPr/>
          <p:nvPr/>
        </p:nvSpPr>
        <p:spPr>
          <a:xfrm>
            <a:off x="8366760" y="1572768"/>
            <a:ext cx="3273552" cy="4681728"/>
          </a:xfrm>
          <a:prstGeom prst="roundRect">
            <a:avLst>
              <a:gd name="adj" fmla="val 3352"/>
            </a:avLst>
          </a:prstGeom>
          <a:solidFill>
            <a:srgbClr val="1A2741"/>
          </a:solidFill>
          <a:ln w="12700">
            <a:solidFill>
              <a:srgbClr val="F2545B"/>
            </a:solidFill>
            <a:prstDash val="solid"/>
          </a:ln>
        </p:spPr>
      </p:sp>
      <p:sp>
        <p:nvSpPr>
          <p:cNvPr id="29" name="Text 23"/>
          <p:cNvSpPr txBox="1"/>
          <p:nvPr/>
        </p:nvSpPr>
        <p:spPr>
          <a:xfrm>
            <a:off x="8641080" y="1792224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F2545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REAL COST</a:t>
            </a:r>
            <a:endParaRPr lang="en-US" sz="1100" dirty="0"/>
          </a:p>
        </p:txBody>
      </p:sp>
      <p:sp>
        <p:nvSpPr>
          <p:cNvPr id="30" name="Text 24"/>
          <p:cNvSpPr txBox="1"/>
          <p:nvPr/>
        </p:nvSpPr>
        <p:spPr>
          <a:xfrm>
            <a:off x="8641080" y="2157984"/>
            <a:ext cx="27249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400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 day of your life, one day of theirs, and the script still is not running in production.</a:t>
            </a:r>
            <a:endParaRPr lang="en-US" sz="1400" dirty="0"/>
          </a:p>
        </p:txBody>
      </p:sp>
      <p:sp>
        <p:nvSpPr>
          <p:cNvPr id="31" name="Text 25"/>
          <p:cNvSpPr txBox="1"/>
          <p:nvPr/>
        </p:nvSpPr>
        <p:spPr>
          <a:xfrm>
            <a:off x="8641080" y="320040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FF99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AND THE WORST PART</a:t>
            </a:r>
            <a:endParaRPr lang="en-US" sz="1100" dirty="0"/>
          </a:p>
        </p:txBody>
      </p:sp>
      <p:sp>
        <p:nvSpPr>
          <p:cNvPr id="32" name="Text 26"/>
          <p:cNvSpPr txBox="1"/>
          <p:nvPr/>
        </p:nvSpPr>
        <p:spPr>
          <a:xfrm>
            <a:off x="8641080" y="3566160"/>
            <a:ext cx="272491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400" dirty="0">
                <a:solidFill>
                  <a:srgbClr val="9AA8B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Nothing was wrong with your code. Every single failure was about the machine around the code — versions, libraries, the operating system.</a:t>
            </a:r>
            <a:endParaRPr lang="en-US" sz="1400" dirty="0"/>
          </a:p>
        </p:txBody>
      </p:sp>
      <p:sp>
        <p:nvSpPr>
          <p:cNvPr id="33" name="Text 27"/>
          <p:cNvSpPr txBox="1"/>
          <p:nvPr/>
        </p:nvSpPr>
        <p:spPr>
          <a:xfrm>
            <a:off x="8641080" y="5440680"/>
            <a:ext cx="27249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50" b="1" dirty="0">
                <a:solidFill>
                  <a:srgbClr val="29B5E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Docker fixes the machine, not the code.</a:t>
            </a:r>
            <a:endParaRPr lang="en-US" sz="14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FF99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DIG ONE LEVEL DOWN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1F5F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What is actually different between two laptops?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36192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9AA8B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“It works on my machine” is never magic. It is always one of these five things.</a:t>
            </a:r>
            <a:endParaRPr lang="en-US" sz="1500" dirty="0"/>
          </a:p>
        </p:txBody>
      </p:sp>
      <p:graphicFrame>
        <p:nvGraphicFramePr>
          <p:cNvPr id="8" name="table_5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965960"/>
          <a:ext cx="11091672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2834640"/>
                <a:gridCol w="2834640"/>
                <a:gridCol w="3136392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1F5F9"/>
                          </a:solidFill>
                          <a:latin typeface="Segoe UI Semibold" pitchFamily="34" charset="0"/>
                          <a:ea typeface="Segoe UI Semibold" pitchFamily="34" charset="-122"/>
                          <a:cs typeface="Segoe UI Semibold" pitchFamily="34" charset="-120"/>
                        </a:rPr>
                        <a:t>What differs</a:t>
                      </a:r>
                      <a:endParaRPr lang="en-US" sz="1300" dirty="0">
                        <a:latin typeface="Segoe UI Semibold" charset="0"/>
                        <a:ea typeface="Segoe UI Semibold" charset="0"/>
                        <a:cs typeface="Segoe UI Semibold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263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3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3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3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B4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1F5F9"/>
                          </a:solidFill>
                          <a:latin typeface="Segoe UI Semibold" pitchFamily="34" charset="0"/>
                          <a:ea typeface="Segoe UI Semibold" pitchFamily="34" charset="-122"/>
                          <a:cs typeface="Segoe UI Semibold" pitchFamily="34" charset="-120"/>
                        </a:rPr>
                        <a:t>Your laptop</a:t>
                      </a:r>
                      <a:endParaRPr lang="en-US" sz="1300" dirty="0">
                        <a:latin typeface="Segoe UI Semibold" charset="0"/>
                        <a:ea typeface="Segoe UI Semibold" charset="0"/>
                        <a:cs typeface="Segoe UI Semibold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263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3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3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3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B4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1F5F9"/>
                          </a:solidFill>
                          <a:latin typeface="Segoe UI Semibold" pitchFamily="34" charset="0"/>
                          <a:ea typeface="Segoe UI Semibold" pitchFamily="34" charset="-122"/>
                          <a:cs typeface="Segoe UI Semibold" pitchFamily="34" charset="-120"/>
                        </a:rPr>
                        <a:t>Their laptop</a:t>
                      </a:r>
                      <a:endParaRPr lang="en-US" sz="1300" dirty="0">
                        <a:latin typeface="Segoe UI Semibold" charset="0"/>
                        <a:ea typeface="Segoe UI Semibold" charset="0"/>
                        <a:cs typeface="Segoe UI Semibold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263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3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3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3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B4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1F5F9"/>
                          </a:solidFill>
                          <a:latin typeface="Segoe UI Semibold" pitchFamily="34" charset="0"/>
                          <a:ea typeface="Segoe UI Semibold" pitchFamily="34" charset="-122"/>
                          <a:cs typeface="Segoe UI Semibold" pitchFamily="34" charset="-120"/>
                        </a:rPr>
                        <a:t>Why it breaks</a:t>
                      </a:r>
                      <a:endParaRPr lang="en-US" sz="1300" dirty="0">
                        <a:latin typeface="Segoe UI Semibold" charset="0"/>
                        <a:ea typeface="Segoe UI Semibold" charset="0"/>
                        <a:cs typeface="Segoe UI Semibold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263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3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3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3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B49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1F5F9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Python version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263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3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3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3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1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9AA8BD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3.11.6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263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3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3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3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1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9AA8BD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3.9.2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263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3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3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3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1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9AA8BD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match is not supported before 3.10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263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3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3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3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13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1F5F9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Libraries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263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3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3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3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B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9AA8BD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pandas 2.2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263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3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3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3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B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9AA8BD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pandas 1.3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263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3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3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3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B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9AA8BD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.map on a DataFrame does not exist yet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263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3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3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3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B2E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1F5F9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Operating system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263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3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3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3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1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9AA8BD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Windows 11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263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3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3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3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1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9AA8BD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macOS on Apple silicon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263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3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3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3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1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9AA8BD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psycopg2 needs different compiled code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263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3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3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3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13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1F5F9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System packages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263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3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3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3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B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9AA8BD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libpq installed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263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3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3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3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B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9AA8BD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not installed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263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3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3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3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B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9AA8BD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the Postgres driver cannot even import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263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3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3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3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B2E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1F5F9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Environment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263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3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3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3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1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9AA8BD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DB_PASSWORD set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263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3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3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3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1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9AA8BD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not set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263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3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3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3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1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9AA8BD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the connection string is empty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263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3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3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3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13A"/>
                    </a:solidFill>
                  </a:tcPr>
                </a:tc>
              </a:tr>
            </a:tbl>
          </a:graphicData>
        </a:graphic>
      </p:graphicFrame>
      <p:sp>
        <p:nvSpPr>
          <p:cNvPr id="6" name="panel_56"/>
          <p:cNvSpPr/>
          <p:nvPr/>
        </p:nvSpPr>
        <p:spPr>
          <a:xfrm>
            <a:off x="548640" y="5577840"/>
            <a:ext cx="11091672" cy="658368"/>
          </a:xfrm>
          <a:prstGeom prst="roundRect">
            <a:avLst>
              <a:gd name="adj" fmla="val 16667"/>
            </a:avLst>
          </a:prstGeom>
          <a:solidFill>
            <a:srgbClr val="1A2741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59536" y="5650992"/>
            <a:ext cx="104698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450" b="1" dirty="0">
                <a:solidFill>
                  <a:srgbClr val="F1F5F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 README cannot fix this. A README is a list of things a human has to get right, and humans do not.</a:t>
            </a:r>
            <a:endParaRPr lang="en-US" sz="14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FF99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ATTEMPTS BEFORE DOCKER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1F5F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Three fixes that each got partway</a:t>
            </a:r>
            <a:endParaRPr lang="en-US" sz="3200" dirty="0"/>
          </a:p>
        </p:txBody>
      </p:sp>
      <p:sp>
        <p:nvSpPr>
          <p:cNvPr id="4" name="panel_57"/>
          <p:cNvSpPr/>
          <p:nvPr/>
        </p:nvSpPr>
        <p:spPr>
          <a:xfrm>
            <a:off x="548640" y="1572768"/>
            <a:ext cx="3511296" cy="4206240"/>
          </a:xfrm>
          <a:prstGeom prst="roundRect">
            <a:avLst>
              <a:gd name="adj" fmla="val 3125"/>
            </a:avLst>
          </a:prstGeom>
          <a:solidFill>
            <a:srgbClr val="131D31"/>
          </a:solidFill>
          <a:ln w="12700">
            <a:solidFill>
              <a:srgbClr val="5B6B85"/>
            </a:solidFill>
            <a:prstDash val="solid"/>
          </a:ln>
        </p:spPr>
      </p:sp>
      <p:sp>
        <p:nvSpPr>
          <p:cNvPr id="5" name="badge_58"/>
          <p:cNvSpPr/>
          <p:nvPr/>
        </p:nvSpPr>
        <p:spPr>
          <a:xfrm>
            <a:off x="768096" y="1792224"/>
            <a:ext cx="566928" cy="566928"/>
          </a:xfrm>
          <a:prstGeom prst="ellipse">
            <a:avLst/>
          </a:prstGeom>
          <a:solidFill>
            <a:srgbClr val="5B6B85">
              <a:alpha val="18000"/>
            </a:srgbClr>
          </a:solidFill>
          <a:ln w="15875">
            <a:solidFill>
              <a:srgbClr val="5B6B85"/>
            </a:solidFill>
            <a:prstDash val="solid"/>
          </a:ln>
        </p:spPr>
      </p:sp>
      <p:pic>
        <p:nvPicPr>
          <p:cNvPr id="6" name="icon_59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1167" y="1945295"/>
            <a:ext cx="260787" cy="260787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768096" y="2468880"/>
            <a:ext cx="30723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50" b="1" dirty="0">
                <a:solidFill>
                  <a:srgbClr val="F1F5F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Write a README</a:t>
            </a:r>
            <a:endParaRPr lang="en-US" sz="1750" dirty="0"/>
          </a:p>
        </p:txBody>
      </p:sp>
      <p:sp>
        <p:nvSpPr>
          <p:cNvPr id="8" name="Text 5"/>
          <p:cNvSpPr txBox="1"/>
          <p:nvPr/>
        </p:nvSpPr>
        <p:spPr>
          <a:xfrm>
            <a:off x="768096" y="2852928"/>
            <a:ext cx="307238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9AA8B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“Install Python 3.11, then pip install -r requirements.txt, then…”</a:t>
            </a:r>
            <a:endParaRPr lang="en-US" sz="1300" dirty="0"/>
          </a:p>
        </p:txBody>
      </p:sp>
      <p:sp>
        <p:nvSpPr>
          <p:cNvPr id="9" name="pill_60"/>
          <p:cNvSpPr/>
          <p:nvPr/>
        </p:nvSpPr>
        <p:spPr>
          <a:xfrm>
            <a:off x="768096" y="3749040"/>
            <a:ext cx="3072384" cy="292608"/>
          </a:xfrm>
          <a:prstGeom prst="roundRect">
            <a:avLst>
              <a:gd name="adj" fmla="val 53125"/>
            </a:avLst>
          </a:prstGeom>
          <a:solidFill>
            <a:srgbClr val="7AA116">
              <a:alpha val="15000"/>
            </a:srgbClr>
          </a:solidFill>
          <a:ln w="12700">
            <a:solidFill>
              <a:srgbClr val="7AA116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68096" y="3749040"/>
            <a:ext cx="30723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7AA11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GOOD</a:t>
            </a:r>
            <a:endParaRPr lang="en-US" sz="1050" dirty="0"/>
          </a:p>
        </p:txBody>
      </p:sp>
      <p:sp>
        <p:nvSpPr>
          <p:cNvPr id="11" name="Text 8"/>
          <p:cNvSpPr txBox="1"/>
          <p:nvPr/>
        </p:nvSpPr>
        <p:spPr>
          <a:xfrm>
            <a:off x="768096" y="4114800"/>
            <a:ext cx="30723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Costs nothing</a:t>
            </a:r>
            <a:endParaRPr lang="en-US" sz="1300" dirty="0"/>
          </a:p>
        </p:txBody>
      </p:sp>
      <p:sp>
        <p:nvSpPr>
          <p:cNvPr id="12" name="pill_61"/>
          <p:cNvSpPr/>
          <p:nvPr/>
        </p:nvSpPr>
        <p:spPr>
          <a:xfrm>
            <a:off x="768096" y="4617720"/>
            <a:ext cx="3072384" cy="292608"/>
          </a:xfrm>
          <a:prstGeom prst="roundRect">
            <a:avLst>
              <a:gd name="adj" fmla="val 53125"/>
            </a:avLst>
          </a:prstGeom>
          <a:solidFill>
            <a:srgbClr val="F2545B">
              <a:alpha val="15000"/>
            </a:srgbClr>
          </a:solidFill>
          <a:ln w="12700">
            <a:solidFill>
              <a:srgbClr val="F2545B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768096" y="4617720"/>
            <a:ext cx="30723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2545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NOT ENOUGH</a:t>
            </a:r>
            <a:endParaRPr lang="en-US" sz="1050" dirty="0"/>
          </a:p>
        </p:txBody>
      </p:sp>
      <p:sp>
        <p:nvSpPr>
          <p:cNvPr id="14" name="Text 11"/>
          <p:cNvSpPr txBox="1"/>
          <p:nvPr/>
        </p:nvSpPr>
        <p:spPr>
          <a:xfrm>
            <a:off x="768096" y="4983480"/>
            <a:ext cx="307238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9AA8B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Goes stale in a week. Nobody runs it the same way twice.</a:t>
            </a:r>
            <a:endParaRPr lang="en-US" sz="1300" dirty="0"/>
          </a:p>
        </p:txBody>
      </p:sp>
      <p:sp>
        <p:nvSpPr>
          <p:cNvPr id="15" name="panel_62"/>
          <p:cNvSpPr/>
          <p:nvPr/>
        </p:nvSpPr>
        <p:spPr>
          <a:xfrm>
            <a:off x="4306824" y="1572768"/>
            <a:ext cx="3511296" cy="4206240"/>
          </a:xfrm>
          <a:prstGeom prst="roundRect">
            <a:avLst>
              <a:gd name="adj" fmla="val 3125"/>
            </a:avLst>
          </a:prstGeom>
          <a:solidFill>
            <a:srgbClr val="131D31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16" name="badge_63"/>
          <p:cNvSpPr/>
          <p:nvPr/>
        </p:nvSpPr>
        <p:spPr>
          <a:xfrm>
            <a:off x="4526280" y="1792224"/>
            <a:ext cx="566928" cy="566928"/>
          </a:xfrm>
          <a:prstGeom prst="ellipse">
            <a:avLst/>
          </a:prstGeom>
          <a:solidFill>
            <a:srgbClr val="FF9900">
              <a:alpha val="18000"/>
            </a:srgbClr>
          </a:solidFill>
          <a:ln w="15875">
            <a:solidFill>
              <a:srgbClr val="FF9900"/>
            </a:solidFill>
            <a:prstDash val="solid"/>
          </a:ln>
        </p:spPr>
      </p:sp>
      <p:pic>
        <p:nvPicPr>
          <p:cNvPr id="17" name="icon_64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9351" y="1945295"/>
            <a:ext cx="260787" cy="260787"/>
          </a:xfrm>
          <a:prstGeom prst="rect">
            <a:avLst/>
          </a:prstGeom>
        </p:spPr>
      </p:pic>
      <p:sp>
        <p:nvSpPr>
          <p:cNvPr id="18" name="Text 14"/>
          <p:cNvSpPr txBox="1"/>
          <p:nvPr/>
        </p:nvSpPr>
        <p:spPr>
          <a:xfrm>
            <a:off x="4526280" y="2468880"/>
            <a:ext cx="30723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50" b="1" dirty="0">
                <a:solidFill>
                  <a:srgbClr val="F1F5F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Use a virtualenv</a:t>
            </a:r>
            <a:endParaRPr lang="en-US" sz="1750" dirty="0"/>
          </a:p>
        </p:txBody>
      </p:sp>
      <p:sp>
        <p:nvSpPr>
          <p:cNvPr id="19" name="Text 15"/>
          <p:cNvSpPr txBox="1"/>
          <p:nvPr/>
        </p:nvSpPr>
        <p:spPr>
          <a:xfrm>
            <a:off x="4526280" y="2852928"/>
            <a:ext cx="307238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9AA8B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private folder of Python libraries, one per project.</a:t>
            </a:r>
            <a:endParaRPr lang="en-US" sz="1300" dirty="0"/>
          </a:p>
        </p:txBody>
      </p:sp>
      <p:sp>
        <p:nvSpPr>
          <p:cNvPr id="20" name="pill_65"/>
          <p:cNvSpPr/>
          <p:nvPr/>
        </p:nvSpPr>
        <p:spPr>
          <a:xfrm>
            <a:off x="4526280" y="3749040"/>
            <a:ext cx="3072384" cy="292608"/>
          </a:xfrm>
          <a:prstGeom prst="roundRect">
            <a:avLst>
              <a:gd name="adj" fmla="val 53125"/>
            </a:avLst>
          </a:prstGeom>
          <a:solidFill>
            <a:srgbClr val="7AA116">
              <a:alpha val="15000"/>
            </a:srgbClr>
          </a:solidFill>
          <a:ln w="12700">
            <a:solidFill>
              <a:srgbClr val="7AA116"/>
            </a:solidFill>
            <a:prstDash val="solid"/>
          </a:ln>
        </p:spPr>
      </p:sp>
      <p:sp>
        <p:nvSpPr>
          <p:cNvPr id="21" name="Text 17"/>
          <p:cNvSpPr txBox="1"/>
          <p:nvPr/>
        </p:nvSpPr>
        <p:spPr>
          <a:xfrm>
            <a:off x="4526280" y="3749040"/>
            <a:ext cx="30723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7AA11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GOOD</a:t>
            </a:r>
            <a:endParaRPr lang="en-US" sz="1050" dirty="0"/>
          </a:p>
        </p:txBody>
      </p:sp>
      <p:sp>
        <p:nvSpPr>
          <p:cNvPr id="22" name="Text 18"/>
          <p:cNvSpPr txBox="1"/>
          <p:nvPr/>
        </p:nvSpPr>
        <p:spPr>
          <a:xfrm>
            <a:off x="4526280" y="4114800"/>
            <a:ext cx="30723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Solves library clashes</a:t>
            </a:r>
            <a:endParaRPr lang="en-US" sz="1300" dirty="0"/>
          </a:p>
        </p:txBody>
      </p:sp>
      <p:sp>
        <p:nvSpPr>
          <p:cNvPr id="23" name="pill_66"/>
          <p:cNvSpPr/>
          <p:nvPr/>
        </p:nvSpPr>
        <p:spPr>
          <a:xfrm>
            <a:off x="4526280" y="4617720"/>
            <a:ext cx="3072384" cy="292608"/>
          </a:xfrm>
          <a:prstGeom prst="roundRect">
            <a:avLst>
              <a:gd name="adj" fmla="val 53125"/>
            </a:avLst>
          </a:prstGeom>
          <a:solidFill>
            <a:srgbClr val="F2545B">
              <a:alpha val="15000"/>
            </a:srgbClr>
          </a:solidFill>
          <a:ln w="12700">
            <a:solidFill>
              <a:srgbClr val="F2545B"/>
            </a:solidFill>
            <a:prstDash val="solid"/>
          </a:ln>
        </p:spPr>
      </p:sp>
      <p:sp>
        <p:nvSpPr>
          <p:cNvPr id="24" name="Text 20"/>
          <p:cNvSpPr txBox="1"/>
          <p:nvPr/>
        </p:nvSpPr>
        <p:spPr>
          <a:xfrm>
            <a:off x="4526280" y="4617720"/>
            <a:ext cx="30723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2545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NOT ENOUGH</a:t>
            </a:r>
            <a:endParaRPr lang="en-US" sz="1050" dirty="0"/>
          </a:p>
        </p:txBody>
      </p:sp>
      <p:sp>
        <p:nvSpPr>
          <p:cNvPr id="25" name="Text 21"/>
          <p:cNvSpPr txBox="1"/>
          <p:nvPr/>
        </p:nvSpPr>
        <p:spPr>
          <a:xfrm>
            <a:off x="4526280" y="4983480"/>
            <a:ext cx="307238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9AA8B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Does nothing about the OS, the database, or system packages.</a:t>
            </a:r>
            <a:endParaRPr lang="en-US" sz="1300" dirty="0"/>
          </a:p>
        </p:txBody>
      </p:sp>
      <p:sp>
        <p:nvSpPr>
          <p:cNvPr id="26" name="panel_67"/>
          <p:cNvSpPr/>
          <p:nvPr/>
        </p:nvSpPr>
        <p:spPr>
          <a:xfrm>
            <a:off x="8065008" y="1572768"/>
            <a:ext cx="3511296" cy="4206240"/>
          </a:xfrm>
          <a:prstGeom prst="roundRect">
            <a:avLst>
              <a:gd name="adj" fmla="val 3125"/>
            </a:avLst>
          </a:prstGeom>
          <a:solidFill>
            <a:srgbClr val="131D31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27" name="badge_68"/>
          <p:cNvSpPr/>
          <p:nvPr/>
        </p:nvSpPr>
        <p:spPr>
          <a:xfrm>
            <a:off x="8284464" y="1792224"/>
            <a:ext cx="566928" cy="566928"/>
          </a:xfrm>
          <a:prstGeom prst="ellipse">
            <a:avLst/>
          </a:prstGeom>
          <a:solidFill>
            <a:srgbClr val="2DD4BF">
              <a:alpha val="18000"/>
            </a:srgbClr>
          </a:solidFill>
          <a:ln w="15875">
            <a:solidFill>
              <a:srgbClr val="2DD4BF"/>
            </a:solidFill>
            <a:prstDash val="solid"/>
          </a:ln>
        </p:spPr>
      </p:sp>
      <p:pic>
        <p:nvPicPr>
          <p:cNvPr id="28" name="icon_69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37535" y="1945295"/>
            <a:ext cx="260787" cy="260787"/>
          </a:xfrm>
          <a:prstGeom prst="rect">
            <a:avLst/>
          </a:prstGeom>
        </p:spPr>
      </p:pic>
      <p:sp>
        <p:nvSpPr>
          <p:cNvPr id="29" name="Text 24"/>
          <p:cNvSpPr txBox="1"/>
          <p:nvPr/>
        </p:nvSpPr>
        <p:spPr>
          <a:xfrm>
            <a:off x="8284464" y="2468880"/>
            <a:ext cx="30723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50" b="1" dirty="0">
                <a:solidFill>
                  <a:srgbClr val="F1F5F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Ship a virtual machine</a:t>
            </a:r>
            <a:endParaRPr lang="en-US" sz="1750" dirty="0"/>
          </a:p>
        </p:txBody>
      </p:sp>
      <p:sp>
        <p:nvSpPr>
          <p:cNvPr id="30" name="Text 25"/>
          <p:cNvSpPr txBox="1"/>
          <p:nvPr/>
        </p:nvSpPr>
        <p:spPr>
          <a:xfrm>
            <a:off x="8284464" y="2852928"/>
            <a:ext cx="307238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9AA8B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whole fake computer with the OS inside it.</a:t>
            </a:r>
            <a:endParaRPr lang="en-US" sz="1300" dirty="0"/>
          </a:p>
        </p:txBody>
      </p:sp>
      <p:sp>
        <p:nvSpPr>
          <p:cNvPr id="31" name="pill_70"/>
          <p:cNvSpPr/>
          <p:nvPr/>
        </p:nvSpPr>
        <p:spPr>
          <a:xfrm>
            <a:off x="8284464" y="3749040"/>
            <a:ext cx="3072384" cy="292608"/>
          </a:xfrm>
          <a:prstGeom prst="roundRect">
            <a:avLst>
              <a:gd name="adj" fmla="val 53125"/>
            </a:avLst>
          </a:prstGeom>
          <a:solidFill>
            <a:srgbClr val="7AA116">
              <a:alpha val="15000"/>
            </a:srgbClr>
          </a:solidFill>
          <a:ln w="12700">
            <a:solidFill>
              <a:srgbClr val="7AA116"/>
            </a:solidFill>
            <a:prstDash val="solid"/>
          </a:ln>
        </p:spPr>
      </p:sp>
      <p:sp>
        <p:nvSpPr>
          <p:cNvPr id="32" name="Text 27"/>
          <p:cNvSpPr txBox="1"/>
          <p:nvPr/>
        </p:nvSpPr>
        <p:spPr>
          <a:xfrm>
            <a:off x="8284464" y="3749040"/>
            <a:ext cx="30723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7AA11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GOOD</a:t>
            </a:r>
            <a:endParaRPr lang="en-US" sz="1050" dirty="0"/>
          </a:p>
        </p:txBody>
      </p:sp>
      <p:sp>
        <p:nvSpPr>
          <p:cNvPr id="33" name="Text 28"/>
          <p:cNvSpPr txBox="1"/>
          <p:nvPr/>
        </p:nvSpPr>
        <p:spPr>
          <a:xfrm>
            <a:off x="8284464" y="4114800"/>
            <a:ext cx="30723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Genuinely identical</a:t>
            </a:r>
            <a:endParaRPr lang="en-US" sz="1300" dirty="0"/>
          </a:p>
        </p:txBody>
      </p:sp>
      <p:sp>
        <p:nvSpPr>
          <p:cNvPr id="34" name="pill_71"/>
          <p:cNvSpPr/>
          <p:nvPr/>
        </p:nvSpPr>
        <p:spPr>
          <a:xfrm>
            <a:off x="8284464" y="4617720"/>
            <a:ext cx="3072384" cy="292608"/>
          </a:xfrm>
          <a:prstGeom prst="roundRect">
            <a:avLst>
              <a:gd name="adj" fmla="val 53125"/>
            </a:avLst>
          </a:prstGeom>
          <a:solidFill>
            <a:srgbClr val="F2545B">
              <a:alpha val="15000"/>
            </a:srgbClr>
          </a:solidFill>
          <a:ln w="12700">
            <a:solidFill>
              <a:srgbClr val="F2545B"/>
            </a:solidFill>
            <a:prstDash val="solid"/>
          </a:ln>
        </p:spPr>
      </p:sp>
      <p:sp>
        <p:nvSpPr>
          <p:cNvPr id="35" name="Text 30"/>
          <p:cNvSpPr txBox="1"/>
          <p:nvPr/>
        </p:nvSpPr>
        <p:spPr>
          <a:xfrm>
            <a:off x="8284464" y="4617720"/>
            <a:ext cx="30723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2545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NOT ENOUGH</a:t>
            </a:r>
            <a:endParaRPr lang="en-US" sz="1050" dirty="0"/>
          </a:p>
        </p:txBody>
      </p:sp>
      <p:sp>
        <p:nvSpPr>
          <p:cNvPr id="36" name="Text 31"/>
          <p:cNvSpPr txBox="1"/>
          <p:nvPr/>
        </p:nvSpPr>
        <p:spPr>
          <a:xfrm>
            <a:off x="8284464" y="4983480"/>
            <a:ext cx="307238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9AA8B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 GB, two minutes to boot, and your laptop melts at three of them.</a:t>
            </a:r>
            <a:endParaRPr lang="en-US" sz="1300" dirty="0"/>
          </a:p>
        </p:txBody>
      </p:sp>
      <p:sp>
        <p:nvSpPr>
          <p:cNvPr id="37" name="Text 32"/>
          <p:cNvSpPr txBox="1"/>
          <p:nvPr/>
        </p:nvSpPr>
        <p:spPr>
          <a:xfrm>
            <a:off x="548640" y="589788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400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Docker is the fourth attempt, and it keeps the virtual machine's guarantee without the virtual machine's weight.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FF99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KEY DIFFERENCE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1F5F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Virtual machine vs container</a:t>
            </a:r>
            <a:endParaRPr lang="en-US" sz="3200" dirty="0"/>
          </a:p>
        </p:txBody>
      </p:sp>
      <p:sp>
        <p:nvSpPr>
          <p:cNvPr id="4" name="panel_72"/>
          <p:cNvSpPr/>
          <p:nvPr/>
        </p:nvSpPr>
        <p:spPr>
          <a:xfrm>
            <a:off x="548640" y="1572768"/>
            <a:ext cx="5394960" cy="3520440"/>
          </a:xfrm>
          <a:prstGeom prst="roundRect">
            <a:avLst>
              <a:gd name="adj" fmla="val 3117"/>
            </a:avLst>
          </a:prstGeom>
          <a:solidFill>
            <a:srgbClr val="131D31"/>
          </a:solidFill>
          <a:ln w="12700">
            <a:solidFill>
              <a:srgbClr val="F2545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773936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2545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VIRTUAL MACHINE</a:t>
            </a:r>
            <a:endParaRPr lang="en-US" sz="1600" dirty="0"/>
          </a:p>
        </p:txBody>
      </p:sp>
      <p:sp>
        <p:nvSpPr>
          <p:cNvPr id="6" name="st0.62.42"/>
          <p:cNvSpPr/>
          <p:nvPr/>
        </p:nvSpPr>
        <p:spPr>
          <a:xfrm>
            <a:off x="822960" y="2212848"/>
            <a:ext cx="4846320" cy="411480"/>
          </a:xfrm>
          <a:prstGeom prst="roundRect">
            <a:avLst>
              <a:gd name="adj" fmla="val 15556"/>
            </a:avLst>
          </a:prstGeom>
          <a:solidFill>
            <a:srgbClr val="FF9900">
              <a:alpha val="12000"/>
            </a:srgbClr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60120" y="2212848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Your app</a:t>
            </a:r>
            <a:endParaRPr lang="en-US" sz="1250" dirty="0"/>
          </a:p>
        </p:txBody>
      </p:sp>
      <p:sp>
        <p:nvSpPr>
          <p:cNvPr id="8" name="st0.62.96"/>
          <p:cNvSpPr/>
          <p:nvPr/>
        </p:nvSpPr>
        <p:spPr>
          <a:xfrm>
            <a:off x="822960" y="2706624"/>
            <a:ext cx="4846320" cy="411480"/>
          </a:xfrm>
          <a:prstGeom prst="roundRect">
            <a:avLst>
              <a:gd name="adj" fmla="val 15556"/>
            </a:avLst>
          </a:prstGeom>
          <a:solidFill>
            <a:srgbClr val="FF9900">
              <a:alpha val="12000"/>
            </a:srgbClr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60120" y="2706624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Libraries</a:t>
            </a:r>
            <a:endParaRPr lang="en-US" sz="1250" dirty="0"/>
          </a:p>
        </p:txBody>
      </p:sp>
      <p:sp>
        <p:nvSpPr>
          <p:cNvPr id="10" name="st0.63.5"/>
          <p:cNvSpPr/>
          <p:nvPr/>
        </p:nvSpPr>
        <p:spPr>
          <a:xfrm>
            <a:off x="822960" y="3200400"/>
            <a:ext cx="4846320" cy="411480"/>
          </a:xfrm>
          <a:prstGeom prst="roundRect">
            <a:avLst>
              <a:gd name="adj" fmla="val 15556"/>
            </a:avLst>
          </a:prstGeom>
          <a:solidFill>
            <a:srgbClr val="F2545B">
              <a:alpha val="12000"/>
            </a:srgbClr>
          </a:solidFill>
          <a:ln w="12700">
            <a:solidFill>
              <a:srgbClr val="F2545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" y="320040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whole guest OS  (~2–10 GB)</a:t>
            </a:r>
            <a:endParaRPr lang="en-US" sz="1250" dirty="0"/>
          </a:p>
        </p:txBody>
      </p:sp>
      <p:sp>
        <p:nvSpPr>
          <p:cNvPr id="12" name="st0.64.04"/>
          <p:cNvSpPr/>
          <p:nvPr/>
        </p:nvSpPr>
        <p:spPr>
          <a:xfrm>
            <a:off x="822960" y="3694176"/>
            <a:ext cx="4846320" cy="411480"/>
          </a:xfrm>
          <a:prstGeom prst="roundRect">
            <a:avLst>
              <a:gd name="adj" fmla="val 15556"/>
            </a:avLst>
          </a:prstGeom>
          <a:solidFill>
            <a:srgbClr val="5B6B85">
              <a:alpha val="12000"/>
            </a:srgbClr>
          </a:solidFill>
          <a:ln w="12700">
            <a:solidFill>
              <a:srgbClr val="5B6B85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960120" y="3694176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Hypervisor</a:t>
            </a:r>
            <a:endParaRPr lang="en-US" sz="1250" dirty="0"/>
          </a:p>
        </p:txBody>
      </p:sp>
      <p:sp>
        <p:nvSpPr>
          <p:cNvPr id="14" name="st0.64.58"/>
          <p:cNvSpPr/>
          <p:nvPr/>
        </p:nvSpPr>
        <p:spPr>
          <a:xfrm>
            <a:off x="822960" y="4187952"/>
            <a:ext cx="4846320" cy="411480"/>
          </a:xfrm>
          <a:prstGeom prst="roundRect">
            <a:avLst>
              <a:gd name="adj" fmla="val 15556"/>
            </a:avLst>
          </a:prstGeom>
          <a:solidFill>
            <a:srgbClr val="5B6B85">
              <a:alpha val="12000"/>
            </a:srgbClr>
          </a:solidFill>
          <a:ln w="12700">
            <a:solidFill>
              <a:srgbClr val="5B6B85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60120" y="4187952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Host operating system</a:t>
            </a:r>
            <a:endParaRPr lang="en-US" sz="1250" dirty="0"/>
          </a:p>
        </p:txBody>
      </p:sp>
      <p:sp>
        <p:nvSpPr>
          <p:cNvPr id="16" name="st0.65.12"/>
          <p:cNvSpPr/>
          <p:nvPr/>
        </p:nvSpPr>
        <p:spPr>
          <a:xfrm>
            <a:off x="822960" y="4681728"/>
            <a:ext cx="4846320" cy="411480"/>
          </a:xfrm>
          <a:prstGeom prst="roundRect">
            <a:avLst>
              <a:gd name="adj" fmla="val 15556"/>
            </a:avLst>
          </a:prstGeom>
          <a:solidFill>
            <a:srgbClr val="5B6B85">
              <a:alpha val="12000"/>
            </a:srgbClr>
          </a:solidFill>
          <a:ln w="12700">
            <a:solidFill>
              <a:srgbClr val="5B6B85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60120" y="4681728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Hardware</a:t>
            </a:r>
            <a:endParaRPr lang="en-US" sz="1250" dirty="0"/>
          </a:p>
        </p:txBody>
      </p:sp>
      <p:sp>
        <p:nvSpPr>
          <p:cNvPr id="18" name="panel_73"/>
          <p:cNvSpPr/>
          <p:nvPr/>
        </p:nvSpPr>
        <p:spPr>
          <a:xfrm>
            <a:off x="6245352" y="1572768"/>
            <a:ext cx="5394960" cy="3520440"/>
          </a:xfrm>
          <a:prstGeom prst="roundRect">
            <a:avLst>
              <a:gd name="adj" fmla="val 3117"/>
            </a:avLst>
          </a:prstGeom>
          <a:solidFill>
            <a:srgbClr val="131D31"/>
          </a:solidFill>
          <a:ln w="12700">
            <a:solidFill>
              <a:srgbClr val="29B5E8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519672" y="1773936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9B5E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CONTAINER</a:t>
            </a:r>
            <a:endParaRPr lang="en-US" sz="1600" dirty="0"/>
          </a:p>
        </p:txBody>
      </p:sp>
      <p:sp>
        <p:nvSpPr>
          <p:cNvPr id="20" name="st6.832.42"/>
          <p:cNvSpPr/>
          <p:nvPr/>
        </p:nvSpPr>
        <p:spPr>
          <a:xfrm>
            <a:off x="6519672" y="2212848"/>
            <a:ext cx="4846320" cy="502920"/>
          </a:xfrm>
          <a:prstGeom prst="roundRect">
            <a:avLst>
              <a:gd name="adj" fmla="val 12727"/>
            </a:avLst>
          </a:prstGeom>
          <a:solidFill>
            <a:srgbClr val="FF9900">
              <a:alpha val="12000"/>
            </a:srgbClr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656832" y="2212848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Your app</a:t>
            </a:r>
            <a:endParaRPr lang="en-US" sz="1250" dirty="0"/>
          </a:p>
        </p:txBody>
      </p:sp>
      <p:sp>
        <p:nvSpPr>
          <p:cNvPr id="22" name="st6.833.06"/>
          <p:cNvSpPr/>
          <p:nvPr/>
        </p:nvSpPr>
        <p:spPr>
          <a:xfrm>
            <a:off x="6519672" y="2798064"/>
            <a:ext cx="4846320" cy="502920"/>
          </a:xfrm>
          <a:prstGeom prst="roundRect">
            <a:avLst>
              <a:gd name="adj" fmla="val 12727"/>
            </a:avLst>
          </a:prstGeom>
          <a:solidFill>
            <a:srgbClr val="FF9900">
              <a:alpha val="12000"/>
            </a:srgbClr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656832" y="2798064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Libraries</a:t>
            </a:r>
            <a:endParaRPr lang="en-US" sz="1250" dirty="0"/>
          </a:p>
        </p:txBody>
      </p:sp>
      <p:sp>
        <p:nvSpPr>
          <p:cNvPr id="24" name="st6.833.7"/>
          <p:cNvSpPr/>
          <p:nvPr/>
        </p:nvSpPr>
        <p:spPr>
          <a:xfrm>
            <a:off x="6519672" y="3383280"/>
            <a:ext cx="4846320" cy="502920"/>
          </a:xfrm>
          <a:prstGeom prst="roundRect">
            <a:avLst>
              <a:gd name="adj" fmla="val 12727"/>
            </a:avLst>
          </a:prstGeom>
          <a:solidFill>
            <a:srgbClr val="29B5E8">
              <a:alpha val="12000"/>
            </a:srgbClr>
          </a:solidFill>
          <a:ln w="12700">
            <a:solidFill>
              <a:srgbClr val="29B5E8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656832" y="338328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Docker Engine  (shares one OS kernel)</a:t>
            </a:r>
            <a:endParaRPr lang="en-US" sz="1250" dirty="0"/>
          </a:p>
        </p:txBody>
      </p:sp>
      <p:sp>
        <p:nvSpPr>
          <p:cNvPr id="26" name="st6.834.34"/>
          <p:cNvSpPr/>
          <p:nvPr/>
        </p:nvSpPr>
        <p:spPr>
          <a:xfrm>
            <a:off x="6519672" y="3968496"/>
            <a:ext cx="4846320" cy="502920"/>
          </a:xfrm>
          <a:prstGeom prst="roundRect">
            <a:avLst>
              <a:gd name="adj" fmla="val 12727"/>
            </a:avLst>
          </a:prstGeom>
          <a:solidFill>
            <a:srgbClr val="5B6B85">
              <a:alpha val="12000"/>
            </a:srgbClr>
          </a:solidFill>
          <a:ln w="12700">
            <a:solidFill>
              <a:srgbClr val="5B6B85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656832" y="3968496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Host operating system</a:t>
            </a:r>
            <a:endParaRPr lang="en-US" sz="1250" dirty="0"/>
          </a:p>
        </p:txBody>
      </p:sp>
      <p:sp>
        <p:nvSpPr>
          <p:cNvPr id="28" name="st6.834.9799999999999995"/>
          <p:cNvSpPr/>
          <p:nvPr/>
        </p:nvSpPr>
        <p:spPr>
          <a:xfrm>
            <a:off x="6519672" y="4553712"/>
            <a:ext cx="4846320" cy="502920"/>
          </a:xfrm>
          <a:prstGeom prst="roundRect">
            <a:avLst>
              <a:gd name="adj" fmla="val 12727"/>
            </a:avLst>
          </a:prstGeom>
          <a:solidFill>
            <a:srgbClr val="5B6B85">
              <a:alpha val="12000"/>
            </a:srgbClr>
          </a:solidFill>
          <a:ln w="12700">
            <a:solidFill>
              <a:srgbClr val="5B6B85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656832" y="4553712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Hardware</a:t>
            </a:r>
            <a:endParaRPr lang="en-US" sz="1250" dirty="0"/>
          </a:p>
        </p:txBody>
      </p:sp>
      <p:sp>
        <p:nvSpPr>
          <p:cNvPr id="30" name="panel_74"/>
          <p:cNvSpPr/>
          <p:nvPr/>
        </p:nvSpPr>
        <p:spPr>
          <a:xfrm>
            <a:off x="548640" y="5230368"/>
            <a:ext cx="3511296" cy="1005840"/>
          </a:xfrm>
          <a:prstGeom prst="roundRect">
            <a:avLst>
              <a:gd name="adj" fmla="val 10909"/>
            </a:avLst>
          </a:prstGeom>
          <a:solidFill>
            <a:srgbClr val="131D31"/>
          </a:solidFill>
          <a:ln w="12700">
            <a:solidFill>
              <a:srgbClr val="F2545B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749808" y="5440680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F2545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~2 min</a:t>
            </a:r>
            <a:endParaRPr lang="en-US" sz="2100" dirty="0"/>
          </a:p>
        </p:txBody>
      </p:sp>
      <p:sp>
        <p:nvSpPr>
          <p:cNvPr id="32" name="Text 30"/>
          <p:cNvSpPr txBox="1"/>
          <p:nvPr/>
        </p:nvSpPr>
        <p:spPr>
          <a:xfrm>
            <a:off x="2029968" y="5413248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9AA8B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VM boot time, against about 1 second for a container</a:t>
            </a:r>
            <a:endParaRPr lang="en-US" sz="1150" dirty="0"/>
          </a:p>
        </p:txBody>
      </p:sp>
      <p:sp>
        <p:nvSpPr>
          <p:cNvPr id="33" name="panel_75"/>
          <p:cNvSpPr/>
          <p:nvPr/>
        </p:nvSpPr>
        <p:spPr>
          <a:xfrm>
            <a:off x="4306824" y="5230368"/>
            <a:ext cx="3511296" cy="1005840"/>
          </a:xfrm>
          <a:prstGeom prst="roundRect">
            <a:avLst>
              <a:gd name="adj" fmla="val 10909"/>
            </a:avLst>
          </a:prstGeom>
          <a:solidFill>
            <a:srgbClr val="131D31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4507992" y="5440680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FF990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~5 GB</a:t>
            </a:r>
            <a:endParaRPr lang="en-US" sz="2100" dirty="0"/>
          </a:p>
        </p:txBody>
      </p:sp>
      <p:sp>
        <p:nvSpPr>
          <p:cNvPr id="35" name="Text 33"/>
          <p:cNvSpPr txBox="1"/>
          <p:nvPr/>
        </p:nvSpPr>
        <p:spPr>
          <a:xfrm>
            <a:off x="5788152" y="5413248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9AA8B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VM on disk, against roughly 150 MB for a Python image</a:t>
            </a:r>
            <a:endParaRPr lang="en-US" sz="1150" dirty="0"/>
          </a:p>
        </p:txBody>
      </p:sp>
      <p:sp>
        <p:nvSpPr>
          <p:cNvPr id="36" name="panel_76"/>
          <p:cNvSpPr/>
          <p:nvPr/>
        </p:nvSpPr>
        <p:spPr>
          <a:xfrm>
            <a:off x="8065008" y="5230368"/>
            <a:ext cx="3511296" cy="1005840"/>
          </a:xfrm>
          <a:prstGeom prst="roundRect">
            <a:avLst>
              <a:gd name="adj" fmla="val 10909"/>
            </a:avLst>
          </a:prstGeom>
          <a:solidFill>
            <a:srgbClr val="131D31"/>
          </a:solidFill>
          <a:ln w="12700">
            <a:solidFill>
              <a:srgbClr val="7AA116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8266176" y="5440680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7AA11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3 vs 30</a:t>
            </a:r>
            <a:endParaRPr lang="en-US" sz="2100" dirty="0"/>
          </a:p>
        </p:txBody>
      </p:sp>
      <p:sp>
        <p:nvSpPr>
          <p:cNvPr id="38" name="Text 36"/>
          <p:cNvSpPr txBox="1"/>
          <p:nvPr/>
        </p:nvSpPr>
        <p:spPr>
          <a:xfrm>
            <a:off x="9546336" y="5413248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9AA8B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VMs against containers a normal laptop runs at once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FF99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PLAIN LANGUAGE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1F5F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So what is a container, really?</a:t>
            </a:r>
            <a:endParaRPr lang="en-US" sz="3200" dirty="0"/>
          </a:p>
        </p:txBody>
      </p:sp>
      <p:sp>
        <p:nvSpPr>
          <p:cNvPr id="4" name="panel_77"/>
          <p:cNvSpPr/>
          <p:nvPr/>
        </p:nvSpPr>
        <p:spPr>
          <a:xfrm>
            <a:off x="548640" y="1591056"/>
            <a:ext cx="11091672" cy="1143000"/>
          </a:xfrm>
          <a:prstGeom prst="roundRect">
            <a:avLst>
              <a:gd name="adj" fmla="val 9600"/>
            </a:avLst>
          </a:prstGeom>
          <a:solidFill>
            <a:srgbClr val="1A2741"/>
          </a:solidFill>
          <a:ln w="12700">
            <a:solidFill>
              <a:srgbClr val="29B5E8"/>
            </a:solidFill>
            <a:prstDash val="solid"/>
          </a:ln>
        </p:spPr>
      </p:sp>
      <p:sp>
        <p:nvSpPr>
          <p:cNvPr id="5" name="badge_78"/>
          <p:cNvSpPr/>
          <p:nvPr/>
        </p:nvSpPr>
        <p:spPr>
          <a:xfrm>
            <a:off x="841248" y="1828800"/>
            <a:ext cx="658368" cy="658368"/>
          </a:xfrm>
          <a:prstGeom prst="ellipse">
            <a:avLst/>
          </a:prstGeom>
          <a:solidFill>
            <a:srgbClr val="29B5E8">
              <a:alpha val="18000"/>
            </a:srgbClr>
          </a:solidFill>
          <a:ln w="15875">
            <a:solidFill>
              <a:srgbClr val="29B5E8"/>
            </a:solidFill>
            <a:prstDash val="solid"/>
          </a:ln>
        </p:spPr>
      </p:sp>
      <p:pic>
        <p:nvPicPr>
          <p:cNvPr id="6" name="icon_79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9007" y="2006559"/>
            <a:ext cx="302849" cy="302849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719072" y="1773936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4000"/>
              </a:lnSpc>
              <a:buNone/>
            </a:pPr>
            <a:r>
              <a:rPr lang="en-US" sz="1900" b="1" dirty="0">
                <a:solidFill>
                  <a:srgbClr val="F1F5F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 container is one normal process on your computer, locked in a room where it can only see its own files.</a:t>
            </a:r>
            <a:endParaRPr lang="en-US" sz="1900" dirty="0"/>
          </a:p>
        </p:txBody>
      </p:sp>
      <p:sp>
        <p:nvSpPr>
          <p:cNvPr id="8" name="panel_80"/>
          <p:cNvSpPr/>
          <p:nvPr/>
        </p:nvSpPr>
        <p:spPr>
          <a:xfrm>
            <a:off x="548640" y="2926080"/>
            <a:ext cx="5394960" cy="1371600"/>
          </a:xfrm>
          <a:prstGeom prst="roundRect">
            <a:avLst>
              <a:gd name="adj" fmla="val 8000"/>
            </a:avLst>
          </a:prstGeom>
          <a:solidFill>
            <a:srgbClr val="131D31"/>
          </a:solidFill>
          <a:ln w="12700">
            <a:solidFill>
              <a:srgbClr val="26375A"/>
            </a:solidFill>
            <a:prstDash val="solid"/>
          </a:ln>
        </p:spPr>
      </p:sp>
      <p:sp>
        <p:nvSpPr>
          <p:cNvPr id="9" name="badge_81"/>
          <p:cNvSpPr/>
          <p:nvPr/>
        </p:nvSpPr>
        <p:spPr>
          <a:xfrm>
            <a:off x="768096" y="3145536"/>
            <a:ext cx="566928" cy="566928"/>
          </a:xfrm>
          <a:prstGeom prst="ellipse">
            <a:avLst/>
          </a:prstGeom>
          <a:solidFill>
            <a:srgbClr val="FF9900">
              <a:alpha val="18000"/>
            </a:srgbClr>
          </a:solidFill>
          <a:ln w="15875">
            <a:solidFill>
              <a:srgbClr val="FF9900"/>
            </a:solidFill>
            <a:prstDash val="solid"/>
          </a:ln>
        </p:spPr>
      </p:sp>
      <p:pic>
        <p:nvPicPr>
          <p:cNvPr id="10" name="icon_82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1167" y="3298607"/>
            <a:ext cx="260787" cy="260787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536192" y="3127248"/>
            <a:ext cx="4187952" cy="2842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650" b="1" dirty="0">
                <a:solidFill>
                  <a:srgbClr val="F1F5F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It has its own filesystem</a:t>
            </a:r>
            <a:endParaRPr lang="en-US" sz="1650" dirty="0"/>
          </a:p>
        </p:txBody>
      </p:sp>
      <p:sp>
        <p:nvSpPr>
          <p:cNvPr id="12" name="Text 8"/>
          <p:cNvSpPr txBox="1"/>
          <p:nvPr/>
        </p:nvSpPr>
        <p:spPr>
          <a:xfrm>
            <a:off x="1536192" y="3457244"/>
            <a:ext cx="4187952" cy="5050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9AA8B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Inside, / is the image's files. Your Desktop folder simply does not exist in there.</a:t>
            </a:r>
            <a:endParaRPr lang="en-US" sz="1300" dirty="0"/>
          </a:p>
        </p:txBody>
      </p:sp>
      <p:sp>
        <p:nvSpPr>
          <p:cNvPr id="13" name="panel_83"/>
          <p:cNvSpPr/>
          <p:nvPr/>
        </p:nvSpPr>
        <p:spPr>
          <a:xfrm>
            <a:off x="6245352" y="2926080"/>
            <a:ext cx="5394960" cy="1371600"/>
          </a:xfrm>
          <a:prstGeom prst="roundRect">
            <a:avLst>
              <a:gd name="adj" fmla="val 8000"/>
            </a:avLst>
          </a:prstGeom>
          <a:solidFill>
            <a:srgbClr val="131D31"/>
          </a:solidFill>
          <a:ln w="12700">
            <a:solidFill>
              <a:srgbClr val="26375A"/>
            </a:solidFill>
            <a:prstDash val="solid"/>
          </a:ln>
        </p:spPr>
      </p:sp>
      <p:sp>
        <p:nvSpPr>
          <p:cNvPr id="14" name="badge_84"/>
          <p:cNvSpPr/>
          <p:nvPr/>
        </p:nvSpPr>
        <p:spPr>
          <a:xfrm>
            <a:off x="6464808" y="3145536"/>
            <a:ext cx="566928" cy="566928"/>
          </a:xfrm>
          <a:prstGeom prst="ellipse">
            <a:avLst/>
          </a:prstGeom>
          <a:solidFill>
            <a:srgbClr val="E7157B">
              <a:alpha val="18000"/>
            </a:srgbClr>
          </a:solidFill>
          <a:ln w="15875">
            <a:solidFill>
              <a:srgbClr val="E7157B"/>
            </a:solidFill>
            <a:prstDash val="solid"/>
          </a:ln>
        </p:spPr>
      </p:sp>
      <p:pic>
        <p:nvPicPr>
          <p:cNvPr id="15" name="icon_85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7879" y="3298607"/>
            <a:ext cx="260787" cy="260787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7232904" y="3127248"/>
            <a:ext cx="4187952" cy="2842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650" b="1" dirty="0">
                <a:solidFill>
                  <a:srgbClr val="F1F5F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It cannot see your other programs</a:t>
            </a:r>
            <a:endParaRPr lang="en-US" sz="1650" dirty="0"/>
          </a:p>
        </p:txBody>
      </p:sp>
      <p:sp>
        <p:nvSpPr>
          <p:cNvPr id="17" name="Text 12"/>
          <p:cNvSpPr txBox="1"/>
          <p:nvPr/>
        </p:nvSpPr>
        <p:spPr>
          <a:xfrm>
            <a:off x="7232904" y="3457244"/>
            <a:ext cx="4187952" cy="5050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9AA8B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Run ps inside and you see one or two processes, not the ninety on your laptop.</a:t>
            </a:r>
            <a:endParaRPr lang="en-US" sz="1300" dirty="0"/>
          </a:p>
        </p:txBody>
      </p:sp>
      <p:sp>
        <p:nvSpPr>
          <p:cNvPr id="18" name="panel_86"/>
          <p:cNvSpPr/>
          <p:nvPr/>
        </p:nvSpPr>
        <p:spPr>
          <a:xfrm>
            <a:off x="548640" y="4407408"/>
            <a:ext cx="5394960" cy="1371600"/>
          </a:xfrm>
          <a:prstGeom prst="roundRect">
            <a:avLst>
              <a:gd name="adj" fmla="val 8000"/>
            </a:avLst>
          </a:prstGeom>
          <a:solidFill>
            <a:srgbClr val="131D31"/>
          </a:solidFill>
          <a:ln w="12700">
            <a:solidFill>
              <a:srgbClr val="26375A"/>
            </a:solidFill>
            <a:prstDash val="solid"/>
          </a:ln>
        </p:spPr>
      </p:sp>
      <p:sp>
        <p:nvSpPr>
          <p:cNvPr id="19" name="badge_87"/>
          <p:cNvSpPr/>
          <p:nvPr/>
        </p:nvSpPr>
        <p:spPr>
          <a:xfrm>
            <a:off x="768096" y="4626864"/>
            <a:ext cx="566928" cy="566928"/>
          </a:xfrm>
          <a:prstGeom prst="ellipse">
            <a:avLst/>
          </a:prstGeom>
          <a:solidFill>
            <a:srgbClr val="2DD4BF">
              <a:alpha val="18000"/>
            </a:srgbClr>
          </a:solidFill>
          <a:ln w="15875">
            <a:solidFill>
              <a:srgbClr val="2DD4BF"/>
            </a:solidFill>
            <a:prstDash val="solid"/>
          </a:ln>
        </p:spPr>
      </p:sp>
      <p:pic>
        <p:nvPicPr>
          <p:cNvPr id="20" name="icon_88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1167" y="4779935"/>
            <a:ext cx="260787" cy="260787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1536192" y="4608576"/>
            <a:ext cx="4187952" cy="2842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650" b="1" dirty="0">
                <a:solidFill>
                  <a:srgbClr val="F1F5F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But it is not a fake computer</a:t>
            </a:r>
            <a:endParaRPr lang="en-US" sz="1650" dirty="0"/>
          </a:p>
        </p:txBody>
      </p:sp>
      <p:sp>
        <p:nvSpPr>
          <p:cNvPr id="22" name="Text 16"/>
          <p:cNvSpPr txBox="1"/>
          <p:nvPr/>
        </p:nvSpPr>
        <p:spPr>
          <a:xfrm>
            <a:off x="1536192" y="4938572"/>
            <a:ext cx="4187952" cy="5050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9AA8B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It is using your real CPU and your real kernel. That is why it starts in a second.</a:t>
            </a:r>
            <a:endParaRPr lang="en-US" sz="1300" dirty="0"/>
          </a:p>
        </p:txBody>
      </p:sp>
      <p:sp>
        <p:nvSpPr>
          <p:cNvPr id="23" name="panel_89"/>
          <p:cNvSpPr/>
          <p:nvPr/>
        </p:nvSpPr>
        <p:spPr>
          <a:xfrm>
            <a:off x="6245352" y="4407408"/>
            <a:ext cx="5394960" cy="1371600"/>
          </a:xfrm>
          <a:prstGeom prst="roundRect">
            <a:avLst>
              <a:gd name="adj" fmla="val 8000"/>
            </a:avLst>
          </a:prstGeom>
          <a:solidFill>
            <a:srgbClr val="131D31"/>
          </a:solidFill>
          <a:ln w="12700">
            <a:solidFill>
              <a:srgbClr val="26375A"/>
            </a:solidFill>
            <a:prstDash val="solid"/>
          </a:ln>
        </p:spPr>
      </p:sp>
      <p:sp>
        <p:nvSpPr>
          <p:cNvPr id="24" name="badge_90"/>
          <p:cNvSpPr/>
          <p:nvPr/>
        </p:nvSpPr>
        <p:spPr>
          <a:xfrm>
            <a:off x="6464808" y="4626864"/>
            <a:ext cx="566928" cy="566928"/>
          </a:xfrm>
          <a:prstGeom prst="ellipse">
            <a:avLst/>
          </a:prstGeom>
          <a:solidFill>
            <a:srgbClr val="8C4FFF">
              <a:alpha val="18000"/>
            </a:srgbClr>
          </a:solidFill>
          <a:ln w="15875">
            <a:solidFill>
              <a:srgbClr val="8C4FFF"/>
            </a:solidFill>
            <a:prstDash val="solid"/>
          </a:ln>
        </p:spPr>
      </p:sp>
      <p:pic>
        <p:nvPicPr>
          <p:cNvPr id="25" name="icon_91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17879" y="4779935"/>
            <a:ext cx="260787" cy="260787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7232904" y="4608576"/>
            <a:ext cx="4187952" cy="2842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650" b="1" dirty="0">
                <a:solidFill>
                  <a:srgbClr val="F1F5F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And it is disposable</a:t>
            </a:r>
            <a:endParaRPr lang="en-US" sz="1650" dirty="0"/>
          </a:p>
        </p:txBody>
      </p:sp>
      <p:sp>
        <p:nvSpPr>
          <p:cNvPr id="27" name="Text 20"/>
          <p:cNvSpPr txBox="1"/>
          <p:nvPr/>
        </p:nvSpPr>
        <p:spPr>
          <a:xfrm>
            <a:off x="7232904" y="4938572"/>
            <a:ext cx="4187952" cy="485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9AA8B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Delete it and nothing is lost, because the image it came from is still there. Start a fresh one.</a:t>
            </a:r>
            <a:endParaRPr lang="en-US" sz="1250" dirty="0"/>
          </a:p>
        </p:txBody>
      </p:sp>
      <p:sp>
        <p:nvSpPr>
          <p:cNvPr id="28" name="Text 21"/>
          <p:cNvSpPr txBox="1"/>
          <p:nvPr/>
        </p:nvSpPr>
        <p:spPr>
          <a:xfrm>
            <a:off x="548640" y="594360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9AA8B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You will hear people say “spin up a container”. All they mean is “start that program in its own locked room”.</a:t>
            </a:r>
            <a:endParaRPr lang="en-US" sz="13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FF99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NOT OPTIONAL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1F5F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Where a data engineer meets Docker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36192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9AA8B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This is not a nice-to-have skill you learn later. Open any data job description and Docker is in the first five lines. Here is why.</a:t>
            </a:r>
            <a:endParaRPr lang="en-US" sz="1500" dirty="0"/>
          </a:p>
        </p:txBody>
      </p:sp>
      <p:sp>
        <p:nvSpPr>
          <p:cNvPr id="5" name="panel_92"/>
          <p:cNvSpPr/>
          <p:nvPr/>
        </p:nvSpPr>
        <p:spPr>
          <a:xfrm>
            <a:off x="548640" y="1993392"/>
            <a:ext cx="3511296" cy="1920240"/>
          </a:xfrm>
          <a:prstGeom prst="roundRect">
            <a:avLst>
              <a:gd name="adj" fmla="val 5714"/>
            </a:avLst>
          </a:prstGeom>
          <a:solidFill>
            <a:srgbClr val="131D31"/>
          </a:solidFill>
          <a:ln w="12700">
            <a:solidFill>
              <a:srgbClr val="26375A"/>
            </a:solidFill>
            <a:prstDash val="solid"/>
          </a:ln>
        </p:spPr>
      </p:sp>
      <p:sp>
        <p:nvSpPr>
          <p:cNvPr id="6" name="badge_93"/>
          <p:cNvSpPr/>
          <p:nvPr/>
        </p:nvSpPr>
        <p:spPr>
          <a:xfrm>
            <a:off x="749808" y="2194560"/>
            <a:ext cx="566928" cy="566928"/>
          </a:xfrm>
          <a:prstGeom prst="ellipse">
            <a:avLst/>
          </a:prstGeom>
          <a:solidFill>
            <a:srgbClr val="FF9900">
              <a:alpha val="18000"/>
            </a:srgbClr>
          </a:solidFill>
          <a:ln w="15875">
            <a:solidFill>
              <a:srgbClr val="FF9900"/>
            </a:solidFill>
            <a:prstDash val="solid"/>
          </a:ln>
        </p:spPr>
      </p:sp>
      <p:pic>
        <p:nvPicPr>
          <p:cNvPr id="7" name="icon_94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2879" y="2347631"/>
            <a:ext cx="260787" cy="260787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749808" y="2834640"/>
            <a:ext cx="3108960" cy="2928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700" b="1" dirty="0">
                <a:solidFill>
                  <a:srgbClr val="F1F5F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Airflow</a:t>
            </a:r>
            <a:endParaRPr lang="en-US" sz="1700" dirty="0"/>
          </a:p>
        </p:txBody>
      </p:sp>
      <p:sp>
        <p:nvSpPr>
          <p:cNvPr id="9" name="Text 6"/>
          <p:cNvSpPr txBox="1"/>
          <p:nvPr/>
        </p:nvSpPr>
        <p:spPr>
          <a:xfrm>
            <a:off x="749808" y="3164106"/>
            <a:ext cx="3108960" cy="4273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9AA8B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You already ran it with Docker Compose in Part 3. Seven containers, two commands.</a:t>
            </a:r>
            <a:endParaRPr lang="en-US" sz="1100" dirty="0"/>
          </a:p>
        </p:txBody>
      </p:sp>
      <p:sp>
        <p:nvSpPr>
          <p:cNvPr id="10" name="panel_95"/>
          <p:cNvSpPr/>
          <p:nvPr/>
        </p:nvSpPr>
        <p:spPr>
          <a:xfrm>
            <a:off x="4306824" y="1993392"/>
            <a:ext cx="3511296" cy="1920240"/>
          </a:xfrm>
          <a:prstGeom prst="roundRect">
            <a:avLst>
              <a:gd name="adj" fmla="val 5714"/>
            </a:avLst>
          </a:prstGeom>
          <a:solidFill>
            <a:srgbClr val="131D31"/>
          </a:solidFill>
          <a:ln w="12700">
            <a:solidFill>
              <a:srgbClr val="26375A"/>
            </a:solidFill>
            <a:prstDash val="solid"/>
          </a:ln>
        </p:spPr>
      </p:sp>
      <p:sp>
        <p:nvSpPr>
          <p:cNvPr id="11" name="badge_96"/>
          <p:cNvSpPr/>
          <p:nvPr/>
        </p:nvSpPr>
        <p:spPr>
          <a:xfrm>
            <a:off x="4507992" y="2194560"/>
            <a:ext cx="566928" cy="566928"/>
          </a:xfrm>
          <a:prstGeom prst="ellipse">
            <a:avLst/>
          </a:prstGeom>
          <a:solidFill>
            <a:srgbClr val="2DD4BF">
              <a:alpha val="18000"/>
            </a:srgbClr>
          </a:solidFill>
          <a:ln w="15875">
            <a:solidFill>
              <a:srgbClr val="2DD4BF"/>
            </a:solidFill>
            <a:prstDash val="solid"/>
          </a:ln>
        </p:spPr>
      </p:sp>
      <p:pic>
        <p:nvPicPr>
          <p:cNvPr id="12" name="icon_97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1063" y="2347631"/>
            <a:ext cx="260787" cy="260787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4507992" y="2834640"/>
            <a:ext cx="3108960" cy="2928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700" b="1" dirty="0">
                <a:solidFill>
                  <a:srgbClr val="F1F5F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Databases for practice</a:t>
            </a:r>
            <a:endParaRPr lang="en-US" sz="1700" dirty="0"/>
          </a:p>
        </p:txBody>
      </p:sp>
      <p:sp>
        <p:nvSpPr>
          <p:cNvPr id="14" name="Text 10"/>
          <p:cNvSpPr txBox="1"/>
          <p:nvPr/>
        </p:nvSpPr>
        <p:spPr>
          <a:xfrm>
            <a:off x="4507992" y="3164106"/>
            <a:ext cx="3108960" cy="4273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9AA8B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Postgres, Redis, Kafka — one command each, nothing installed, delete when done.</a:t>
            </a:r>
            <a:endParaRPr lang="en-US" sz="1100" dirty="0"/>
          </a:p>
        </p:txBody>
      </p:sp>
      <p:sp>
        <p:nvSpPr>
          <p:cNvPr id="15" name="panel_98"/>
          <p:cNvSpPr/>
          <p:nvPr/>
        </p:nvSpPr>
        <p:spPr>
          <a:xfrm>
            <a:off x="8065008" y="1993392"/>
            <a:ext cx="3511296" cy="1920240"/>
          </a:xfrm>
          <a:prstGeom prst="roundRect">
            <a:avLst>
              <a:gd name="adj" fmla="val 5714"/>
            </a:avLst>
          </a:prstGeom>
          <a:solidFill>
            <a:srgbClr val="131D31"/>
          </a:solidFill>
          <a:ln w="12700">
            <a:solidFill>
              <a:srgbClr val="26375A"/>
            </a:solidFill>
            <a:prstDash val="solid"/>
          </a:ln>
        </p:spPr>
      </p:sp>
      <p:sp>
        <p:nvSpPr>
          <p:cNvPr id="16" name="badge_99"/>
          <p:cNvSpPr/>
          <p:nvPr/>
        </p:nvSpPr>
        <p:spPr>
          <a:xfrm>
            <a:off x="8266176" y="2194560"/>
            <a:ext cx="566928" cy="566928"/>
          </a:xfrm>
          <a:prstGeom prst="ellipse">
            <a:avLst/>
          </a:prstGeom>
          <a:solidFill>
            <a:srgbClr val="29B5E8">
              <a:alpha val="18000"/>
            </a:srgbClr>
          </a:solidFill>
          <a:ln w="15875">
            <a:solidFill>
              <a:srgbClr val="29B5E8"/>
            </a:solidFill>
            <a:prstDash val="solid"/>
          </a:ln>
        </p:spPr>
      </p:sp>
      <p:pic>
        <p:nvPicPr>
          <p:cNvPr id="17" name="icon_100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9247" y="2347631"/>
            <a:ext cx="260787" cy="260787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8266176" y="2834640"/>
            <a:ext cx="3108960" cy="2928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700" b="1" dirty="0">
                <a:solidFill>
                  <a:srgbClr val="F1F5F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CI/CD</a:t>
            </a:r>
            <a:endParaRPr lang="en-US" sz="1700" dirty="0"/>
          </a:p>
        </p:txBody>
      </p:sp>
      <p:sp>
        <p:nvSpPr>
          <p:cNvPr id="19" name="Text 14"/>
          <p:cNvSpPr txBox="1"/>
          <p:nvPr/>
        </p:nvSpPr>
        <p:spPr>
          <a:xfrm>
            <a:off x="8266176" y="3164106"/>
            <a:ext cx="3108960" cy="5050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9AA8B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 GitHub Actions job you write tomorrow runs inside a container.</a:t>
            </a:r>
            <a:endParaRPr lang="en-US" sz="1300" dirty="0"/>
          </a:p>
        </p:txBody>
      </p:sp>
      <p:sp>
        <p:nvSpPr>
          <p:cNvPr id="20" name="panel_101"/>
          <p:cNvSpPr/>
          <p:nvPr/>
        </p:nvSpPr>
        <p:spPr>
          <a:xfrm>
            <a:off x="548640" y="3950208"/>
            <a:ext cx="3511296" cy="1920240"/>
          </a:xfrm>
          <a:prstGeom prst="roundRect">
            <a:avLst>
              <a:gd name="adj" fmla="val 5714"/>
            </a:avLst>
          </a:prstGeom>
          <a:solidFill>
            <a:srgbClr val="131D31"/>
          </a:solidFill>
          <a:ln w="12700">
            <a:solidFill>
              <a:srgbClr val="26375A"/>
            </a:solidFill>
            <a:prstDash val="solid"/>
          </a:ln>
        </p:spPr>
      </p:sp>
      <p:sp>
        <p:nvSpPr>
          <p:cNvPr id="21" name="badge_102"/>
          <p:cNvSpPr/>
          <p:nvPr/>
        </p:nvSpPr>
        <p:spPr>
          <a:xfrm>
            <a:off x="749808" y="4151376"/>
            <a:ext cx="566928" cy="566928"/>
          </a:xfrm>
          <a:prstGeom prst="ellipse">
            <a:avLst/>
          </a:prstGeom>
          <a:solidFill>
            <a:srgbClr val="8C4FFF">
              <a:alpha val="18000"/>
            </a:srgbClr>
          </a:solidFill>
          <a:ln w="15875">
            <a:solidFill>
              <a:srgbClr val="8C4FFF"/>
            </a:solidFill>
            <a:prstDash val="solid"/>
          </a:ln>
        </p:spPr>
      </p:sp>
      <p:pic>
        <p:nvPicPr>
          <p:cNvPr id="22" name="icon_10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2879" y="4304447"/>
            <a:ext cx="260787" cy="260787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749808" y="4791456"/>
            <a:ext cx="3108960" cy="2928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700" b="1" dirty="0">
                <a:solidFill>
                  <a:srgbClr val="F1F5F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Cloud deployment</a:t>
            </a:r>
            <a:endParaRPr lang="en-US" sz="1700" dirty="0"/>
          </a:p>
        </p:txBody>
      </p:sp>
      <p:sp>
        <p:nvSpPr>
          <p:cNvPr id="24" name="Text 18"/>
          <p:cNvSpPr txBox="1"/>
          <p:nvPr/>
        </p:nvSpPr>
        <p:spPr>
          <a:xfrm>
            <a:off x="749808" y="5120922"/>
            <a:ext cx="3108960" cy="4467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9AA8B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ECS, Cloud Run, Kubernetes all take an image and run it. That is the hand-off.</a:t>
            </a:r>
            <a:endParaRPr lang="en-US" sz="1150" dirty="0"/>
          </a:p>
        </p:txBody>
      </p:sp>
      <p:sp>
        <p:nvSpPr>
          <p:cNvPr id="25" name="panel_104"/>
          <p:cNvSpPr/>
          <p:nvPr/>
        </p:nvSpPr>
        <p:spPr>
          <a:xfrm>
            <a:off x="4306824" y="3950208"/>
            <a:ext cx="3511296" cy="1920240"/>
          </a:xfrm>
          <a:prstGeom prst="roundRect">
            <a:avLst>
              <a:gd name="adj" fmla="val 5714"/>
            </a:avLst>
          </a:prstGeom>
          <a:solidFill>
            <a:srgbClr val="131D31"/>
          </a:solidFill>
          <a:ln w="12700">
            <a:solidFill>
              <a:srgbClr val="26375A"/>
            </a:solidFill>
            <a:prstDash val="solid"/>
          </a:ln>
        </p:spPr>
      </p:sp>
      <p:sp>
        <p:nvSpPr>
          <p:cNvPr id="26" name="badge_105"/>
          <p:cNvSpPr/>
          <p:nvPr/>
        </p:nvSpPr>
        <p:spPr>
          <a:xfrm>
            <a:off x="4507992" y="4151376"/>
            <a:ext cx="566928" cy="566928"/>
          </a:xfrm>
          <a:prstGeom prst="ellipse">
            <a:avLst/>
          </a:prstGeom>
          <a:solidFill>
            <a:srgbClr val="7AA116">
              <a:alpha val="18000"/>
            </a:srgbClr>
          </a:solidFill>
          <a:ln w="15875">
            <a:solidFill>
              <a:srgbClr val="7AA116"/>
            </a:solidFill>
            <a:prstDash val="solid"/>
          </a:ln>
        </p:spPr>
      </p:sp>
      <p:pic>
        <p:nvPicPr>
          <p:cNvPr id="27" name="icon_106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61063" y="4304447"/>
            <a:ext cx="260787" cy="260787"/>
          </a:xfrm>
          <a:prstGeom prst="rect">
            <a:avLst/>
          </a:prstGeom>
        </p:spPr>
      </p:pic>
      <p:sp>
        <p:nvSpPr>
          <p:cNvPr id="28" name="Text 21"/>
          <p:cNvSpPr txBox="1"/>
          <p:nvPr/>
        </p:nvSpPr>
        <p:spPr>
          <a:xfrm>
            <a:off x="4507992" y="4791456"/>
            <a:ext cx="3108960" cy="2928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700" b="1" dirty="0">
                <a:solidFill>
                  <a:srgbClr val="F1F5F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Spark and dbt</a:t>
            </a:r>
            <a:endParaRPr lang="en-US" sz="1700" dirty="0"/>
          </a:p>
        </p:txBody>
      </p:sp>
      <p:sp>
        <p:nvSpPr>
          <p:cNvPr id="29" name="Text 22"/>
          <p:cNvSpPr txBox="1"/>
          <p:nvPr/>
        </p:nvSpPr>
        <p:spPr>
          <a:xfrm>
            <a:off x="4507992" y="5120922"/>
            <a:ext cx="3108960" cy="466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9AA8B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official way to run them locally is an image. No Java version fights.</a:t>
            </a:r>
            <a:endParaRPr lang="en-US" sz="1200" dirty="0"/>
          </a:p>
        </p:txBody>
      </p:sp>
      <p:sp>
        <p:nvSpPr>
          <p:cNvPr id="30" name="panel_107"/>
          <p:cNvSpPr/>
          <p:nvPr/>
        </p:nvSpPr>
        <p:spPr>
          <a:xfrm>
            <a:off x="8065008" y="3950208"/>
            <a:ext cx="3511296" cy="1920240"/>
          </a:xfrm>
          <a:prstGeom prst="roundRect">
            <a:avLst>
              <a:gd name="adj" fmla="val 5714"/>
            </a:avLst>
          </a:prstGeom>
          <a:solidFill>
            <a:srgbClr val="131D31"/>
          </a:solidFill>
          <a:ln w="12700">
            <a:solidFill>
              <a:srgbClr val="26375A"/>
            </a:solidFill>
            <a:prstDash val="solid"/>
          </a:ln>
        </p:spPr>
      </p:sp>
      <p:sp>
        <p:nvSpPr>
          <p:cNvPr id="31" name="badge_108"/>
          <p:cNvSpPr/>
          <p:nvPr/>
        </p:nvSpPr>
        <p:spPr>
          <a:xfrm>
            <a:off x="8266176" y="4151376"/>
            <a:ext cx="566928" cy="566928"/>
          </a:xfrm>
          <a:prstGeom prst="ellipse">
            <a:avLst/>
          </a:prstGeom>
          <a:solidFill>
            <a:srgbClr val="E7157B">
              <a:alpha val="18000"/>
            </a:srgbClr>
          </a:solidFill>
          <a:ln w="15875">
            <a:solidFill>
              <a:srgbClr val="E7157B"/>
            </a:solidFill>
            <a:prstDash val="solid"/>
          </a:ln>
        </p:spPr>
      </p:sp>
      <p:pic>
        <p:nvPicPr>
          <p:cNvPr id="32" name="icon_109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19247" y="4304447"/>
            <a:ext cx="260787" cy="260787"/>
          </a:xfrm>
          <a:prstGeom prst="rect">
            <a:avLst/>
          </a:prstGeom>
        </p:spPr>
      </p:pic>
      <p:sp>
        <p:nvSpPr>
          <p:cNvPr id="33" name="Text 25"/>
          <p:cNvSpPr txBox="1"/>
          <p:nvPr/>
        </p:nvSpPr>
        <p:spPr>
          <a:xfrm>
            <a:off x="8266176" y="4791456"/>
            <a:ext cx="3108960" cy="2928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700" b="1" dirty="0">
                <a:solidFill>
                  <a:srgbClr val="F1F5F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Onboarding a teammate</a:t>
            </a:r>
            <a:endParaRPr lang="en-US" sz="1700" dirty="0"/>
          </a:p>
        </p:txBody>
      </p:sp>
      <p:sp>
        <p:nvSpPr>
          <p:cNvPr id="34" name="Text 26"/>
          <p:cNvSpPr txBox="1"/>
          <p:nvPr/>
        </p:nvSpPr>
        <p:spPr>
          <a:xfrm>
            <a:off x="8266176" y="5120922"/>
            <a:ext cx="3108960" cy="466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9AA8B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“Clone the repo, run docker compose up.” That is the whole setup guide now.</a:t>
            </a:r>
            <a:endParaRPr lang="en-US" sz="1200" dirty="0"/>
          </a:p>
        </p:txBody>
      </p:sp>
      <p:sp>
        <p:nvSpPr>
          <p:cNvPr id="35" name="panel_110"/>
          <p:cNvSpPr/>
          <p:nvPr/>
        </p:nvSpPr>
        <p:spPr>
          <a:xfrm>
            <a:off x="548640" y="5943600"/>
            <a:ext cx="11091672" cy="384048"/>
          </a:xfrm>
          <a:prstGeom prst="roundRect">
            <a:avLst>
              <a:gd name="adj" fmla="val 28571"/>
            </a:avLst>
          </a:prstGeom>
          <a:solidFill>
            <a:srgbClr val="1A2741"/>
          </a:solidFill>
          <a:ln w="12700">
            <a:solidFill>
              <a:srgbClr val="29B5E8"/>
            </a:solidFill>
            <a:prstDash val="solid"/>
          </a:ln>
        </p:spPr>
      </p:sp>
      <p:sp>
        <p:nvSpPr>
          <p:cNvPr id="36" name="Text 28"/>
          <p:cNvSpPr txBox="1"/>
          <p:nvPr/>
        </p:nvSpPr>
        <p:spPr>
          <a:xfrm>
            <a:off x="859536" y="6016752"/>
            <a:ext cx="10469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50" b="1" dirty="0">
                <a:solidFill>
                  <a:srgbClr val="F1F5F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Learn Docker once and four other tools on your roadmap get easier at the same time.</a:t>
            </a:r>
            <a:endParaRPr lang="en-US" sz="13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FF99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CHAPTER 1 RECAP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1F5F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Four things before we touch a command</a:t>
            </a:r>
            <a:endParaRPr lang="en-US" sz="3200" dirty="0"/>
          </a:p>
        </p:txBody>
      </p:sp>
      <p:sp>
        <p:nvSpPr>
          <p:cNvPr id="4" name="panel_111"/>
          <p:cNvSpPr/>
          <p:nvPr/>
        </p:nvSpPr>
        <p:spPr>
          <a:xfrm>
            <a:off x="548640" y="1828800"/>
            <a:ext cx="2578608" cy="2286000"/>
          </a:xfrm>
          <a:prstGeom prst="roundRect">
            <a:avLst>
              <a:gd name="adj" fmla="val 4800"/>
            </a:avLst>
          </a:prstGeom>
          <a:solidFill>
            <a:srgbClr val="131D31"/>
          </a:solidFill>
          <a:ln w="12700">
            <a:solidFill>
              <a:srgbClr val="26375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49808" y="2011680"/>
            <a:ext cx="21762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990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1</a:t>
            </a:r>
            <a:endParaRPr lang="en-US" sz="4200" dirty="0"/>
          </a:p>
        </p:txBody>
      </p:sp>
      <p:sp>
        <p:nvSpPr>
          <p:cNvPr id="6" name="Text 4"/>
          <p:cNvSpPr txBox="1"/>
          <p:nvPr/>
        </p:nvSpPr>
        <p:spPr>
          <a:xfrm>
            <a:off x="713232" y="2670048"/>
            <a:ext cx="224942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9AA8B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code is almost never the problem. The machine around it is.</a:t>
            </a:r>
            <a:endParaRPr lang="en-US" sz="1250" dirty="0"/>
          </a:p>
        </p:txBody>
      </p:sp>
      <p:sp>
        <p:nvSpPr>
          <p:cNvPr id="7" name="panel_112"/>
          <p:cNvSpPr/>
          <p:nvPr/>
        </p:nvSpPr>
        <p:spPr>
          <a:xfrm>
            <a:off x="3383280" y="1828800"/>
            <a:ext cx="2578608" cy="2286000"/>
          </a:xfrm>
          <a:prstGeom prst="roundRect">
            <a:avLst>
              <a:gd name="adj" fmla="val 4800"/>
            </a:avLst>
          </a:prstGeom>
          <a:solidFill>
            <a:srgbClr val="131D31"/>
          </a:solidFill>
          <a:ln w="12700">
            <a:solidFill>
              <a:srgbClr val="26375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584448" y="2011680"/>
            <a:ext cx="21762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2DD4B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2</a:t>
            </a:r>
            <a:endParaRPr lang="en-US" sz="4200" dirty="0"/>
          </a:p>
        </p:txBody>
      </p:sp>
      <p:sp>
        <p:nvSpPr>
          <p:cNvPr id="9" name="Text 7"/>
          <p:cNvSpPr txBox="1"/>
          <p:nvPr/>
        </p:nvSpPr>
        <p:spPr>
          <a:xfrm>
            <a:off x="3547872" y="2670048"/>
            <a:ext cx="224942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9AA8B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README is a human checklist, and humans skip steps.</a:t>
            </a:r>
            <a:endParaRPr lang="en-US" sz="1250" dirty="0"/>
          </a:p>
        </p:txBody>
      </p:sp>
      <p:sp>
        <p:nvSpPr>
          <p:cNvPr id="10" name="panel_113"/>
          <p:cNvSpPr/>
          <p:nvPr/>
        </p:nvSpPr>
        <p:spPr>
          <a:xfrm>
            <a:off x="6217920" y="1828800"/>
            <a:ext cx="2578608" cy="2286000"/>
          </a:xfrm>
          <a:prstGeom prst="roundRect">
            <a:avLst>
              <a:gd name="adj" fmla="val 4800"/>
            </a:avLst>
          </a:prstGeom>
          <a:solidFill>
            <a:srgbClr val="131D31"/>
          </a:solidFill>
          <a:ln w="12700">
            <a:solidFill>
              <a:srgbClr val="26375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19088" y="2011680"/>
            <a:ext cx="21762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29B5E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3</a:t>
            </a:r>
            <a:endParaRPr lang="en-US" sz="4200" dirty="0"/>
          </a:p>
        </p:txBody>
      </p:sp>
      <p:sp>
        <p:nvSpPr>
          <p:cNvPr id="12" name="Text 10"/>
          <p:cNvSpPr txBox="1"/>
          <p:nvPr/>
        </p:nvSpPr>
        <p:spPr>
          <a:xfrm>
            <a:off x="6382512" y="2670048"/>
            <a:ext cx="224942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9AA8B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container is a locked room with its own files, sharing your real kernel.</a:t>
            </a:r>
            <a:endParaRPr lang="en-US" sz="1250" dirty="0"/>
          </a:p>
        </p:txBody>
      </p:sp>
      <p:sp>
        <p:nvSpPr>
          <p:cNvPr id="13" name="panel_114"/>
          <p:cNvSpPr/>
          <p:nvPr/>
        </p:nvSpPr>
        <p:spPr>
          <a:xfrm>
            <a:off x="9052560" y="1828800"/>
            <a:ext cx="2578608" cy="2286000"/>
          </a:xfrm>
          <a:prstGeom prst="roundRect">
            <a:avLst>
              <a:gd name="adj" fmla="val 4800"/>
            </a:avLst>
          </a:prstGeom>
          <a:solidFill>
            <a:srgbClr val="131D31"/>
          </a:solidFill>
          <a:ln w="12700">
            <a:solidFill>
              <a:srgbClr val="26375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9253728" y="2011680"/>
            <a:ext cx="21762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8C4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4</a:t>
            </a:r>
            <a:endParaRPr lang="en-US" sz="4200" dirty="0"/>
          </a:p>
        </p:txBody>
      </p:sp>
      <p:sp>
        <p:nvSpPr>
          <p:cNvPr id="15" name="Text 13"/>
          <p:cNvSpPr txBox="1"/>
          <p:nvPr/>
        </p:nvSpPr>
        <p:spPr>
          <a:xfrm>
            <a:off x="9217152" y="2670048"/>
            <a:ext cx="224942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9AA8B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Same image, same behaviour, on every laptop and every server.</a:t>
            </a:r>
            <a:endParaRPr lang="en-US" sz="1250" dirty="0"/>
          </a:p>
        </p:txBody>
      </p:sp>
      <p:sp>
        <p:nvSpPr>
          <p:cNvPr id="16" name="panel_115"/>
          <p:cNvSpPr/>
          <p:nvPr/>
        </p:nvSpPr>
        <p:spPr>
          <a:xfrm>
            <a:off x="548640" y="4434840"/>
            <a:ext cx="11091672" cy="1463040"/>
          </a:xfrm>
          <a:prstGeom prst="roundRect">
            <a:avLst>
              <a:gd name="adj" fmla="val 7500"/>
            </a:avLst>
          </a:prstGeom>
          <a:solidFill>
            <a:srgbClr val="1A2741"/>
          </a:solidFill>
          <a:ln w="12700">
            <a:solidFill>
              <a:srgbClr val="7AA116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68680" y="4645152"/>
            <a:ext cx="10424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7AA11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CHECK YOURSELF BEFORE WE MOVE ON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868680" y="5010912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Explain to the person next to you, in one sentence and without the word “Docker”, what a container is.</a:t>
            </a:r>
            <a:endParaRPr lang="en-US" sz="1450" dirty="0"/>
          </a:p>
          <a:p>
            <a:pPr marL="203200" indent="-2032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Name one thing a virtualenv cannot fix that a container can.</a:t>
            </a:r>
            <a:endParaRPr lang="en-US" sz="14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822960" y="1554480"/>
            <a:ext cx="5486400" cy="1463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1000" b="1" dirty="0">
                <a:solidFill>
                  <a:srgbClr val="FF990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02</a:t>
            </a:r>
            <a:endParaRPr lang="en-US" sz="110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822960" y="310896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1F5F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Images and containers</a:t>
            </a:r>
            <a:endParaRPr lang="en-US" sz="4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822960" y="4160520"/>
            <a:ext cx="9144000" cy="109728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2000" dirty="0">
                <a:solidFill>
                  <a:srgbClr val="9AA8B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Two words, one difference, and the eight commands you will actually use</a:t>
            </a:r>
            <a:endParaRPr lang="en-US" sz="2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FF99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ONE THING PEOPLE GET WRONG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1F5F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Image vs container</a:t>
            </a:r>
            <a:endParaRPr lang="en-US" sz="3200" dirty="0"/>
          </a:p>
        </p:txBody>
      </p:sp>
      <p:sp>
        <p:nvSpPr>
          <p:cNvPr id="4" name="panel_116"/>
          <p:cNvSpPr/>
          <p:nvPr/>
        </p:nvSpPr>
        <p:spPr>
          <a:xfrm>
            <a:off x="548640" y="1591056"/>
            <a:ext cx="5394960" cy="2286000"/>
          </a:xfrm>
          <a:prstGeom prst="roundRect">
            <a:avLst>
              <a:gd name="adj" fmla="val 4800"/>
            </a:avLst>
          </a:prstGeom>
          <a:solidFill>
            <a:srgbClr val="131D31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5" name="badge_117"/>
          <p:cNvSpPr/>
          <p:nvPr/>
        </p:nvSpPr>
        <p:spPr>
          <a:xfrm>
            <a:off x="841248" y="1828800"/>
            <a:ext cx="603504" cy="603504"/>
          </a:xfrm>
          <a:prstGeom prst="ellipse">
            <a:avLst/>
          </a:prstGeom>
          <a:solidFill>
            <a:srgbClr val="FF9900">
              <a:alpha val="18000"/>
            </a:srgbClr>
          </a:solidFill>
          <a:ln w="15875">
            <a:solidFill>
              <a:srgbClr val="FF9900"/>
            </a:solidFill>
            <a:prstDash val="solid"/>
          </a:ln>
        </p:spPr>
      </p:sp>
      <p:pic>
        <p:nvPicPr>
          <p:cNvPr id="6" name="icon_118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4194" y="1991746"/>
            <a:ext cx="277612" cy="27761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627632" y="1901952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990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IMAGE</a:t>
            </a:r>
            <a:endParaRPr lang="en-US" sz="2200" dirty="0"/>
          </a:p>
        </p:txBody>
      </p:sp>
      <p:sp>
        <p:nvSpPr>
          <p:cNvPr id="8" name="Text 5"/>
          <p:cNvSpPr txBox="1"/>
          <p:nvPr/>
        </p:nvSpPr>
        <p:spPr>
          <a:xfrm>
            <a:off x="841248" y="2606040"/>
            <a:ext cx="480974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400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recipe, written down and sealed. It never changes. It does nothing on its own. It just sits on your disk taking up space.</a:t>
            </a:r>
            <a:endParaRPr lang="en-US" sz="1400" dirty="0"/>
          </a:p>
        </p:txBody>
      </p:sp>
      <p:sp>
        <p:nvSpPr>
          <p:cNvPr id="9" name="panel_119"/>
          <p:cNvSpPr/>
          <p:nvPr/>
        </p:nvSpPr>
        <p:spPr>
          <a:xfrm>
            <a:off x="6245352" y="1591056"/>
            <a:ext cx="5394960" cy="2286000"/>
          </a:xfrm>
          <a:prstGeom prst="roundRect">
            <a:avLst>
              <a:gd name="adj" fmla="val 4800"/>
            </a:avLst>
          </a:prstGeom>
          <a:solidFill>
            <a:srgbClr val="131D31"/>
          </a:solidFill>
          <a:ln w="12700">
            <a:solidFill>
              <a:srgbClr val="29B5E8"/>
            </a:solidFill>
            <a:prstDash val="solid"/>
          </a:ln>
        </p:spPr>
      </p:sp>
      <p:sp>
        <p:nvSpPr>
          <p:cNvPr id="10" name="badge_120"/>
          <p:cNvSpPr/>
          <p:nvPr/>
        </p:nvSpPr>
        <p:spPr>
          <a:xfrm>
            <a:off x="6537960" y="1828800"/>
            <a:ext cx="603504" cy="603504"/>
          </a:xfrm>
          <a:prstGeom prst="ellipse">
            <a:avLst/>
          </a:prstGeom>
          <a:solidFill>
            <a:srgbClr val="29B5E8">
              <a:alpha val="18000"/>
            </a:srgbClr>
          </a:solidFill>
          <a:ln w="15875">
            <a:solidFill>
              <a:srgbClr val="29B5E8"/>
            </a:solidFill>
            <a:prstDash val="solid"/>
          </a:ln>
        </p:spPr>
      </p:sp>
      <p:pic>
        <p:nvPicPr>
          <p:cNvPr id="11" name="icon_12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00906" y="1991746"/>
            <a:ext cx="277612" cy="277612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7324344" y="1901952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29B5E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CONTAINER</a:t>
            </a:r>
            <a:endParaRPr lang="en-US" sz="2200" dirty="0"/>
          </a:p>
        </p:txBody>
      </p:sp>
      <p:sp>
        <p:nvSpPr>
          <p:cNvPr id="13" name="Text 9"/>
          <p:cNvSpPr txBox="1"/>
          <p:nvPr/>
        </p:nvSpPr>
        <p:spPr>
          <a:xfrm>
            <a:off x="6537960" y="2606040"/>
            <a:ext cx="480974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400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cake you baked from that recipe. It is alive, it uses memory and CPU, it writes files, and you can throw it away.</a:t>
            </a:r>
            <a:endParaRPr lang="en-US" sz="1400" dirty="0"/>
          </a:p>
        </p:txBody>
      </p:sp>
      <p:sp>
        <p:nvSpPr>
          <p:cNvPr id="14" name="ivc"/>
          <p:cNvSpPr/>
          <p:nvPr/>
        </p:nvSpPr>
        <p:spPr>
          <a:xfrm>
            <a:off x="5961888" y="2606040"/>
            <a:ext cx="237744" cy="237744"/>
          </a:xfrm>
          <a:prstGeom prst="rightArrow">
            <a:avLst/>
          </a:prstGeom>
          <a:solidFill>
            <a:srgbClr val="26375A"/>
          </a:solidFill>
          <a:ln w="12700">
            <a:solidFill>
              <a:srgbClr val="333333"/>
            </a:solidFill>
            <a:prstDash val="solid"/>
          </a:ln>
        </p:spPr>
      </p:sp>
      <p:graphicFrame>
        <p:nvGraphicFramePr>
          <p:cNvPr id="15" name="table_12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4069080"/>
          <a:ext cx="11091672" cy="914400"/>
        </p:xfrm>
        <a:graphic>
          <a:graphicData uri="http://schemas.openxmlformats.org/drawingml/2006/table">
            <a:tbl>
              <a:tblPr/>
              <a:tblGrid>
                <a:gridCol w="3200400"/>
                <a:gridCol w="3931920"/>
                <a:gridCol w="3959352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1F5F9"/>
                          </a:solidFill>
                          <a:latin typeface="Segoe UI Semibold" pitchFamily="34" charset="0"/>
                          <a:ea typeface="Segoe UI Semibold" pitchFamily="34" charset="-122"/>
                          <a:cs typeface="Segoe UI Semibold" pitchFamily="34" charset="-120"/>
                        </a:rPr>
                        <a:t>Question</a:t>
                      </a:r>
                      <a:endParaRPr lang="en-US" sz="1300" dirty="0">
                        <a:latin typeface="Segoe UI Semibold" charset="0"/>
                        <a:ea typeface="Segoe UI Semibold" charset="0"/>
                        <a:cs typeface="Segoe UI Semibold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263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3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3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3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B4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1F5F9"/>
                          </a:solidFill>
                          <a:latin typeface="Segoe UI Semibold" pitchFamily="34" charset="0"/>
                          <a:ea typeface="Segoe UI Semibold" pitchFamily="34" charset="-122"/>
                          <a:cs typeface="Segoe UI Semibold" pitchFamily="34" charset="-120"/>
                        </a:rPr>
                        <a:t>Image</a:t>
                      </a:r>
                      <a:endParaRPr lang="en-US" sz="1300" dirty="0">
                        <a:latin typeface="Segoe UI Semibold" charset="0"/>
                        <a:ea typeface="Segoe UI Semibold" charset="0"/>
                        <a:cs typeface="Segoe UI Semibold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263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3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3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3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B4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1F5F9"/>
                          </a:solidFill>
                          <a:latin typeface="Segoe UI Semibold" pitchFamily="34" charset="0"/>
                          <a:ea typeface="Segoe UI Semibold" pitchFamily="34" charset="-122"/>
                          <a:cs typeface="Segoe UI Semibold" pitchFamily="34" charset="-120"/>
                        </a:rPr>
                        <a:t>Container</a:t>
                      </a:r>
                      <a:endParaRPr lang="en-US" sz="1300" dirty="0">
                        <a:latin typeface="Segoe UI Semibold" charset="0"/>
                        <a:ea typeface="Segoe UI Semibold" charset="0"/>
                        <a:cs typeface="Segoe UI Semibold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263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3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3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3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B4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1F5F9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Can you change it?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263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3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3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3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1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9AA8BD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No, it is read-only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263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3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3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3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1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9AA8BD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Yes, while it runs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263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3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3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3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13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1F5F9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How many from one?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263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3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3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3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B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9AA8BD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—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263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3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3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3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B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9AA8BD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As many as you like, all from one image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263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3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3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3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B2E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1F5F9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Where does it live?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263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3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3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3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1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9AA8BD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On disk, and on Docker Hub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263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3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3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3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1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9AA8BD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In memory, until you stop it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263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3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3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3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13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1F5F9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Everyday word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263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3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3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3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B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9AA8BD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“build” or “pull” it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263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3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3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3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B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9AA8BD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“run” or “start” it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263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3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3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3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B2E"/>
                    </a:solidFill>
                  </a:tcPr>
                </a:tc>
              </a:tr>
            </a:tbl>
          </a:graphicData>
        </a:graphic>
      </p:graphicFrame>
      <p:sp>
        <p:nvSpPr>
          <p:cNvPr id="16" name="panel_123"/>
          <p:cNvSpPr/>
          <p:nvPr/>
        </p:nvSpPr>
        <p:spPr>
          <a:xfrm>
            <a:off x="548640" y="5870448"/>
            <a:ext cx="11091672" cy="411480"/>
          </a:xfrm>
          <a:prstGeom prst="roundRect">
            <a:avLst>
              <a:gd name="adj" fmla="val 26667"/>
            </a:avLst>
          </a:prstGeom>
          <a:solidFill>
            <a:srgbClr val="1A2741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17" name="Text 12"/>
          <p:cNvSpPr txBox="1"/>
          <p:nvPr/>
        </p:nvSpPr>
        <p:spPr>
          <a:xfrm>
            <a:off x="859536" y="5943600"/>
            <a:ext cx="1046988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50" b="1" dirty="0">
                <a:solidFill>
                  <a:srgbClr val="F1F5F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One recipe, ten cakes. One image, ten containers. Deleting a cake does not delete the recipe.</a:t>
            </a:r>
            <a:endParaRPr lang="en-US" sz="13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FF99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WHERE IMAGES COME FROM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1F5F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Docker Hub, the app store for images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36192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9AA8B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You will almost never build a database or a web server yourself. Someone already published an official image, and you just pull it.</a:t>
            </a:r>
            <a:endParaRPr lang="en-US" sz="1500" dirty="0"/>
          </a:p>
        </p:txBody>
      </p:sp>
      <p:sp>
        <p:nvSpPr>
          <p:cNvPr id="5" name="panel_124"/>
          <p:cNvSpPr/>
          <p:nvPr/>
        </p:nvSpPr>
        <p:spPr>
          <a:xfrm>
            <a:off x="548640" y="1993392"/>
            <a:ext cx="2594610" cy="1463040"/>
          </a:xfrm>
          <a:prstGeom prst="roundRect">
            <a:avLst>
              <a:gd name="adj" fmla="val 7500"/>
            </a:avLst>
          </a:prstGeom>
          <a:solidFill>
            <a:srgbClr val="131D31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2139696"/>
            <a:ext cx="222885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FF990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01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450592"/>
            <a:ext cx="22288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F1F5F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You type docker run</a:t>
            </a:r>
            <a:endParaRPr lang="en-US" sz="145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2926080"/>
            <a:ext cx="222885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9AA8B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You name an image, say postgres:16.</a:t>
            </a:r>
            <a:endParaRPr lang="en-US" sz="1200" dirty="0"/>
          </a:p>
        </p:txBody>
      </p:sp>
      <p:sp>
        <p:nvSpPr>
          <p:cNvPr id="9" name="arrow_125"/>
          <p:cNvSpPr/>
          <p:nvPr/>
        </p:nvSpPr>
        <p:spPr>
          <a:xfrm>
            <a:off x="3170682" y="2642616"/>
            <a:ext cx="182880" cy="164592"/>
          </a:xfrm>
          <a:prstGeom prst="rightArrow">
            <a:avLst/>
          </a:prstGeom>
          <a:solidFill>
            <a:srgbClr val="26375A"/>
          </a:solidFill>
          <a:ln w="12700">
            <a:solidFill>
              <a:srgbClr val="26375A"/>
            </a:solidFill>
            <a:prstDash val="solid"/>
          </a:ln>
        </p:spPr>
      </p:sp>
      <p:sp>
        <p:nvSpPr>
          <p:cNvPr id="10" name="panel_126"/>
          <p:cNvSpPr/>
          <p:nvPr/>
        </p:nvSpPr>
        <p:spPr>
          <a:xfrm>
            <a:off x="3380994" y="1993392"/>
            <a:ext cx="2594610" cy="1463040"/>
          </a:xfrm>
          <a:prstGeom prst="roundRect">
            <a:avLst>
              <a:gd name="adj" fmla="val 7500"/>
            </a:avLst>
          </a:prstGeom>
          <a:solidFill>
            <a:srgbClr val="131D31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563874" y="2139696"/>
            <a:ext cx="222885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2DD4B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02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3563874" y="2450592"/>
            <a:ext cx="22288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F1F5F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Docker looks locally</a:t>
            </a:r>
            <a:endParaRPr lang="en-US" sz="1450" dirty="0"/>
          </a:p>
        </p:txBody>
      </p:sp>
      <p:sp>
        <p:nvSpPr>
          <p:cNvPr id="13" name="Text 11"/>
          <p:cNvSpPr txBox="1"/>
          <p:nvPr/>
        </p:nvSpPr>
        <p:spPr>
          <a:xfrm>
            <a:off x="3563874" y="2926080"/>
            <a:ext cx="222885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9AA8B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Already on your disk? Then it skips the download.</a:t>
            </a:r>
            <a:endParaRPr lang="en-US" sz="1200" dirty="0"/>
          </a:p>
        </p:txBody>
      </p:sp>
      <p:sp>
        <p:nvSpPr>
          <p:cNvPr id="14" name="arrow_127"/>
          <p:cNvSpPr/>
          <p:nvPr/>
        </p:nvSpPr>
        <p:spPr>
          <a:xfrm>
            <a:off x="6003036" y="2642616"/>
            <a:ext cx="182880" cy="164592"/>
          </a:xfrm>
          <a:prstGeom prst="rightArrow">
            <a:avLst/>
          </a:prstGeom>
          <a:solidFill>
            <a:srgbClr val="26375A"/>
          </a:solidFill>
          <a:ln w="12700">
            <a:solidFill>
              <a:srgbClr val="26375A"/>
            </a:solidFill>
            <a:prstDash val="solid"/>
          </a:ln>
        </p:spPr>
      </p:sp>
      <p:sp>
        <p:nvSpPr>
          <p:cNvPr id="15" name="panel_128"/>
          <p:cNvSpPr/>
          <p:nvPr/>
        </p:nvSpPr>
        <p:spPr>
          <a:xfrm>
            <a:off x="6213348" y="1993392"/>
            <a:ext cx="2594610" cy="1463040"/>
          </a:xfrm>
          <a:prstGeom prst="roundRect">
            <a:avLst>
              <a:gd name="adj" fmla="val 7500"/>
            </a:avLst>
          </a:prstGeom>
          <a:solidFill>
            <a:srgbClr val="131D31"/>
          </a:solidFill>
          <a:ln w="12700">
            <a:solidFill>
              <a:srgbClr val="29B5E8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396228" y="2139696"/>
            <a:ext cx="222885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29B5E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03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6396228" y="2450592"/>
            <a:ext cx="22288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F1F5F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Otherwise it pulls</a:t>
            </a:r>
            <a:endParaRPr lang="en-US" sz="1450" dirty="0"/>
          </a:p>
        </p:txBody>
      </p:sp>
      <p:sp>
        <p:nvSpPr>
          <p:cNvPr id="18" name="Text 16"/>
          <p:cNvSpPr txBox="1"/>
          <p:nvPr/>
        </p:nvSpPr>
        <p:spPr>
          <a:xfrm>
            <a:off x="6396228" y="2926080"/>
            <a:ext cx="222885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9AA8B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It downloads from Docker Hub, in layers.</a:t>
            </a:r>
            <a:endParaRPr lang="en-US" sz="1200" dirty="0"/>
          </a:p>
        </p:txBody>
      </p:sp>
      <p:sp>
        <p:nvSpPr>
          <p:cNvPr id="19" name="arrow_129"/>
          <p:cNvSpPr/>
          <p:nvPr/>
        </p:nvSpPr>
        <p:spPr>
          <a:xfrm>
            <a:off x="8835390" y="2642616"/>
            <a:ext cx="182880" cy="164592"/>
          </a:xfrm>
          <a:prstGeom prst="rightArrow">
            <a:avLst/>
          </a:prstGeom>
          <a:solidFill>
            <a:srgbClr val="26375A"/>
          </a:solidFill>
          <a:ln w="12700">
            <a:solidFill>
              <a:srgbClr val="26375A"/>
            </a:solidFill>
            <a:prstDash val="solid"/>
          </a:ln>
        </p:spPr>
      </p:sp>
      <p:sp>
        <p:nvSpPr>
          <p:cNvPr id="20" name="panel_130"/>
          <p:cNvSpPr/>
          <p:nvPr/>
        </p:nvSpPr>
        <p:spPr>
          <a:xfrm>
            <a:off x="9045702" y="1993392"/>
            <a:ext cx="2594610" cy="1463040"/>
          </a:xfrm>
          <a:prstGeom prst="roundRect">
            <a:avLst>
              <a:gd name="adj" fmla="val 7500"/>
            </a:avLst>
          </a:prstGeom>
          <a:solidFill>
            <a:srgbClr val="131D31"/>
          </a:solidFill>
          <a:ln w="12700">
            <a:solidFill>
              <a:srgbClr val="8C4FF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9228582" y="2139696"/>
            <a:ext cx="222885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8C4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04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9228582" y="2450592"/>
            <a:ext cx="22288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F1F5F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Then it runs it</a:t>
            </a:r>
            <a:endParaRPr lang="en-US" sz="1450" dirty="0"/>
          </a:p>
        </p:txBody>
      </p:sp>
      <p:sp>
        <p:nvSpPr>
          <p:cNvPr id="23" name="Text 21"/>
          <p:cNvSpPr txBox="1"/>
          <p:nvPr/>
        </p:nvSpPr>
        <p:spPr>
          <a:xfrm>
            <a:off x="9228582" y="2926080"/>
            <a:ext cx="222885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9AA8B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container starts from that image.</a:t>
            </a:r>
            <a:endParaRPr lang="en-US" sz="1200" dirty="0"/>
          </a:p>
        </p:txBody>
      </p:sp>
      <p:sp>
        <p:nvSpPr>
          <p:cNvPr id="24" name="panel_131"/>
          <p:cNvSpPr/>
          <p:nvPr/>
        </p:nvSpPr>
        <p:spPr>
          <a:xfrm>
            <a:off x="548640" y="3657600"/>
            <a:ext cx="5852160" cy="2103120"/>
          </a:xfrm>
          <a:prstGeom prst="roundRect">
            <a:avLst>
              <a:gd name="adj" fmla="val 5217"/>
            </a:avLst>
          </a:prstGeom>
          <a:solidFill>
            <a:srgbClr val="0D1526"/>
          </a:solidFill>
          <a:ln w="12700">
            <a:solidFill>
              <a:srgbClr val="26375A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86384" y="3822192"/>
            <a:ext cx="53766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FF99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READING AN IMAGE NAME</a:t>
            </a:r>
            <a:endParaRPr lang="en-US" sz="1050" dirty="0"/>
          </a:p>
        </p:txBody>
      </p:sp>
      <p:sp>
        <p:nvSpPr>
          <p:cNvPr id="26" name="Text 24"/>
          <p:cNvSpPr txBox="1"/>
          <p:nvPr/>
        </p:nvSpPr>
        <p:spPr>
          <a:xfrm>
            <a:off x="786384" y="4169664"/>
            <a:ext cx="5376672" cy="1408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postgres:16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5B6B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└── name   └─ tag (the version)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python:3.11-slim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ghcr.io/myteam/sales-etl:v2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5B6B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└─ registry  └─ owner  └─ name</a:t>
            </a:r>
            <a:endParaRPr lang="en-US" sz="1050" dirty="0"/>
          </a:p>
        </p:txBody>
      </p:sp>
      <p:sp>
        <p:nvSpPr>
          <p:cNvPr id="27" name="panel_132"/>
          <p:cNvSpPr/>
          <p:nvPr/>
        </p:nvSpPr>
        <p:spPr>
          <a:xfrm>
            <a:off x="6702552" y="3657600"/>
            <a:ext cx="4937760" cy="2103120"/>
          </a:xfrm>
          <a:prstGeom prst="roundRect">
            <a:avLst>
              <a:gd name="adj" fmla="val 5217"/>
            </a:avLst>
          </a:prstGeom>
          <a:solidFill>
            <a:srgbClr val="1A2741"/>
          </a:solidFill>
          <a:ln w="12700">
            <a:solidFill>
              <a:srgbClr val="F2545B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976872" y="3858768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30" kern="0" dirty="0">
                <a:solidFill>
                  <a:srgbClr val="F2545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NEVER USE :latest IN REAL WORK</a:t>
            </a:r>
            <a:endParaRPr lang="en-US" sz="1100" dirty="0"/>
          </a:p>
        </p:txBody>
      </p:sp>
      <p:sp>
        <p:nvSpPr>
          <p:cNvPr id="29" name="Text 27"/>
          <p:cNvSpPr txBox="1"/>
          <p:nvPr/>
        </p:nvSpPr>
        <p:spPr>
          <a:xfrm>
            <a:off x="6976872" y="4224528"/>
            <a:ext cx="4389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python:latest means “whatever is newest today”. Your build works in March and breaks in April, and the diff shows no change. Pin the version: python:3.11-slim.</a:t>
            </a:r>
            <a:endParaRPr lang="en-US" sz="13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FF99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TYPE THIS NOW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1F5F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Your first container</a:t>
            </a:r>
            <a:endParaRPr lang="en-US" sz="3200" dirty="0"/>
          </a:p>
        </p:txBody>
      </p:sp>
      <p:sp>
        <p:nvSpPr>
          <p:cNvPr id="4" name="panel_133"/>
          <p:cNvSpPr/>
          <p:nvPr/>
        </p:nvSpPr>
        <p:spPr>
          <a:xfrm>
            <a:off x="548640" y="1627632"/>
            <a:ext cx="5852160" cy="1371600"/>
          </a:xfrm>
          <a:prstGeom prst="roundRect">
            <a:avLst>
              <a:gd name="adj" fmla="val 8000"/>
            </a:avLst>
          </a:prstGeom>
          <a:solidFill>
            <a:srgbClr val="0D1526"/>
          </a:solidFill>
          <a:ln w="12700">
            <a:solidFill>
              <a:srgbClr val="26375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86384" y="1792224"/>
            <a:ext cx="53766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FF99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 YOUR TERMINAL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786384" y="2139696"/>
            <a:ext cx="537667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7AA1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run hello-world</a:t>
            </a:r>
            <a:endParaRPr lang="en-US" sz="1400" dirty="0"/>
          </a:p>
        </p:txBody>
      </p:sp>
      <p:sp>
        <p:nvSpPr>
          <p:cNvPr id="7" name="panel_134"/>
          <p:cNvSpPr/>
          <p:nvPr/>
        </p:nvSpPr>
        <p:spPr>
          <a:xfrm>
            <a:off x="6702552" y="1627632"/>
            <a:ext cx="4937760" cy="1371600"/>
          </a:xfrm>
          <a:prstGeom prst="roundRect">
            <a:avLst>
              <a:gd name="adj" fmla="val 8000"/>
            </a:avLst>
          </a:prstGeom>
          <a:solidFill>
            <a:srgbClr val="1A2741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976872" y="1810512"/>
            <a:ext cx="4389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30" kern="0" dirty="0">
                <a:solidFill>
                  <a:srgbClr val="FF99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IF IT FAILS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6976872" y="2139696"/>
            <a:ext cx="4389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“Cannot connect to the Docker daemon” means Docker Desktop is not running. Open it and wait for the whale to stop moving.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3182112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29B5E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JUST HAPPENED, IN FOUR STEPS</a:t>
            </a:r>
            <a:endParaRPr lang="en-US" sz="1200" dirty="0"/>
          </a:p>
        </p:txBody>
      </p:sp>
      <p:sp>
        <p:nvSpPr>
          <p:cNvPr id="11" name="panel_135"/>
          <p:cNvSpPr/>
          <p:nvPr/>
        </p:nvSpPr>
        <p:spPr>
          <a:xfrm>
            <a:off x="548640" y="3493008"/>
            <a:ext cx="2578608" cy="1682496"/>
          </a:xfrm>
          <a:prstGeom prst="roundRect">
            <a:avLst>
              <a:gd name="adj" fmla="val 6522"/>
            </a:avLst>
          </a:prstGeom>
          <a:solidFill>
            <a:srgbClr val="131D31"/>
          </a:solidFill>
          <a:ln w="12700">
            <a:solidFill>
              <a:srgbClr val="26375A"/>
            </a:solidFill>
            <a:prstDash val="solid"/>
          </a:ln>
        </p:spPr>
      </p:sp>
      <p:sp>
        <p:nvSpPr>
          <p:cNvPr id="12" name="badge_136"/>
          <p:cNvSpPr/>
          <p:nvPr/>
        </p:nvSpPr>
        <p:spPr>
          <a:xfrm>
            <a:off x="731520" y="3675888"/>
            <a:ext cx="493776" cy="493776"/>
          </a:xfrm>
          <a:prstGeom prst="ellipse">
            <a:avLst/>
          </a:prstGeom>
          <a:solidFill>
            <a:srgbClr val="FF9900">
              <a:alpha val="18000"/>
            </a:srgbClr>
          </a:solidFill>
          <a:ln w="15875">
            <a:solidFill>
              <a:srgbClr val="FF9900"/>
            </a:solidFill>
            <a:prstDash val="solid"/>
          </a:ln>
        </p:spPr>
      </p:sp>
      <p:pic>
        <p:nvPicPr>
          <p:cNvPr id="13" name="icon_137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4840" y="3809208"/>
            <a:ext cx="227137" cy="227137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731520" y="4242816"/>
            <a:ext cx="2212848" cy="258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500" b="1" dirty="0">
                <a:solidFill>
                  <a:srgbClr val="F1F5F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Looked on your disk</a:t>
            </a:r>
            <a:endParaRPr lang="en-US" sz="1500" dirty="0"/>
          </a:p>
        </p:txBody>
      </p:sp>
      <p:sp>
        <p:nvSpPr>
          <p:cNvPr id="15" name="Text 12"/>
          <p:cNvSpPr txBox="1"/>
          <p:nvPr/>
        </p:nvSpPr>
        <p:spPr>
          <a:xfrm>
            <a:off x="731520" y="4537824"/>
            <a:ext cx="2212848" cy="2233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9AA8B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hello-world image found.</a:t>
            </a:r>
            <a:endParaRPr lang="en-US" sz="1150" dirty="0"/>
          </a:p>
        </p:txBody>
      </p:sp>
      <p:sp>
        <p:nvSpPr>
          <p:cNvPr id="16" name="panel_138"/>
          <p:cNvSpPr/>
          <p:nvPr/>
        </p:nvSpPr>
        <p:spPr>
          <a:xfrm>
            <a:off x="3383280" y="3493008"/>
            <a:ext cx="2578608" cy="1682496"/>
          </a:xfrm>
          <a:prstGeom prst="roundRect">
            <a:avLst>
              <a:gd name="adj" fmla="val 6522"/>
            </a:avLst>
          </a:prstGeom>
          <a:solidFill>
            <a:srgbClr val="131D31"/>
          </a:solidFill>
          <a:ln w="12700">
            <a:solidFill>
              <a:srgbClr val="26375A"/>
            </a:solidFill>
            <a:prstDash val="solid"/>
          </a:ln>
        </p:spPr>
      </p:sp>
      <p:sp>
        <p:nvSpPr>
          <p:cNvPr id="17" name="badge_139"/>
          <p:cNvSpPr/>
          <p:nvPr/>
        </p:nvSpPr>
        <p:spPr>
          <a:xfrm>
            <a:off x="3566160" y="3675888"/>
            <a:ext cx="493776" cy="493776"/>
          </a:xfrm>
          <a:prstGeom prst="ellipse">
            <a:avLst/>
          </a:prstGeom>
          <a:solidFill>
            <a:srgbClr val="2DD4BF">
              <a:alpha val="18000"/>
            </a:srgbClr>
          </a:solidFill>
          <a:ln w="15875">
            <a:solidFill>
              <a:srgbClr val="2DD4BF"/>
            </a:solidFill>
            <a:prstDash val="solid"/>
          </a:ln>
        </p:spPr>
      </p:sp>
      <p:pic>
        <p:nvPicPr>
          <p:cNvPr id="18" name="icon_14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99480" y="3809208"/>
            <a:ext cx="227137" cy="227137"/>
          </a:xfrm>
          <a:prstGeom prst="rect">
            <a:avLst/>
          </a:prstGeom>
        </p:spPr>
      </p:pic>
      <p:sp>
        <p:nvSpPr>
          <p:cNvPr id="19" name="Text 15"/>
          <p:cNvSpPr txBox="1"/>
          <p:nvPr/>
        </p:nvSpPr>
        <p:spPr>
          <a:xfrm>
            <a:off x="3566160" y="4242816"/>
            <a:ext cx="2212848" cy="258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500" b="1" dirty="0">
                <a:solidFill>
                  <a:srgbClr val="F1F5F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Pulled from Docker Hub</a:t>
            </a:r>
            <a:endParaRPr lang="en-US" sz="1500" dirty="0"/>
          </a:p>
        </p:txBody>
      </p:sp>
      <p:sp>
        <p:nvSpPr>
          <p:cNvPr id="20" name="Text 16"/>
          <p:cNvSpPr txBox="1"/>
          <p:nvPr/>
        </p:nvSpPr>
        <p:spPr>
          <a:xfrm>
            <a:off x="3566160" y="4537824"/>
            <a:ext cx="2212848" cy="2233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9AA8B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Downloaded it. About 13 kB.</a:t>
            </a:r>
            <a:endParaRPr lang="en-US" sz="1150" dirty="0"/>
          </a:p>
        </p:txBody>
      </p:sp>
      <p:sp>
        <p:nvSpPr>
          <p:cNvPr id="21" name="panel_141"/>
          <p:cNvSpPr/>
          <p:nvPr/>
        </p:nvSpPr>
        <p:spPr>
          <a:xfrm>
            <a:off x="6217920" y="3493008"/>
            <a:ext cx="2578608" cy="1682496"/>
          </a:xfrm>
          <a:prstGeom prst="roundRect">
            <a:avLst>
              <a:gd name="adj" fmla="val 6522"/>
            </a:avLst>
          </a:prstGeom>
          <a:solidFill>
            <a:srgbClr val="131D31"/>
          </a:solidFill>
          <a:ln w="12700">
            <a:solidFill>
              <a:srgbClr val="26375A"/>
            </a:solidFill>
            <a:prstDash val="solid"/>
          </a:ln>
        </p:spPr>
      </p:sp>
      <p:sp>
        <p:nvSpPr>
          <p:cNvPr id="22" name="badge_142"/>
          <p:cNvSpPr/>
          <p:nvPr/>
        </p:nvSpPr>
        <p:spPr>
          <a:xfrm>
            <a:off x="6400800" y="3675888"/>
            <a:ext cx="493776" cy="493776"/>
          </a:xfrm>
          <a:prstGeom prst="ellipse">
            <a:avLst/>
          </a:prstGeom>
          <a:solidFill>
            <a:srgbClr val="29B5E8">
              <a:alpha val="18000"/>
            </a:srgbClr>
          </a:solidFill>
          <a:ln w="15875">
            <a:solidFill>
              <a:srgbClr val="29B5E8"/>
            </a:solidFill>
            <a:prstDash val="solid"/>
          </a:ln>
        </p:spPr>
      </p:sp>
      <p:pic>
        <p:nvPicPr>
          <p:cNvPr id="23" name="icon_143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4120" y="3809208"/>
            <a:ext cx="227137" cy="227137"/>
          </a:xfrm>
          <a:prstGeom prst="rect">
            <a:avLst/>
          </a:prstGeom>
        </p:spPr>
      </p:pic>
      <p:sp>
        <p:nvSpPr>
          <p:cNvPr id="24" name="Text 19"/>
          <p:cNvSpPr txBox="1"/>
          <p:nvPr/>
        </p:nvSpPr>
        <p:spPr>
          <a:xfrm>
            <a:off x="6400800" y="4242816"/>
            <a:ext cx="2212848" cy="258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500" b="1" dirty="0">
                <a:solidFill>
                  <a:srgbClr val="F1F5F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Made a container</a:t>
            </a:r>
            <a:endParaRPr lang="en-US" sz="1500" dirty="0"/>
          </a:p>
        </p:txBody>
      </p:sp>
      <p:sp>
        <p:nvSpPr>
          <p:cNvPr id="25" name="Text 20"/>
          <p:cNvSpPr txBox="1"/>
          <p:nvPr/>
        </p:nvSpPr>
        <p:spPr>
          <a:xfrm>
            <a:off x="6400800" y="4537824"/>
            <a:ext cx="2212848" cy="2233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9AA8B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Started it from that image.</a:t>
            </a:r>
            <a:endParaRPr lang="en-US" sz="1150" dirty="0"/>
          </a:p>
        </p:txBody>
      </p:sp>
      <p:sp>
        <p:nvSpPr>
          <p:cNvPr id="26" name="panel_144"/>
          <p:cNvSpPr/>
          <p:nvPr/>
        </p:nvSpPr>
        <p:spPr>
          <a:xfrm>
            <a:off x="9052560" y="3493008"/>
            <a:ext cx="2578608" cy="1682496"/>
          </a:xfrm>
          <a:prstGeom prst="roundRect">
            <a:avLst>
              <a:gd name="adj" fmla="val 6522"/>
            </a:avLst>
          </a:prstGeom>
          <a:solidFill>
            <a:srgbClr val="131D31"/>
          </a:solidFill>
          <a:ln w="12700">
            <a:solidFill>
              <a:srgbClr val="26375A"/>
            </a:solidFill>
            <a:prstDash val="solid"/>
          </a:ln>
        </p:spPr>
      </p:sp>
      <p:sp>
        <p:nvSpPr>
          <p:cNvPr id="27" name="badge_145"/>
          <p:cNvSpPr/>
          <p:nvPr/>
        </p:nvSpPr>
        <p:spPr>
          <a:xfrm>
            <a:off x="9235440" y="3675888"/>
            <a:ext cx="493776" cy="493776"/>
          </a:xfrm>
          <a:prstGeom prst="ellipse">
            <a:avLst/>
          </a:prstGeom>
          <a:solidFill>
            <a:srgbClr val="8C4FFF">
              <a:alpha val="18000"/>
            </a:srgbClr>
          </a:solidFill>
          <a:ln w="15875">
            <a:solidFill>
              <a:srgbClr val="8C4FFF"/>
            </a:solidFill>
            <a:prstDash val="solid"/>
          </a:ln>
        </p:spPr>
      </p:sp>
      <p:pic>
        <p:nvPicPr>
          <p:cNvPr id="28" name="icon_146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68760" y="3809208"/>
            <a:ext cx="227137" cy="227137"/>
          </a:xfrm>
          <a:prstGeom prst="rect">
            <a:avLst/>
          </a:prstGeom>
        </p:spPr>
      </p:pic>
      <p:sp>
        <p:nvSpPr>
          <p:cNvPr id="29" name="Text 23"/>
          <p:cNvSpPr txBox="1"/>
          <p:nvPr/>
        </p:nvSpPr>
        <p:spPr>
          <a:xfrm>
            <a:off x="9235440" y="4242816"/>
            <a:ext cx="2212848" cy="258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500" b="1" dirty="0">
                <a:solidFill>
                  <a:srgbClr val="F1F5F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Printed, then quit</a:t>
            </a:r>
            <a:endParaRPr lang="en-US" sz="1500" dirty="0"/>
          </a:p>
        </p:txBody>
      </p:sp>
      <p:sp>
        <p:nvSpPr>
          <p:cNvPr id="30" name="Text 24"/>
          <p:cNvSpPr txBox="1"/>
          <p:nvPr/>
        </p:nvSpPr>
        <p:spPr>
          <a:xfrm>
            <a:off x="9235440" y="4537824"/>
            <a:ext cx="2212848" cy="4467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9AA8B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program ended, so the container ended.</a:t>
            </a:r>
            <a:endParaRPr lang="en-US" sz="1150" dirty="0"/>
          </a:p>
        </p:txBody>
      </p:sp>
      <p:sp>
        <p:nvSpPr>
          <p:cNvPr id="31" name="panel_147"/>
          <p:cNvSpPr/>
          <p:nvPr/>
        </p:nvSpPr>
        <p:spPr>
          <a:xfrm>
            <a:off x="548640" y="5248656"/>
            <a:ext cx="11091672" cy="987552"/>
          </a:xfrm>
          <a:prstGeom prst="roundRect">
            <a:avLst>
              <a:gd name="adj" fmla="val 11111"/>
            </a:avLst>
          </a:prstGeom>
          <a:solidFill>
            <a:srgbClr val="1A2741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32" name="Text 26"/>
          <p:cNvSpPr txBox="1"/>
          <p:nvPr/>
        </p:nvSpPr>
        <p:spPr>
          <a:xfrm>
            <a:off x="868680" y="5413248"/>
            <a:ext cx="10424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4000"/>
              </a:lnSpc>
              <a:buNone/>
            </a:pPr>
            <a:r>
              <a:rPr lang="en-US" sz="1450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That last step surprises everyone: a container lives exactly as long as its main program. When the program exits, the container exits. It is not broken — that is the design.</a:t>
            </a:r>
            <a:endParaRPr lang="en-US" sz="14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FF99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TOOLKIT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1F5F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Eight commands cover almost everything</a:t>
            </a:r>
            <a:endParaRPr lang="en-US" sz="3200" dirty="0"/>
          </a:p>
        </p:txBody>
      </p:sp>
      <p:graphicFrame>
        <p:nvGraphicFramePr>
          <p:cNvPr id="18" name="table_14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45920"/>
          <a:ext cx="11091672" cy="914400"/>
        </p:xfrm>
        <a:graphic>
          <a:graphicData uri="http://schemas.openxmlformats.org/drawingml/2006/table">
            <a:tbl>
              <a:tblPr/>
              <a:tblGrid>
                <a:gridCol w="3566160"/>
                <a:gridCol w="4023360"/>
                <a:gridCol w="3502152"/>
              </a:tblGrid>
              <a:tr h="4480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1F5F9"/>
                          </a:solidFill>
                          <a:latin typeface="Segoe UI Semibold" pitchFamily="34" charset="0"/>
                          <a:ea typeface="Segoe UI Semibold" pitchFamily="34" charset="-122"/>
                          <a:cs typeface="Segoe UI Semibold" pitchFamily="34" charset="-120"/>
                        </a:rPr>
                        <a:t>Command</a:t>
                      </a:r>
                      <a:endParaRPr lang="en-US" sz="1300" dirty="0">
                        <a:latin typeface="Segoe UI Semibold" charset="0"/>
                        <a:ea typeface="Segoe UI Semibold" charset="0"/>
                        <a:cs typeface="Segoe UI Semibold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263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3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3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3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B4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1F5F9"/>
                          </a:solidFill>
                          <a:latin typeface="Segoe UI Semibold" pitchFamily="34" charset="0"/>
                          <a:ea typeface="Segoe UI Semibold" pitchFamily="34" charset="-122"/>
                          <a:cs typeface="Segoe UI Semibold" pitchFamily="34" charset="-120"/>
                        </a:rPr>
                        <a:t>What it does</a:t>
                      </a:r>
                      <a:endParaRPr lang="en-US" sz="1300" dirty="0">
                        <a:latin typeface="Segoe UI Semibold" charset="0"/>
                        <a:ea typeface="Segoe UI Semibold" charset="0"/>
                        <a:cs typeface="Segoe UI Semibold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263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3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3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3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B4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1F5F9"/>
                          </a:solidFill>
                          <a:latin typeface="Segoe UI Semibold" pitchFamily="34" charset="0"/>
                          <a:ea typeface="Segoe UI Semibold" pitchFamily="34" charset="-122"/>
                          <a:cs typeface="Segoe UI Semibold" pitchFamily="34" charset="-120"/>
                        </a:rPr>
                        <a:t>When you reach for it</a:t>
                      </a:r>
                      <a:endParaRPr lang="en-US" sz="1300" dirty="0">
                        <a:latin typeface="Segoe UI Semibold" charset="0"/>
                        <a:ea typeface="Segoe UI Semibold" charset="0"/>
                        <a:cs typeface="Segoe UI Semibold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263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3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3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3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B49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1F5F9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docker run IMAGE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263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3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3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3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1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9AA8BD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Make a new container and start it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263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3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3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3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1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9AA8BD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Starting something fresh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263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3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3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3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13A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1F5F9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docker ps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263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3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3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3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B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9AA8BD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List containers that are running now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263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3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3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3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B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9AA8BD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“Is it up?”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263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3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3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3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B2E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1F5F9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docker ps -a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263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3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3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3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1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9AA8BD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List every container, stopped ones too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263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3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3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3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1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9AA8BD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“Where did it go?”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263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3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3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3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13A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1F5F9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docker logs -f NAME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263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3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3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3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B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9AA8BD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Show the output, and keep following it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263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3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3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3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B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9AA8BD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Something misbehaved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263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3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3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3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B2E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1F5F9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docker exec -it NAME bash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263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3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3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3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1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9AA8BD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Open a shell inside a running container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263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3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3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3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1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9AA8BD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Looking around inside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263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3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3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3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13A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1F5F9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docker stop NAME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263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3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3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3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B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9AA8BD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Ask it politely to shut down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263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3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3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3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B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9AA8BD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Done for now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263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3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3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3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B2E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1F5F9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docker rm NAME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263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3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3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3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1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9AA8BD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Delete a stopped container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263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3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3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3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1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9AA8BD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Cleaning up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263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3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3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3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13A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1F5F9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docker images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263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3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3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3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B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9AA8BD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List the images on your disk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263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3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3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3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B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9AA8BD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“What have I downloaded?”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263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3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3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3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B2E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5779008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400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Everything else is a flag on one of these eight. Screenshot this slide — you will come back to it for months.</a:t>
            </a:r>
            <a:endParaRPr lang="en-US" sz="1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FF99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MOMENT IT CLICKS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1F5F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 PostgreSQL server in one command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17904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9AA8B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Installing Postgres by hand is a twenty-minute job with a wizard, a service, and a password you will forget. Watch.</a:t>
            </a:r>
            <a:endParaRPr lang="en-US" sz="1500" dirty="0"/>
          </a:p>
        </p:txBody>
      </p:sp>
      <p:sp>
        <p:nvSpPr>
          <p:cNvPr id="5" name="panel_149"/>
          <p:cNvSpPr/>
          <p:nvPr/>
        </p:nvSpPr>
        <p:spPr>
          <a:xfrm>
            <a:off x="548640" y="1920240"/>
            <a:ext cx="6858000" cy="2286000"/>
          </a:xfrm>
          <a:prstGeom prst="roundRect">
            <a:avLst>
              <a:gd name="adj" fmla="val 4800"/>
            </a:avLst>
          </a:prstGeom>
          <a:solidFill>
            <a:srgbClr val="0D1526"/>
          </a:solidFill>
          <a:ln w="12700">
            <a:solidFill>
              <a:srgbClr val="26375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86384" y="2084832"/>
            <a:ext cx="63825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FF99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START A DATABASE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786384" y="2432304"/>
            <a:ext cx="6382512" cy="1591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7AA1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run -d \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--name sales-db \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-e POSTGRES_PASSWORD=secret \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-e POSTGRES_DB=sales \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-p 5432:5432 \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FF99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postgres:16</a:t>
            </a:r>
            <a:endParaRPr lang="en-US" sz="1200" dirty="0"/>
          </a:p>
        </p:txBody>
      </p:sp>
      <p:sp>
        <p:nvSpPr>
          <p:cNvPr id="8" name="panel_150"/>
          <p:cNvSpPr/>
          <p:nvPr/>
        </p:nvSpPr>
        <p:spPr>
          <a:xfrm>
            <a:off x="7616952" y="1920240"/>
            <a:ext cx="4023360" cy="502920"/>
          </a:xfrm>
          <a:prstGeom prst="roundRect">
            <a:avLst>
              <a:gd name="adj" fmla="val 21818"/>
            </a:avLst>
          </a:prstGeom>
          <a:solidFill>
            <a:srgbClr val="131D31"/>
          </a:solidFill>
          <a:ln w="12700">
            <a:solidFill>
              <a:srgbClr val="26375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772400" y="19202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-d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8595360" y="1975104"/>
            <a:ext cx="29077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9AA8B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Detached. Run in the background and give me my terminal back.</a:t>
            </a:r>
            <a:endParaRPr lang="en-US" sz="1100" dirty="0"/>
          </a:p>
        </p:txBody>
      </p:sp>
      <p:sp>
        <p:nvSpPr>
          <p:cNvPr id="11" name="panel_151"/>
          <p:cNvSpPr/>
          <p:nvPr/>
        </p:nvSpPr>
        <p:spPr>
          <a:xfrm>
            <a:off x="7616952" y="2496312"/>
            <a:ext cx="4023360" cy="502920"/>
          </a:xfrm>
          <a:prstGeom prst="roundRect">
            <a:avLst>
              <a:gd name="adj" fmla="val 21818"/>
            </a:avLst>
          </a:prstGeom>
          <a:solidFill>
            <a:srgbClr val="131D31"/>
          </a:solidFill>
          <a:ln w="12700">
            <a:solidFill>
              <a:srgbClr val="26375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772400" y="2496312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--name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8595360" y="2551176"/>
            <a:ext cx="29077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9AA8B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Call it sales-db, so you never need the random ID.</a:t>
            </a:r>
            <a:endParaRPr lang="en-US" sz="1100" dirty="0"/>
          </a:p>
        </p:txBody>
      </p:sp>
      <p:sp>
        <p:nvSpPr>
          <p:cNvPr id="14" name="panel_152"/>
          <p:cNvSpPr/>
          <p:nvPr/>
        </p:nvSpPr>
        <p:spPr>
          <a:xfrm>
            <a:off x="7616952" y="3072384"/>
            <a:ext cx="4023360" cy="502920"/>
          </a:xfrm>
          <a:prstGeom prst="roundRect">
            <a:avLst>
              <a:gd name="adj" fmla="val 21818"/>
            </a:avLst>
          </a:prstGeom>
          <a:solidFill>
            <a:srgbClr val="131D31"/>
          </a:solidFill>
          <a:ln w="12700">
            <a:solidFill>
              <a:srgbClr val="26375A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772400" y="3072384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-e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8595360" y="3127248"/>
            <a:ext cx="29077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9AA8B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Set an environment variable inside the container.</a:t>
            </a:r>
            <a:endParaRPr lang="en-US" sz="1100" dirty="0"/>
          </a:p>
        </p:txBody>
      </p:sp>
      <p:sp>
        <p:nvSpPr>
          <p:cNvPr id="17" name="panel_153"/>
          <p:cNvSpPr/>
          <p:nvPr/>
        </p:nvSpPr>
        <p:spPr>
          <a:xfrm>
            <a:off x="7616952" y="3648456"/>
            <a:ext cx="4023360" cy="502920"/>
          </a:xfrm>
          <a:prstGeom prst="roundRect">
            <a:avLst>
              <a:gd name="adj" fmla="val 21818"/>
            </a:avLst>
          </a:prstGeom>
          <a:solidFill>
            <a:srgbClr val="131D31"/>
          </a:solidFill>
          <a:ln w="12700">
            <a:solidFill>
              <a:srgbClr val="26375A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772400" y="3648456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-p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8595360" y="3703320"/>
            <a:ext cx="29077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9AA8B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Open a door: your port 5432 reaches its port 5432.</a:t>
            </a:r>
            <a:endParaRPr lang="en-US" sz="1100" dirty="0"/>
          </a:p>
        </p:txBody>
      </p:sp>
      <p:sp>
        <p:nvSpPr>
          <p:cNvPr id="20" name="panel_154"/>
          <p:cNvSpPr/>
          <p:nvPr/>
        </p:nvSpPr>
        <p:spPr>
          <a:xfrm>
            <a:off x="548640" y="4370832"/>
            <a:ext cx="6858000" cy="1371600"/>
          </a:xfrm>
          <a:prstGeom prst="roundRect">
            <a:avLst>
              <a:gd name="adj" fmla="val 8000"/>
            </a:avLst>
          </a:prstGeom>
          <a:solidFill>
            <a:srgbClr val="0D1526"/>
          </a:solidFill>
          <a:ln w="12700">
            <a:solidFill>
              <a:srgbClr val="26375A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86384" y="4535424"/>
            <a:ext cx="63825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FF99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NOW TALK TO IT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786384" y="4882896"/>
            <a:ext cx="638251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exec -it sales-db psql -U postgres -d sales</a:t>
            </a:r>
            <a:endParaRPr lang="en-US" sz="12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sales=# SELECT version();</a:t>
            </a:r>
            <a:endParaRPr lang="en-US" sz="1250" dirty="0"/>
          </a:p>
        </p:txBody>
      </p:sp>
      <p:sp>
        <p:nvSpPr>
          <p:cNvPr id="23" name="panel_155"/>
          <p:cNvSpPr/>
          <p:nvPr/>
        </p:nvSpPr>
        <p:spPr>
          <a:xfrm>
            <a:off x="7616952" y="4370832"/>
            <a:ext cx="4023360" cy="1371600"/>
          </a:xfrm>
          <a:prstGeom prst="roundRect">
            <a:avLst>
              <a:gd name="adj" fmla="val 8000"/>
            </a:avLst>
          </a:prstGeom>
          <a:solidFill>
            <a:srgbClr val="1A2741"/>
          </a:solidFill>
          <a:ln w="12700">
            <a:solidFill>
              <a:srgbClr val="7AA116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891272" y="4553712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30" kern="0" dirty="0">
                <a:solidFill>
                  <a:srgbClr val="7AA11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AND WHEN YOU ARE DONE</a:t>
            </a:r>
            <a:endParaRPr lang="en-US" sz="1050" dirty="0"/>
          </a:p>
        </p:txBody>
      </p:sp>
      <p:sp>
        <p:nvSpPr>
          <p:cNvPr id="25" name="Text 23"/>
          <p:cNvSpPr txBox="1"/>
          <p:nvPr/>
        </p:nvSpPr>
        <p:spPr>
          <a:xfrm>
            <a:off x="7891272" y="4882896"/>
            <a:ext cx="3474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docker stop sales-db &amp;&amp; docker rm sales-db — and your laptop is exactly as clean as before you started.</a:t>
            </a:r>
            <a:endParaRPr lang="en-US" sz="1250" dirty="0"/>
          </a:p>
        </p:txBody>
      </p:sp>
      <p:sp>
        <p:nvSpPr>
          <p:cNvPr id="26" name="Text 24"/>
          <p:cNvSpPr txBox="1"/>
          <p:nvPr/>
        </p:nvSpPr>
        <p:spPr>
          <a:xfrm>
            <a:off x="548640" y="5870448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9AA8B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installer. No service. No uninstall. This alone is worth the class.</a:t>
            </a:r>
            <a:endParaRPr lang="en-US" sz="13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FF99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READ THE OUTPUT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1F5F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What docker ps is telling you</a:t>
            </a:r>
            <a:endParaRPr lang="en-US" sz="3200" dirty="0"/>
          </a:p>
        </p:txBody>
      </p:sp>
      <p:sp>
        <p:nvSpPr>
          <p:cNvPr id="4" name="panel_156"/>
          <p:cNvSpPr/>
          <p:nvPr/>
        </p:nvSpPr>
        <p:spPr>
          <a:xfrm>
            <a:off x="548640" y="1627632"/>
            <a:ext cx="11091672" cy="1417320"/>
          </a:xfrm>
          <a:prstGeom prst="roundRect">
            <a:avLst>
              <a:gd name="adj" fmla="val 7742"/>
            </a:avLst>
          </a:prstGeom>
          <a:solidFill>
            <a:srgbClr val="0D1526"/>
          </a:solidFill>
          <a:ln w="12700">
            <a:solidFill>
              <a:srgbClr val="26375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86384" y="1792224"/>
            <a:ext cx="106161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FF99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docker ps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786384" y="2139696"/>
            <a:ext cx="10616184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B6B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CONTAINER ID   IMAGE         STATUS          PORTS                    NAMES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9f2c1ab4e7d3   postgres:16   Up 4 minutes    0.0.0.0:5432-&gt;5432/tcp   sales-db</a:t>
            </a:r>
            <a:endParaRPr lang="en-US" sz="1100" dirty="0"/>
          </a:p>
        </p:txBody>
      </p:sp>
      <p:sp>
        <p:nvSpPr>
          <p:cNvPr id="7" name="panel_157"/>
          <p:cNvSpPr/>
          <p:nvPr/>
        </p:nvSpPr>
        <p:spPr>
          <a:xfrm>
            <a:off x="548640" y="3246120"/>
            <a:ext cx="5394960" cy="1280160"/>
          </a:xfrm>
          <a:prstGeom prst="roundRect">
            <a:avLst>
              <a:gd name="adj" fmla="val 8571"/>
            </a:avLst>
          </a:prstGeom>
          <a:solidFill>
            <a:srgbClr val="131D31"/>
          </a:solidFill>
          <a:ln w="12700">
            <a:solidFill>
              <a:srgbClr val="26375A"/>
            </a:solidFill>
            <a:prstDash val="solid"/>
          </a:ln>
        </p:spPr>
      </p:sp>
      <p:sp>
        <p:nvSpPr>
          <p:cNvPr id="8" name="badge_158"/>
          <p:cNvSpPr/>
          <p:nvPr/>
        </p:nvSpPr>
        <p:spPr>
          <a:xfrm>
            <a:off x="749808" y="3447288"/>
            <a:ext cx="530352" cy="530352"/>
          </a:xfrm>
          <a:prstGeom prst="ellipse">
            <a:avLst/>
          </a:prstGeom>
          <a:solidFill>
            <a:srgbClr val="5B6B85">
              <a:alpha val="18000"/>
            </a:srgbClr>
          </a:solidFill>
          <a:ln w="15875">
            <a:solidFill>
              <a:srgbClr val="5B6B85"/>
            </a:solidFill>
            <a:prstDash val="solid"/>
          </a:ln>
        </p:spPr>
      </p:sp>
      <p:pic>
        <p:nvPicPr>
          <p:cNvPr id="9" name="icon_159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3003" y="3590483"/>
            <a:ext cx="243962" cy="243962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1481328" y="3429000"/>
            <a:ext cx="4261104" cy="2670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550" b="1" dirty="0">
                <a:solidFill>
                  <a:srgbClr val="F1F5F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CONTAINER ID</a:t>
            </a:r>
            <a:endParaRPr lang="en-US" sz="1550" dirty="0"/>
          </a:p>
        </p:txBody>
      </p:sp>
      <p:sp>
        <p:nvSpPr>
          <p:cNvPr id="11" name="Text 8"/>
          <p:cNvSpPr txBox="1"/>
          <p:nvPr/>
        </p:nvSpPr>
        <p:spPr>
          <a:xfrm>
            <a:off x="1481328" y="3741767"/>
            <a:ext cx="4261104" cy="485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9AA8B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random short ID. Useful, but --name is kinder to your fingers.</a:t>
            </a:r>
            <a:endParaRPr lang="en-US" sz="1250" dirty="0"/>
          </a:p>
        </p:txBody>
      </p:sp>
      <p:sp>
        <p:nvSpPr>
          <p:cNvPr id="12" name="panel_160"/>
          <p:cNvSpPr/>
          <p:nvPr/>
        </p:nvSpPr>
        <p:spPr>
          <a:xfrm>
            <a:off x="6245352" y="3246120"/>
            <a:ext cx="5394960" cy="1280160"/>
          </a:xfrm>
          <a:prstGeom prst="roundRect">
            <a:avLst>
              <a:gd name="adj" fmla="val 8571"/>
            </a:avLst>
          </a:prstGeom>
          <a:solidFill>
            <a:srgbClr val="131D31"/>
          </a:solidFill>
          <a:ln w="12700">
            <a:solidFill>
              <a:srgbClr val="26375A"/>
            </a:solidFill>
            <a:prstDash val="solid"/>
          </a:ln>
        </p:spPr>
      </p:sp>
      <p:sp>
        <p:nvSpPr>
          <p:cNvPr id="13" name="badge_161"/>
          <p:cNvSpPr/>
          <p:nvPr/>
        </p:nvSpPr>
        <p:spPr>
          <a:xfrm>
            <a:off x="6446520" y="3447288"/>
            <a:ext cx="530352" cy="530352"/>
          </a:xfrm>
          <a:prstGeom prst="ellipse">
            <a:avLst/>
          </a:prstGeom>
          <a:solidFill>
            <a:srgbClr val="FF9900">
              <a:alpha val="18000"/>
            </a:srgbClr>
          </a:solidFill>
          <a:ln w="15875">
            <a:solidFill>
              <a:srgbClr val="FF9900"/>
            </a:solidFill>
            <a:prstDash val="solid"/>
          </a:ln>
        </p:spPr>
      </p:sp>
      <p:pic>
        <p:nvPicPr>
          <p:cNvPr id="14" name="icon_162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9715" y="3590483"/>
            <a:ext cx="243962" cy="243962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7178040" y="3429000"/>
            <a:ext cx="4261104" cy="2670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550" b="1" dirty="0">
                <a:solidFill>
                  <a:srgbClr val="F1F5F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IMAGE</a:t>
            </a:r>
            <a:endParaRPr lang="en-US" sz="1550" dirty="0"/>
          </a:p>
        </p:txBody>
      </p:sp>
      <p:sp>
        <p:nvSpPr>
          <p:cNvPr id="16" name="Text 12"/>
          <p:cNvSpPr txBox="1"/>
          <p:nvPr/>
        </p:nvSpPr>
        <p:spPr>
          <a:xfrm>
            <a:off x="7178040" y="3741767"/>
            <a:ext cx="4261104" cy="242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9AA8B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Which recipe this container was baked from.</a:t>
            </a:r>
            <a:endParaRPr lang="en-US" sz="1250" dirty="0"/>
          </a:p>
        </p:txBody>
      </p:sp>
      <p:sp>
        <p:nvSpPr>
          <p:cNvPr id="17" name="panel_163"/>
          <p:cNvSpPr/>
          <p:nvPr/>
        </p:nvSpPr>
        <p:spPr>
          <a:xfrm>
            <a:off x="548640" y="4636008"/>
            <a:ext cx="5394960" cy="1280160"/>
          </a:xfrm>
          <a:prstGeom prst="roundRect">
            <a:avLst>
              <a:gd name="adj" fmla="val 8571"/>
            </a:avLst>
          </a:prstGeom>
          <a:solidFill>
            <a:srgbClr val="131D31"/>
          </a:solidFill>
          <a:ln w="12700">
            <a:solidFill>
              <a:srgbClr val="26375A"/>
            </a:solidFill>
            <a:prstDash val="solid"/>
          </a:ln>
        </p:spPr>
      </p:sp>
      <p:sp>
        <p:nvSpPr>
          <p:cNvPr id="18" name="badge_164"/>
          <p:cNvSpPr/>
          <p:nvPr/>
        </p:nvSpPr>
        <p:spPr>
          <a:xfrm>
            <a:off x="749808" y="4837176"/>
            <a:ext cx="530352" cy="530352"/>
          </a:xfrm>
          <a:prstGeom prst="ellipse">
            <a:avLst/>
          </a:prstGeom>
          <a:solidFill>
            <a:srgbClr val="7AA116">
              <a:alpha val="18000"/>
            </a:srgbClr>
          </a:solidFill>
          <a:ln w="15875">
            <a:solidFill>
              <a:srgbClr val="7AA116"/>
            </a:solidFill>
            <a:prstDash val="solid"/>
          </a:ln>
        </p:spPr>
      </p:sp>
      <p:pic>
        <p:nvPicPr>
          <p:cNvPr id="19" name="icon_165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3003" y="4980371"/>
            <a:ext cx="243962" cy="243962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1481328" y="4818888"/>
            <a:ext cx="4261104" cy="2670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550" b="1" dirty="0">
                <a:solidFill>
                  <a:srgbClr val="F1F5F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STATUS</a:t>
            </a:r>
            <a:endParaRPr lang="en-US" sz="1550" dirty="0"/>
          </a:p>
        </p:txBody>
      </p:sp>
      <p:sp>
        <p:nvSpPr>
          <p:cNvPr id="21" name="Text 16"/>
          <p:cNvSpPr txBox="1"/>
          <p:nvPr/>
        </p:nvSpPr>
        <p:spPr>
          <a:xfrm>
            <a:off x="1481328" y="5131655"/>
            <a:ext cx="4261104" cy="485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9AA8B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“Up 4 minutes” is healthy. “Exited (1)” means it crashed — go read the logs.</a:t>
            </a:r>
            <a:endParaRPr lang="en-US" sz="1250" dirty="0"/>
          </a:p>
        </p:txBody>
      </p:sp>
      <p:sp>
        <p:nvSpPr>
          <p:cNvPr id="22" name="panel_166"/>
          <p:cNvSpPr/>
          <p:nvPr/>
        </p:nvSpPr>
        <p:spPr>
          <a:xfrm>
            <a:off x="6245352" y="4636008"/>
            <a:ext cx="5394960" cy="1280160"/>
          </a:xfrm>
          <a:prstGeom prst="roundRect">
            <a:avLst>
              <a:gd name="adj" fmla="val 8571"/>
            </a:avLst>
          </a:prstGeom>
          <a:solidFill>
            <a:srgbClr val="131D31"/>
          </a:solidFill>
          <a:ln w="12700">
            <a:solidFill>
              <a:srgbClr val="26375A"/>
            </a:solidFill>
            <a:prstDash val="solid"/>
          </a:ln>
        </p:spPr>
      </p:sp>
      <p:sp>
        <p:nvSpPr>
          <p:cNvPr id="23" name="badge_167"/>
          <p:cNvSpPr/>
          <p:nvPr/>
        </p:nvSpPr>
        <p:spPr>
          <a:xfrm>
            <a:off x="6446520" y="4837176"/>
            <a:ext cx="530352" cy="530352"/>
          </a:xfrm>
          <a:prstGeom prst="ellipse">
            <a:avLst/>
          </a:prstGeom>
          <a:solidFill>
            <a:srgbClr val="29B5E8">
              <a:alpha val="18000"/>
            </a:srgbClr>
          </a:solidFill>
          <a:ln w="15875">
            <a:solidFill>
              <a:srgbClr val="29B5E8"/>
            </a:solidFill>
            <a:prstDash val="solid"/>
          </a:ln>
        </p:spPr>
      </p:sp>
      <p:pic>
        <p:nvPicPr>
          <p:cNvPr id="24" name="icon_168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9715" y="4980371"/>
            <a:ext cx="243962" cy="243962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7178040" y="4818888"/>
            <a:ext cx="4261104" cy="2670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550" b="1" dirty="0">
                <a:solidFill>
                  <a:srgbClr val="F1F5F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PORTS</a:t>
            </a:r>
            <a:endParaRPr lang="en-US" sz="1550" dirty="0"/>
          </a:p>
        </p:txBody>
      </p:sp>
      <p:sp>
        <p:nvSpPr>
          <p:cNvPr id="26" name="Text 20"/>
          <p:cNvSpPr txBox="1"/>
          <p:nvPr/>
        </p:nvSpPr>
        <p:spPr>
          <a:xfrm>
            <a:off x="7178040" y="5131655"/>
            <a:ext cx="4261104" cy="485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9AA8B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Left of the arrow is your laptop, right is inside the container.</a:t>
            </a:r>
            <a:endParaRPr lang="en-US" sz="1250" dirty="0"/>
          </a:p>
        </p:txBody>
      </p:sp>
      <p:sp>
        <p:nvSpPr>
          <p:cNvPr id="27" name="panel_169"/>
          <p:cNvSpPr/>
          <p:nvPr/>
        </p:nvSpPr>
        <p:spPr>
          <a:xfrm>
            <a:off x="548640" y="6053328"/>
            <a:ext cx="11091672" cy="274320"/>
          </a:xfrm>
          <a:prstGeom prst="roundRect">
            <a:avLst>
              <a:gd name="adj" fmla="val 40000"/>
            </a:avLst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28" name="Text 22"/>
          <p:cNvSpPr txBox="1"/>
          <p:nvPr/>
        </p:nvSpPr>
        <p:spPr>
          <a:xfrm>
            <a:off x="548640" y="603504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Nothing listed? Try docker ps -a. A container that crashed on startup is stopped, not missing.</a:t>
            </a:r>
            <a:endParaRPr lang="en-US" sz="13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FF99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WHEN SOMETHING IS WRONG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1F5F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Get inside and look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17904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9AA8B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container is a locked room, but you are holding the key. These three commands are your whole debugging kit.</a:t>
            </a:r>
            <a:endParaRPr lang="en-US" sz="1500" dirty="0"/>
          </a:p>
        </p:txBody>
      </p:sp>
      <p:sp>
        <p:nvSpPr>
          <p:cNvPr id="5" name="panel_170"/>
          <p:cNvSpPr/>
          <p:nvPr/>
        </p:nvSpPr>
        <p:spPr>
          <a:xfrm>
            <a:off x="548640" y="1965960"/>
            <a:ext cx="3511296" cy="1828800"/>
          </a:xfrm>
          <a:prstGeom prst="roundRect">
            <a:avLst>
              <a:gd name="adj" fmla="val 6000"/>
            </a:avLst>
          </a:prstGeom>
          <a:solidFill>
            <a:srgbClr val="0D1526"/>
          </a:solidFill>
          <a:ln w="12700">
            <a:solidFill>
              <a:srgbClr val="26375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86384" y="2130552"/>
            <a:ext cx="30358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FF99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 READ THE OUTPUT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786384" y="2478024"/>
            <a:ext cx="3035808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logs sales-db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logs -f --tail 50 sales-db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5B6B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-f follows new lines live</a:t>
            </a:r>
            <a:endParaRPr lang="en-US" sz="1050" dirty="0"/>
          </a:p>
        </p:txBody>
      </p:sp>
      <p:sp>
        <p:nvSpPr>
          <p:cNvPr id="8" name="panel_171"/>
          <p:cNvSpPr/>
          <p:nvPr/>
        </p:nvSpPr>
        <p:spPr>
          <a:xfrm>
            <a:off x="548640" y="3931920"/>
            <a:ext cx="3511296" cy="1508760"/>
          </a:xfrm>
          <a:prstGeom prst="roundRect">
            <a:avLst>
              <a:gd name="adj" fmla="val 7273"/>
            </a:avLst>
          </a:prstGeom>
          <a:solidFill>
            <a:srgbClr val="1A2741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68096" y="4133088"/>
            <a:ext cx="307238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Always start here. 90% of problems are printed in plain English in the logs.</a:t>
            </a:r>
            <a:endParaRPr lang="en-US" sz="1300" dirty="0"/>
          </a:p>
        </p:txBody>
      </p:sp>
      <p:sp>
        <p:nvSpPr>
          <p:cNvPr id="10" name="panel_172"/>
          <p:cNvSpPr/>
          <p:nvPr/>
        </p:nvSpPr>
        <p:spPr>
          <a:xfrm>
            <a:off x="4306824" y="1965960"/>
            <a:ext cx="3511296" cy="1828800"/>
          </a:xfrm>
          <a:prstGeom prst="roundRect">
            <a:avLst>
              <a:gd name="adj" fmla="val 6000"/>
            </a:avLst>
          </a:prstGeom>
          <a:solidFill>
            <a:srgbClr val="0D1526"/>
          </a:solidFill>
          <a:ln w="12700">
            <a:solidFill>
              <a:srgbClr val="26375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544568" y="2130552"/>
            <a:ext cx="30358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2DD4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2. WALK AROUND INSIDE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4544568" y="2478024"/>
            <a:ext cx="3035808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exec -it sales-db bash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ls /var/lib/postgresql/data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5B6B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exit</a:t>
            </a:r>
            <a:endParaRPr lang="en-US" sz="1050" dirty="0"/>
          </a:p>
        </p:txBody>
      </p:sp>
      <p:sp>
        <p:nvSpPr>
          <p:cNvPr id="13" name="panel_173"/>
          <p:cNvSpPr/>
          <p:nvPr/>
        </p:nvSpPr>
        <p:spPr>
          <a:xfrm>
            <a:off x="4306824" y="3931920"/>
            <a:ext cx="3511296" cy="1508760"/>
          </a:xfrm>
          <a:prstGeom prst="roundRect">
            <a:avLst>
              <a:gd name="adj" fmla="val 7273"/>
            </a:avLst>
          </a:prstGeom>
          <a:solidFill>
            <a:srgbClr val="1A2741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526280" y="4133088"/>
            <a:ext cx="307238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-it means interactive terminal. If bash is missing, try sh — slim images often have no bash.</a:t>
            </a:r>
            <a:endParaRPr lang="en-US" sz="1300" dirty="0"/>
          </a:p>
        </p:txBody>
      </p:sp>
      <p:sp>
        <p:nvSpPr>
          <p:cNvPr id="15" name="panel_174"/>
          <p:cNvSpPr/>
          <p:nvPr/>
        </p:nvSpPr>
        <p:spPr>
          <a:xfrm>
            <a:off x="8065008" y="1965960"/>
            <a:ext cx="3511296" cy="1828800"/>
          </a:xfrm>
          <a:prstGeom prst="roundRect">
            <a:avLst>
              <a:gd name="adj" fmla="val 6000"/>
            </a:avLst>
          </a:prstGeom>
          <a:solidFill>
            <a:srgbClr val="0D1526"/>
          </a:solidFill>
          <a:ln w="12700">
            <a:solidFill>
              <a:srgbClr val="26375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302752" y="2130552"/>
            <a:ext cx="30358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29B5E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3. INSPECT THE SETTINGS</a:t>
            </a:r>
            <a:endParaRPr lang="en-US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8302752" y="2478024"/>
            <a:ext cx="3035808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inspect sales-db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stats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5B6B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stats = live CPU and memory</a:t>
            </a:r>
            <a:endParaRPr lang="en-US" sz="1050" dirty="0"/>
          </a:p>
        </p:txBody>
      </p:sp>
      <p:sp>
        <p:nvSpPr>
          <p:cNvPr id="18" name="panel_175"/>
          <p:cNvSpPr/>
          <p:nvPr/>
        </p:nvSpPr>
        <p:spPr>
          <a:xfrm>
            <a:off x="8065008" y="3931920"/>
            <a:ext cx="3511296" cy="1508760"/>
          </a:xfrm>
          <a:prstGeom prst="roundRect">
            <a:avLst>
              <a:gd name="adj" fmla="val 7273"/>
            </a:avLst>
          </a:prstGeom>
          <a:solidFill>
            <a:srgbClr val="1A2741"/>
          </a:solidFill>
          <a:ln w="12700">
            <a:solidFill>
              <a:srgbClr val="29B5E8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284464" y="4133088"/>
            <a:ext cx="307238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inspect prints every setting as JSON. Long, but it is the truth about how the container was started.</a:t>
            </a:r>
            <a:endParaRPr lang="en-US" sz="1300" dirty="0"/>
          </a:p>
        </p:txBody>
      </p:sp>
      <p:sp>
        <p:nvSpPr>
          <p:cNvPr id="20" name="panel_176"/>
          <p:cNvSpPr/>
          <p:nvPr/>
        </p:nvSpPr>
        <p:spPr>
          <a:xfrm>
            <a:off x="548640" y="5596128"/>
            <a:ext cx="11091672" cy="640080"/>
          </a:xfrm>
          <a:prstGeom prst="roundRect">
            <a:avLst>
              <a:gd name="adj" fmla="val 17143"/>
            </a:avLst>
          </a:prstGeom>
          <a:solidFill>
            <a:srgbClr val="1A2741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59536" y="5669280"/>
            <a:ext cx="104698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F1F5F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Before you ask anybody for help: run docker ps -a, then docker logs. Bring the error message with you.</a:t>
            </a:r>
            <a:endParaRPr lang="en-US" sz="14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FF99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HOUSEKEEPING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1F5F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Containers and images eat your disk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17904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9AA8B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 docker run leaves a container behind, even after it stops. Every pull leaves an image. After a month of learning, that is easily 30 GB.</a:t>
            </a:r>
            <a:endParaRPr lang="en-US" sz="1500" dirty="0"/>
          </a:p>
        </p:txBody>
      </p:sp>
      <p:sp>
        <p:nvSpPr>
          <p:cNvPr id="5" name="panel_177"/>
          <p:cNvSpPr/>
          <p:nvPr/>
        </p:nvSpPr>
        <p:spPr>
          <a:xfrm>
            <a:off x="548640" y="1965960"/>
            <a:ext cx="6858000" cy="2651760"/>
          </a:xfrm>
          <a:prstGeom prst="roundRect">
            <a:avLst>
              <a:gd name="adj" fmla="val 4138"/>
            </a:avLst>
          </a:prstGeom>
          <a:solidFill>
            <a:srgbClr val="0D1526"/>
          </a:solidFill>
          <a:ln w="12700">
            <a:solidFill>
              <a:srgbClr val="26375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86384" y="2130552"/>
            <a:ext cx="63825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FF99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CLEANING UP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786384" y="2478024"/>
            <a:ext cx="6382512" cy="1956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stop sales-db        # polite shutdown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rm sales-db          # delete the container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rmi postgres:16      # delete the image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B6B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ps -a                # what is still lying around?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B6B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system df            # how much disk am I using?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99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system prune         # delete all stopped containers</a:t>
            </a:r>
            <a:endParaRPr lang="en-US" sz="1100" dirty="0"/>
          </a:p>
        </p:txBody>
      </p:sp>
      <p:sp>
        <p:nvSpPr>
          <p:cNvPr id="8" name="panel_178"/>
          <p:cNvSpPr/>
          <p:nvPr/>
        </p:nvSpPr>
        <p:spPr>
          <a:xfrm>
            <a:off x="7616952" y="1965960"/>
            <a:ext cx="4023360" cy="978408"/>
          </a:xfrm>
          <a:prstGeom prst="roundRect">
            <a:avLst>
              <a:gd name="adj" fmla="val 11215"/>
            </a:avLst>
          </a:prstGeom>
          <a:solidFill>
            <a:srgbClr val="131D31"/>
          </a:solidFill>
          <a:ln w="12700">
            <a:solidFill>
              <a:srgbClr val="26375A"/>
            </a:solidFill>
            <a:prstDash val="solid"/>
          </a:ln>
        </p:spPr>
      </p:sp>
      <p:sp>
        <p:nvSpPr>
          <p:cNvPr id="9" name="badge_179"/>
          <p:cNvSpPr/>
          <p:nvPr/>
        </p:nvSpPr>
        <p:spPr>
          <a:xfrm>
            <a:off x="7763256" y="2112264"/>
            <a:ext cx="402336" cy="402336"/>
          </a:xfrm>
          <a:prstGeom prst="ellipse">
            <a:avLst/>
          </a:prstGeom>
          <a:solidFill>
            <a:srgbClr val="F2545B">
              <a:alpha val="18000"/>
            </a:srgbClr>
          </a:solidFill>
          <a:ln w="15875">
            <a:solidFill>
              <a:srgbClr val="F2545B"/>
            </a:solidFill>
            <a:prstDash val="solid"/>
          </a:ln>
        </p:spPr>
      </p:sp>
      <p:pic>
        <p:nvPicPr>
          <p:cNvPr id="10" name="icon_18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71887" y="2220895"/>
            <a:ext cx="185075" cy="185075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8366760" y="2093976"/>
            <a:ext cx="3127248" cy="223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F1F5F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prune is not reversible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8366760" y="2363671"/>
            <a:ext cx="3127248" cy="4273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9AA8B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It deletes stopped containers and unused images. Read what it lists first.</a:t>
            </a:r>
            <a:endParaRPr lang="en-US" sz="1100" dirty="0"/>
          </a:p>
        </p:txBody>
      </p:sp>
      <p:sp>
        <p:nvSpPr>
          <p:cNvPr id="13" name="panel_181"/>
          <p:cNvSpPr/>
          <p:nvPr/>
        </p:nvSpPr>
        <p:spPr>
          <a:xfrm>
            <a:off x="7616952" y="2990088"/>
            <a:ext cx="4023360" cy="978408"/>
          </a:xfrm>
          <a:prstGeom prst="roundRect">
            <a:avLst>
              <a:gd name="adj" fmla="val 11215"/>
            </a:avLst>
          </a:prstGeom>
          <a:solidFill>
            <a:srgbClr val="131D31"/>
          </a:solidFill>
          <a:ln w="12700">
            <a:solidFill>
              <a:srgbClr val="26375A"/>
            </a:solidFill>
            <a:prstDash val="solid"/>
          </a:ln>
        </p:spPr>
      </p:sp>
      <p:sp>
        <p:nvSpPr>
          <p:cNvPr id="14" name="badge_182"/>
          <p:cNvSpPr/>
          <p:nvPr/>
        </p:nvSpPr>
        <p:spPr>
          <a:xfrm>
            <a:off x="7763256" y="3136392"/>
            <a:ext cx="402336" cy="402336"/>
          </a:xfrm>
          <a:prstGeom prst="ellipse">
            <a:avLst/>
          </a:prstGeom>
          <a:solidFill>
            <a:srgbClr val="FF9900">
              <a:alpha val="18000"/>
            </a:srgbClr>
          </a:solidFill>
          <a:ln w="15875">
            <a:solidFill>
              <a:srgbClr val="FF9900"/>
            </a:solidFill>
            <a:prstDash val="solid"/>
          </a:ln>
        </p:spPr>
      </p:sp>
      <p:pic>
        <p:nvPicPr>
          <p:cNvPr id="15" name="icon_183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71887" y="3245023"/>
            <a:ext cx="185075" cy="185075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8366760" y="3118104"/>
            <a:ext cx="3127248" cy="223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F1F5F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Add -a and it goes further</a:t>
            </a:r>
            <a:endParaRPr lang="en-US" sz="1300" dirty="0"/>
          </a:p>
        </p:txBody>
      </p:sp>
      <p:sp>
        <p:nvSpPr>
          <p:cNvPr id="17" name="Text 13"/>
          <p:cNvSpPr txBox="1"/>
          <p:nvPr/>
        </p:nvSpPr>
        <p:spPr>
          <a:xfrm>
            <a:off x="8366760" y="3387799"/>
            <a:ext cx="3127248" cy="4273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9AA8B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prune -a removes every image you are not running. Re-downloading takes time.</a:t>
            </a:r>
            <a:endParaRPr lang="en-US" sz="1100" dirty="0"/>
          </a:p>
        </p:txBody>
      </p:sp>
      <p:sp>
        <p:nvSpPr>
          <p:cNvPr id="18" name="panel_184"/>
          <p:cNvSpPr/>
          <p:nvPr/>
        </p:nvSpPr>
        <p:spPr>
          <a:xfrm>
            <a:off x="7616952" y="4014216"/>
            <a:ext cx="4023360" cy="978408"/>
          </a:xfrm>
          <a:prstGeom prst="roundRect">
            <a:avLst>
              <a:gd name="adj" fmla="val 11215"/>
            </a:avLst>
          </a:prstGeom>
          <a:solidFill>
            <a:srgbClr val="131D31"/>
          </a:solidFill>
          <a:ln w="12700">
            <a:solidFill>
              <a:srgbClr val="26375A"/>
            </a:solidFill>
            <a:prstDash val="solid"/>
          </a:ln>
        </p:spPr>
      </p:sp>
      <p:sp>
        <p:nvSpPr>
          <p:cNvPr id="19" name="badge_185"/>
          <p:cNvSpPr/>
          <p:nvPr/>
        </p:nvSpPr>
        <p:spPr>
          <a:xfrm>
            <a:off x="7763256" y="4160520"/>
            <a:ext cx="402336" cy="402336"/>
          </a:xfrm>
          <a:prstGeom prst="ellipse">
            <a:avLst/>
          </a:prstGeom>
          <a:solidFill>
            <a:srgbClr val="7AA116">
              <a:alpha val="18000"/>
            </a:srgbClr>
          </a:solidFill>
          <a:ln w="15875">
            <a:solidFill>
              <a:srgbClr val="7AA116"/>
            </a:solidFill>
            <a:prstDash val="solid"/>
          </a:ln>
        </p:spPr>
      </p:sp>
      <p:pic>
        <p:nvPicPr>
          <p:cNvPr id="20" name="icon_186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71887" y="4269151"/>
            <a:ext cx="185075" cy="185075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8366760" y="4142232"/>
            <a:ext cx="3127248" cy="223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F1F5F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Use --rm while learning</a:t>
            </a:r>
            <a:endParaRPr lang="en-US" sz="1300" dirty="0"/>
          </a:p>
        </p:txBody>
      </p:sp>
      <p:sp>
        <p:nvSpPr>
          <p:cNvPr id="22" name="Text 17"/>
          <p:cNvSpPr txBox="1"/>
          <p:nvPr/>
        </p:nvSpPr>
        <p:spPr>
          <a:xfrm>
            <a:off x="8366760" y="4411927"/>
            <a:ext cx="3127248" cy="4273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9AA8B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docker run --rm deletes the container as soon as it stops. Nothing to clean up.</a:t>
            </a:r>
            <a:endParaRPr lang="en-US" sz="1100" dirty="0"/>
          </a:p>
        </p:txBody>
      </p:sp>
      <p:sp>
        <p:nvSpPr>
          <p:cNvPr id="23" name="panel_187"/>
          <p:cNvSpPr/>
          <p:nvPr/>
        </p:nvSpPr>
        <p:spPr>
          <a:xfrm>
            <a:off x="548640" y="4800600"/>
            <a:ext cx="11091672" cy="1143000"/>
          </a:xfrm>
          <a:prstGeom prst="roundRect">
            <a:avLst>
              <a:gd name="adj" fmla="val 9600"/>
            </a:avLst>
          </a:prstGeom>
          <a:solidFill>
            <a:srgbClr val="1A2741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24" name="Text 19"/>
          <p:cNvSpPr txBox="1"/>
          <p:nvPr/>
        </p:nvSpPr>
        <p:spPr>
          <a:xfrm>
            <a:off x="868680" y="4983480"/>
            <a:ext cx="10424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2DD4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LAB CHECKPOINT 1</a:t>
            </a:r>
            <a:endParaRPr lang="en-US" sz="1100" dirty="0"/>
          </a:p>
        </p:txBody>
      </p:sp>
      <p:sp>
        <p:nvSpPr>
          <p:cNvPr id="25" name="Text 20"/>
          <p:cNvSpPr txBox="1"/>
          <p:nvPr/>
        </p:nvSpPr>
        <p:spPr>
          <a:xfrm>
            <a:off x="868680" y="5321808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Start postgres:16 with a name and a password. Connect with psql and create a table.</a:t>
            </a:r>
            <a:endParaRPr lang="en-US" sz="1400" dirty="0"/>
          </a:p>
          <a:p>
            <a:pPr marL="203200" indent="-2032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Stop it, delete it, start it again — and notice that your table is gone. We fix that in chapter 4.</a:t>
            </a:r>
            <a:endParaRPr lang="en-US" sz="14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822960" y="1554480"/>
            <a:ext cx="5486400" cy="1463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1000" b="1" dirty="0">
                <a:solidFill>
                  <a:srgbClr val="FF990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03</a:t>
            </a:r>
            <a:endParaRPr lang="en-US" sz="110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822960" y="310896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1F5F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Build your own image</a:t>
            </a:r>
            <a:endParaRPr lang="en-US" sz="4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822960" y="4160520"/>
            <a:ext cx="9144000" cy="109728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2000" dirty="0">
                <a:solidFill>
                  <a:srgbClr val="9AA8B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Your ETL script, packaged so it runs the same on any machine</a:t>
            </a:r>
            <a:endParaRPr lang="en-US" sz="2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FF99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SHIFT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1F5F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From using images to making one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17904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9AA8B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postgres:16 exists because the Postgres team published it. Nobody has published an image of your sales ETL, so you build it.</a:t>
            </a:r>
            <a:endParaRPr lang="en-US" sz="1500" dirty="0"/>
          </a:p>
        </p:txBody>
      </p:sp>
      <p:sp>
        <p:nvSpPr>
          <p:cNvPr id="5" name="panel_188"/>
          <p:cNvSpPr/>
          <p:nvPr/>
        </p:nvSpPr>
        <p:spPr>
          <a:xfrm>
            <a:off x="548640" y="1965960"/>
            <a:ext cx="5394960" cy="2103120"/>
          </a:xfrm>
          <a:prstGeom prst="roundRect">
            <a:avLst>
              <a:gd name="adj" fmla="val 5217"/>
            </a:avLst>
          </a:prstGeom>
          <a:solidFill>
            <a:srgbClr val="131D31"/>
          </a:solidFill>
          <a:ln w="12700">
            <a:solidFill>
              <a:srgbClr val="F2545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2167128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F2545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WITHOUT AN IMAGE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523744"/>
            <a:ext cx="48463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15000"/>
              </a:lnSpc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9AA8B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“Install Python 3.11”</a:t>
            </a:r>
            <a:endParaRPr lang="en-US" sz="1300" dirty="0"/>
          </a:p>
          <a:p>
            <a:pPr marL="203200" indent="-203200">
              <a:lnSpc>
                <a:spcPct val="115000"/>
              </a:lnSpc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9AA8B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“Make a virtualenv”</a:t>
            </a:r>
            <a:endParaRPr lang="en-US" sz="1300" dirty="0"/>
          </a:p>
          <a:p>
            <a:pPr marL="203200" indent="-203200">
              <a:lnSpc>
                <a:spcPct val="115000"/>
              </a:lnSpc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9AA8B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“pip install -r requirements.txt”</a:t>
            </a:r>
            <a:endParaRPr lang="en-US" sz="1300" dirty="0"/>
          </a:p>
          <a:p>
            <a:pPr marL="203200" indent="-203200">
              <a:lnSpc>
                <a:spcPct val="115000"/>
              </a:lnSpc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9AA8B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“Install the Postgres client libraries”</a:t>
            </a:r>
            <a:endParaRPr lang="en-US" sz="1300" dirty="0"/>
          </a:p>
          <a:p>
            <a:pPr marL="203200" indent="-203200">
              <a:lnSpc>
                <a:spcPct val="115000"/>
              </a:lnSpc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9AA8B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“Set these four environment variables”</a:t>
            </a:r>
            <a:endParaRPr lang="en-US" sz="1300" dirty="0"/>
          </a:p>
          <a:p>
            <a:pPr marL="203200" indent="-203200">
              <a:lnSpc>
                <a:spcPct val="115000"/>
              </a:lnSpc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9AA8B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“Now run python etl.py and pray”</a:t>
            </a:r>
            <a:endParaRPr lang="en-US" sz="1300" dirty="0"/>
          </a:p>
        </p:txBody>
      </p:sp>
      <p:sp>
        <p:nvSpPr>
          <p:cNvPr id="8" name="panel_189"/>
          <p:cNvSpPr/>
          <p:nvPr/>
        </p:nvSpPr>
        <p:spPr>
          <a:xfrm>
            <a:off x="6245352" y="1965960"/>
            <a:ext cx="5394960" cy="2103120"/>
          </a:xfrm>
          <a:prstGeom prst="roundRect">
            <a:avLst>
              <a:gd name="adj" fmla="val 5217"/>
            </a:avLst>
          </a:prstGeom>
          <a:solidFill>
            <a:srgbClr val="1A2741"/>
          </a:solidFill>
          <a:ln w="12700">
            <a:solidFill>
              <a:srgbClr val="7AA11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519672" y="2167128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7AA11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WITH AN IMAGE</a:t>
            </a:r>
            <a:endParaRPr lang="en-US" sz="1100" dirty="0"/>
          </a:p>
        </p:txBody>
      </p:sp>
      <p:sp>
        <p:nvSpPr>
          <p:cNvPr id="10" name="panel_190"/>
          <p:cNvSpPr/>
          <p:nvPr/>
        </p:nvSpPr>
        <p:spPr>
          <a:xfrm>
            <a:off x="6519672" y="2560320"/>
            <a:ext cx="4846320" cy="1280160"/>
          </a:xfrm>
          <a:prstGeom prst="roundRect">
            <a:avLst>
              <a:gd name="adj" fmla="val 8571"/>
            </a:avLst>
          </a:prstGeom>
          <a:solidFill>
            <a:srgbClr val="0D1526"/>
          </a:solidFill>
          <a:ln w="12700">
            <a:solidFill>
              <a:srgbClr val="26375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757416" y="2761488"/>
            <a:ext cx="437083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build -t sales-etl .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7AA1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run sales-etl</a:t>
            </a:r>
            <a:endParaRPr lang="en-US" sz="1300" dirty="0"/>
          </a:p>
        </p:txBody>
      </p:sp>
      <p:sp>
        <p:nvSpPr>
          <p:cNvPr id="12" name="panel_191"/>
          <p:cNvSpPr/>
          <p:nvPr/>
        </p:nvSpPr>
        <p:spPr>
          <a:xfrm>
            <a:off x="548640" y="4279392"/>
            <a:ext cx="2594610" cy="1463040"/>
          </a:xfrm>
          <a:prstGeom prst="roundRect">
            <a:avLst>
              <a:gd name="adj" fmla="val 7500"/>
            </a:avLst>
          </a:prstGeom>
          <a:solidFill>
            <a:srgbClr val="131D31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31520" y="4425696"/>
            <a:ext cx="222885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FF990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01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731520" y="4736592"/>
            <a:ext cx="22288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F1F5F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Write a Dockerfile</a:t>
            </a:r>
            <a:endParaRPr lang="en-US" sz="1450" dirty="0"/>
          </a:p>
        </p:txBody>
      </p:sp>
      <p:sp>
        <p:nvSpPr>
          <p:cNvPr id="15" name="Text 13"/>
          <p:cNvSpPr txBox="1"/>
          <p:nvPr/>
        </p:nvSpPr>
        <p:spPr>
          <a:xfrm>
            <a:off x="731520" y="5212080"/>
            <a:ext cx="222885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9AA8B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text file of steps. Usually ten lines.</a:t>
            </a:r>
            <a:endParaRPr lang="en-US" sz="1200" dirty="0"/>
          </a:p>
        </p:txBody>
      </p:sp>
      <p:sp>
        <p:nvSpPr>
          <p:cNvPr id="16" name="arrow_192"/>
          <p:cNvSpPr/>
          <p:nvPr/>
        </p:nvSpPr>
        <p:spPr>
          <a:xfrm>
            <a:off x="3170682" y="4928616"/>
            <a:ext cx="182880" cy="164592"/>
          </a:xfrm>
          <a:prstGeom prst="rightArrow">
            <a:avLst/>
          </a:prstGeom>
          <a:solidFill>
            <a:srgbClr val="26375A"/>
          </a:solidFill>
          <a:ln w="12700">
            <a:solidFill>
              <a:srgbClr val="26375A"/>
            </a:solidFill>
            <a:prstDash val="solid"/>
          </a:ln>
        </p:spPr>
      </p:sp>
      <p:sp>
        <p:nvSpPr>
          <p:cNvPr id="17" name="panel_193"/>
          <p:cNvSpPr/>
          <p:nvPr/>
        </p:nvSpPr>
        <p:spPr>
          <a:xfrm>
            <a:off x="3380994" y="4279392"/>
            <a:ext cx="2594610" cy="1463040"/>
          </a:xfrm>
          <a:prstGeom prst="roundRect">
            <a:avLst>
              <a:gd name="adj" fmla="val 7500"/>
            </a:avLst>
          </a:prstGeom>
          <a:solidFill>
            <a:srgbClr val="131D31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3563874" y="4425696"/>
            <a:ext cx="222885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2DD4B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02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3563874" y="4736592"/>
            <a:ext cx="22288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F1F5F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docker build</a:t>
            </a:r>
            <a:endParaRPr lang="en-US" sz="1450" dirty="0"/>
          </a:p>
        </p:txBody>
      </p:sp>
      <p:sp>
        <p:nvSpPr>
          <p:cNvPr id="20" name="Text 18"/>
          <p:cNvSpPr txBox="1"/>
          <p:nvPr/>
        </p:nvSpPr>
        <p:spPr>
          <a:xfrm>
            <a:off x="3563874" y="5212080"/>
            <a:ext cx="222885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9AA8B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Docker follows the steps and freezes the result into an image.</a:t>
            </a:r>
            <a:endParaRPr lang="en-US" sz="1200" dirty="0"/>
          </a:p>
        </p:txBody>
      </p:sp>
      <p:sp>
        <p:nvSpPr>
          <p:cNvPr id="21" name="arrow_194"/>
          <p:cNvSpPr/>
          <p:nvPr/>
        </p:nvSpPr>
        <p:spPr>
          <a:xfrm>
            <a:off x="6003036" y="4928616"/>
            <a:ext cx="182880" cy="164592"/>
          </a:xfrm>
          <a:prstGeom prst="rightArrow">
            <a:avLst/>
          </a:prstGeom>
          <a:solidFill>
            <a:srgbClr val="26375A"/>
          </a:solidFill>
          <a:ln w="12700">
            <a:solidFill>
              <a:srgbClr val="26375A"/>
            </a:solidFill>
            <a:prstDash val="solid"/>
          </a:ln>
        </p:spPr>
      </p:sp>
      <p:sp>
        <p:nvSpPr>
          <p:cNvPr id="22" name="panel_195"/>
          <p:cNvSpPr/>
          <p:nvPr/>
        </p:nvSpPr>
        <p:spPr>
          <a:xfrm>
            <a:off x="6213348" y="4279392"/>
            <a:ext cx="2594610" cy="1463040"/>
          </a:xfrm>
          <a:prstGeom prst="roundRect">
            <a:avLst>
              <a:gd name="adj" fmla="val 7500"/>
            </a:avLst>
          </a:prstGeom>
          <a:solidFill>
            <a:srgbClr val="131D31"/>
          </a:solidFill>
          <a:ln w="12700">
            <a:solidFill>
              <a:srgbClr val="29B5E8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396228" y="4425696"/>
            <a:ext cx="222885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29B5E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03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6396228" y="4736592"/>
            <a:ext cx="22288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F1F5F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docker run</a:t>
            </a:r>
            <a:endParaRPr lang="en-US" sz="1450" dirty="0"/>
          </a:p>
        </p:txBody>
      </p:sp>
      <p:sp>
        <p:nvSpPr>
          <p:cNvPr id="25" name="Text 23"/>
          <p:cNvSpPr txBox="1"/>
          <p:nvPr/>
        </p:nvSpPr>
        <p:spPr>
          <a:xfrm>
            <a:off x="6396228" y="5212080"/>
            <a:ext cx="222885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9AA8B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image becomes a container and your code runs.</a:t>
            </a:r>
            <a:endParaRPr lang="en-US" sz="1200" dirty="0"/>
          </a:p>
        </p:txBody>
      </p:sp>
      <p:sp>
        <p:nvSpPr>
          <p:cNvPr id="26" name="arrow_196"/>
          <p:cNvSpPr/>
          <p:nvPr/>
        </p:nvSpPr>
        <p:spPr>
          <a:xfrm>
            <a:off x="8835390" y="4928616"/>
            <a:ext cx="182880" cy="164592"/>
          </a:xfrm>
          <a:prstGeom prst="rightArrow">
            <a:avLst/>
          </a:prstGeom>
          <a:solidFill>
            <a:srgbClr val="26375A"/>
          </a:solidFill>
          <a:ln w="12700">
            <a:solidFill>
              <a:srgbClr val="26375A"/>
            </a:solidFill>
            <a:prstDash val="solid"/>
          </a:ln>
        </p:spPr>
      </p:sp>
      <p:sp>
        <p:nvSpPr>
          <p:cNvPr id="27" name="panel_197"/>
          <p:cNvSpPr/>
          <p:nvPr/>
        </p:nvSpPr>
        <p:spPr>
          <a:xfrm>
            <a:off x="9045702" y="4279392"/>
            <a:ext cx="2594610" cy="1463040"/>
          </a:xfrm>
          <a:prstGeom prst="roundRect">
            <a:avLst>
              <a:gd name="adj" fmla="val 7500"/>
            </a:avLst>
          </a:prstGeom>
          <a:solidFill>
            <a:srgbClr val="131D31"/>
          </a:solidFill>
          <a:ln w="12700">
            <a:solidFill>
              <a:srgbClr val="8C4FFF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9228582" y="4425696"/>
            <a:ext cx="222885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8C4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04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9228582" y="4736592"/>
            <a:ext cx="22288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F1F5F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Share it</a:t>
            </a:r>
            <a:endParaRPr lang="en-US" sz="1450" dirty="0"/>
          </a:p>
        </p:txBody>
      </p:sp>
      <p:sp>
        <p:nvSpPr>
          <p:cNvPr id="30" name="Text 28"/>
          <p:cNvSpPr txBox="1"/>
          <p:nvPr/>
        </p:nvSpPr>
        <p:spPr>
          <a:xfrm>
            <a:off x="9228582" y="5212080"/>
            <a:ext cx="222885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9AA8B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Push to a registry, and anyone can run the exact same thing.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548640" y="5870448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Dockerfile lives in your git repository, right next to your code. That is the point: the environment is version-controlled too.</a:t>
            </a:r>
            <a:endParaRPr lang="en-US" sz="13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FF99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RECIPE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1F5F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 Dockerfile, line by line</a:t>
            </a:r>
            <a:endParaRPr lang="en-US" sz="3200" dirty="0"/>
          </a:p>
        </p:txBody>
      </p:sp>
      <p:sp>
        <p:nvSpPr>
          <p:cNvPr id="4" name="panel_198"/>
          <p:cNvSpPr/>
          <p:nvPr/>
        </p:nvSpPr>
        <p:spPr>
          <a:xfrm>
            <a:off x="548640" y="1627632"/>
            <a:ext cx="5669280" cy="4206240"/>
          </a:xfrm>
          <a:prstGeom prst="roundRect">
            <a:avLst>
              <a:gd name="adj" fmla="val 2609"/>
            </a:avLst>
          </a:prstGeom>
          <a:solidFill>
            <a:srgbClr val="0D1526"/>
          </a:solidFill>
          <a:ln w="12700">
            <a:solidFill>
              <a:srgbClr val="26375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86384" y="1792224"/>
            <a:ext cx="5193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FF99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Dockerfile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786384" y="2139696"/>
            <a:ext cx="5193792" cy="3511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FF99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python:3.11-slim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WORKDIR /app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9B5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COPY requirements.txt .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8C4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 pip install --no-cache-dir \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8C4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-r requirements.txt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9B5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COPY . .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E715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ENV DB_HOST=sales-db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7AA1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CMD ["python", "etl.py"]</a:t>
            </a:r>
            <a:endParaRPr lang="en-US" sz="1200" dirty="0"/>
          </a:p>
        </p:txBody>
      </p:sp>
      <p:sp>
        <p:nvSpPr>
          <p:cNvPr id="7" name="panel_199"/>
          <p:cNvSpPr/>
          <p:nvPr/>
        </p:nvSpPr>
        <p:spPr>
          <a:xfrm>
            <a:off x="6428232" y="1627632"/>
            <a:ext cx="5212080" cy="640080"/>
          </a:xfrm>
          <a:prstGeom prst="roundRect">
            <a:avLst>
              <a:gd name="adj" fmla="val 17143"/>
            </a:avLst>
          </a:prstGeom>
          <a:solidFill>
            <a:srgbClr val="131D31"/>
          </a:solidFill>
          <a:ln w="12700">
            <a:solidFill>
              <a:srgbClr val="26375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601968" y="1627632"/>
            <a:ext cx="1005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99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7644384" y="1700784"/>
            <a:ext cx="3840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9AA8B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Start from someone else's image. Here, a small Linux that already has Python 3.11.</a:t>
            </a:r>
            <a:endParaRPr lang="en-US" sz="1100" dirty="0"/>
          </a:p>
        </p:txBody>
      </p:sp>
      <p:sp>
        <p:nvSpPr>
          <p:cNvPr id="10" name="panel_200"/>
          <p:cNvSpPr/>
          <p:nvPr/>
        </p:nvSpPr>
        <p:spPr>
          <a:xfrm>
            <a:off x="6428232" y="2340864"/>
            <a:ext cx="5212080" cy="640080"/>
          </a:xfrm>
          <a:prstGeom prst="roundRect">
            <a:avLst>
              <a:gd name="adj" fmla="val 17143"/>
            </a:avLst>
          </a:prstGeom>
          <a:solidFill>
            <a:srgbClr val="131D31"/>
          </a:solidFill>
          <a:ln w="12700">
            <a:solidFill>
              <a:srgbClr val="26375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601968" y="2340864"/>
            <a:ext cx="1005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WORKDIR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7644384" y="2414016"/>
            <a:ext cx="3840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9AA8B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cd into this folder, and create it if missing. Every later line runs from here.</a:t>
            </a:r>
            <a:endParaRPr lang="en-US" sz="1100" dirty="0"/>
          </a:p>
        </p:txBody>
      </p:sp>
      <p:sp>
        <p:nvSpPr>
          <p:cNvPr id="13" name="panel_201"/>
          <p:cNvSpPr/>
          <p:nvPr/>
        </p:nvSpPr>
        <p:spPr>
          <a:xfrm>
            <a:off x="6428232" y="3054096"/>
            <a:ext cx="5212080" cy="640080"/>
          </a:xfrm>
          <a:prstGeom prst="roundRect">
            <a:avLst>
              <a:gd name="adj" fmla="val 17143"/>
            </a:avLst>
          </a:prstGeom>
          <a:solidFill>
            <a:srgbClr val="131D31"/>
          </a:solidFill>
          <a:ln w="12700">
            <a:solidFill>
              <a:srgbClr val="26375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601968" y="3054096"/>
            <a:ext cx="1005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9B5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COPY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7644384" y="3127248"/>
            <a:ext cx="3840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9AA8B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Copy files from your laptop into the image. Left is your folder, right is inside.</a:t>
            </a:r>
            <a:endParaRPr lang="en-US" sz="1100" dirty="0"/>
          </a:p>
        </p:txBody>
      </p:sp>
      <p:sp>
        <p:nvSpPr>
          <p:cNvPr id="16" name="panel_202"/>
          <p:cNvSpPr/>
          <p:nvPr/>
        </p:nvSpPr>
        <p:spPr>
          <a:xfrm>
            <a:off x="6428232" y="3767328"/>
            <a:ext cx="5212080" cy="640080"/>
          </a:xfrm>
          <a:prstGeom prst="roundRect">
            <a:avLst>
              <a:gd name="adj" fmla="val 17143"/>
            </a:avLst>
          </a:prstGeom>
          <a:solidFill>
            <a:srgbClr val="131D31"/>
          </a:solidFill>
          <a:ln w="12700">
            <a:solidFill>
              <a:srgbClr val="26375A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601968" y="3767328"/>
            <a:ext cx="1005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C4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7644384" y="3840480"/>
            <a:ext cx="3840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9AA8B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Execute a command while building. This is where installing happens.</a:t>
            </a:r>
            <a:endParaRPr lang="en-US" sz="1100" dirty="0"/>
          </a:p>
        </p:txBody>
      </p:sp>
      <p:sp>
        <p:nvSpPr>
          <p:cNvPr id="19" name="panel_203"/>
          <p:cNvSpPr/>
          <p:nvPr/>
        </p:nvSpPr>
        <p:spPr>
          <a:xfrm>
            <a:off x="6428232" y="4480560"/>
            <a:ext cx="5212080" cy="640080"/>
          </a:xfrm>
          <a:prstGeom prst="roundRect">
            <a:avLst>
              <a:gd name="adj" fmla="val 17143"/>
            </a:avLst>
          </a:prstGeom>
          <a:solidFill>
            <a:srgbClr val="131D31"/>
          </a:solidFill>
          <a:ln w="12700">
            <a:solidFill>
              <a:srgbClr val="26375A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601968" y="4480560"/>
            <a:ext cx="1005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715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ENV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7644384" y="4553712"/>
            <a:ext cx="3840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9AA8B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Set an environment variable that will exist inside every container.</a:t>
            </a:r>
            <a:endParaRPr lang="en-US" sz="1100" dirty="0"/>
          </a:p>
        </p:txBody>
      </p:sp>
      <p:sp>
        <p:nvSpPr>
          <p:cNvPr id="22" name="panel_204"/>
          <p:cNvSpPr/>
          <p:nvPr/>
        </p:nvSpPr>
        <p:spPr>
          <a:xfrm>
            <a:off x="6428232" y="5193792"/>
            <a:ext cx="5212080" cy="640080"/>
          </a:xfrm>
          <a:prstGeom prst="roundRect">
            <a:avLst>
              <a:gd name="adj" fmla="val 17143"/>
            </a:avLst>
          </a:prstGeom>
          <a:solidFill>
            <a:srgbClr val="131D31"/>
          </a:solidFill>
          <a:ln w="12700">
            <a:solidFill>
              <a:srgbClr val="26375A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601968" y="5193792"/>
            <a:ext cx="1005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AA1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CMD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7644384" y="5266944"/>
            <a:ext cx="3840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9AA8B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command to run when the container starts. Nothing runs at build time.</a:t>
            </a:r>
            <a:endParaRPr lang="en-US" sz="11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FF99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 IT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1F5F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Build and run your own image</a:t>
            </a:r>
            <a:endParaRPr lang="en-US" sz="3200" dirty="0"/>
          </a:p>
        </p:txBody>
      </p:sp>
      <p:sp>
        <p:nvSpPr>
          <p:cNvPr id="4" name="panel_205"/>
          <p:cNvSpPr/>
          <p:nvPr/>
        </p:nvSpPr>
        <p:spPr>
          <a:xfrm>
            <a:off x="548640" y="1627632"/>
            <a:ext cx="6675120" cy="1920240"/>
          </a:xfrm>
          <a:prstGeom prst="roundRect">
            <a:avLst>
              <a:gd name="adj" fmla="val 5714"/>
            </a:avLst>
          </a:prstGeom>
          <a:solidFill>
            <a:srgbClr val="0D1526"/>
          </a:solidFill>
          <a:ln w="12700">
            <a:solidFill>
              <a:srgbClr val="26375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86384" y="1792224"/>
            <a:ext cx="61996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FF99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BUILD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786384" y="2139696"/>
            <a:ext cx="6199632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7AA1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build -t sales-etl:v1 .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5B6B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│          │     └─ build context: this folder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5B6B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│          └─ the tag you chose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5B6B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└─ -t means “tag it with a name”</a:t>
            </a:r>
            <a:endParaRPr lang="en-US" sz="1300" dirty="0"/>
          </a:p>
        </p:txBody>
      </p:sp>
      <p:sp>
        <p:nvSpPr>
          <p:cNvPr id="7" name="panel_206"/>
          <p:cNvSpPr/>
          <p:nvPr/>
        </p:nvSpPr>
        <p:spPr>
          <a:xfrm>
            <a:off x="7434072" y="1627632"/>
            <a:ext cx="4206240" cy="1920240"/>
          </a:xfrm>
          <a:prstGeom prst="roundRect">
            <a:avLst>
              <a:gd name="adj" fmla="val 5714"/>
            </a:avLst>
          </a:prstGeom>
          <a:solidFill>
            <a:srgbClr val="1A2741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708392" y="1810512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30" kern="0" dirty="0">
                <a:solidFill>
                  <a:srgbClr val="FF99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THAT LONELY DOT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7708392" y="2139696"/>
            <a:ext cx="3657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dot at the end is not decoration. It tells Docker which folder to send to the builder — “.” means the one you are standing in. Forgetting it is the most common first error.</a:t>
            </a:r>
            <a:endParaRPr lang="en-US" sz="1250" dirty="0"/>
          </a:p>
        </p:txBody>
      </p:sp>
      <p:sp>
        <p:nvSpPr>
          <p:cNvPr id="10" name="panel_207"/>
          <p:cNvSpPr/>
          <p:nvPr/>
        </p:nvSpPr>
        <p:spPr>
          <a:xfrm>
            <a:off x="548640" y="3703320"/>
            <a:ext cx="6675120" cy="2057400"/>
          </a:xfrm>
          <a:prstGeom prst="roundRect">
            <a:avLst>
              <a:gd name="adj" fmla="val 5333"/>
            </a:avLst>
          </a:prstGeom>
          <a:solidFill>
            <a:srgbClr val="0D1526"/>
          </a:solidFill>
          <a:ln w="12700">
            <a:solidFill>
              <a:srgbClr val="26375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86384" y="3867912"/>
            <a:ext cx="61996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FF99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THEN RUN IT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786384" y="4215384"/>
            <a:ext cx="6199632" cy="1362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5B6B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images                    # it is there now</a:t>
            </a:r>
            <a:endParaRPr lang="en-US" sz="12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7AA1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run --rm sales-etl:v1</a:t>
            </a:r>
            <a:endParaRPr lang="en-US" sz="12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5B6B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override the command for a quick look inside</a:t>
            </a:r>
            <a:endParaRPr lang="en-US" sz="12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run --rm -it sales-etl:v1 bash</a:t>
            </a:r>
            <a:endParaRPr lang="en-US" sz="1250" dirty="0"/>
          </a:p>
        </p:txBody>
      </p:sp>
      <p:sp>
        <p:nvSpPr>
          <p:cNvPr id="13" name="panel_208"/>
          <p:cNvSpPr/>
          <p:nvPr/>
        </p:nvSpPr>
        <p:spPr>
          <a:xfrm>
            <a:off x="7434072" y="3703320"/>
            <a:ext cx="4206240" cy="1060704"/>
          </a:xfrm>
          <a:prstGeom prst="roundRect">
            <a:avLst>
              <a:gd name="adj" fmla="val 10345"/>
            </a:avLst>
          </a:prstGeom>
          <a:solidFill>
            <a:srgbClr val="131D31"/>
          </a:solidFill>
          <a:ln w="12700">
            <a:solidFill>
              <a:srgbClr val="26375A"/>
            </a:solidFill>
            <a:prstDash val="solid"/>
          </a:ln>
        </p:spPr>
      </p:sp>
      <p:sp>
        <p:nvSpPr>
          <p:cNvPr id="14" name="badge_209"/>
          <p:cNvSpPr/>
          <p:nvPr/>
        </p:nvSpPr>
        <p:spPr>
          <a:xfrm>
            <a:off x="7598664" y="3867912"/>
            <a:ext cx="457200" cy="457200"/>
          </a:xfrm>
          <a:prstGeom prst="ellipse">
            <a:avLst/>
          </a:prstGeom>
          <a:solidFill>
            <a:srgbClr val="2DD4BF">
              <a:alpha val="18000"/>
            </a:srgbClr>
          </a:solidFill>
          <a:ln w="15875">
            <a:solidFill>
              <a:srgbClr val="2DD4BF"/>
            </a:solidFill>
            <a:prstDash val="solid"/>
          </a:ln>
        </p:spPr>
      </p:sp>
      <p:pic>
        <p:nvPicPr>
          <p:cNvPr id="15" name="icon_21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22108" y="3991356"/>
            <a:ext cx="210312" cy="210312"/>
          </a:xfrm>
          <a:prstGeom prst="rect">
            <a:avLst/>
          </a:prstGeom>
        </p:spPr>
      </p:pic>
      <p:sp>
        <p:nvSpPr>
          <p:cNvPr id="16" name="Text 13"/>
          <p:cNvSpPr txBox="1"/>
          <p:nvPr/>
        </p:nvSpPr>
        <p:spPr>
          <a:xfrm>
            <a:off x="8257032" y="3849624"/>
            <a:ext cx="3218688" cy="2498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450" b="1" dirty="0">
                <a:solidFill>
                  <a:srgbClr val="F1F5F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Always tag</a:t>
            </a:r>
            <a:endParaRPr lang="en-US" sz="1450" dirty="0"/>
          </a:p>
        </p:txBody>
      </p:sp>
      <p:sp>
        <p:nvSpPr>
          <p:cNvPr id="17" name="Text 14"/>
          <p:cNvSpPr txBox="1"/>
          <p:nvPr/>
        </p:nvSpPr>
        <p:spPr>
          <a:xfrm>
            <a:off x="8257032" y="4145162"/>
            <a:ext cx="3218688" cy="4467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9AA8B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Untagged images show as &lt;none&gt; and you will not know which is which.</a:t>
            </a:r>
            <a:endParaRPr lang="en-US" sz="1150" dirty="0"/>
          </a:p>
        </p:txBody>
      </p:sp>
      <p:sp>
        <p:nvSpPr>
          <p:cNvPr id="18" name="panel_211"/>
          <p:cNvSpPr/>
          <p:nvPr/>
        </p:nvSpPr>
        <p:spPr>
          <a:xfrm>
            <a:off x="7434072" y="4818888"/>
            <a:ext cx="4206240" cy="1060704"/>
          </a:xfrm>
          <a:prstGeom prst="roundRect">
            <a:avLst>
              <a:gd name="adj" fmla="val 10345"/>
            </a:avLst>
          </a:prstGeom>
          <a:solidFill>
            <a:srgbClr val="131D31"/>
          </a:solidFill>
          <a:ln w="12700">
            <a:solidFill>
              <a:srgbClr val="26375A"/>
            </a:solidFill>
            <a:prstDash val="solid"/>
          </a:ln>
        </p:spPr>
      </p:sp>
      <p:sp>
        <p:nvSpPr>
          <p:cNvPr id="19" name="badge_212"/>
          <p:cNvSpPr/>
          <p:nvPr/>
        </p:nvSpPr>
        <p:spPr>
          <a:xfrm>
            <a:off x="7598664" y="4983480"/>
            <a:ext cx="457200" cy="457200"/>
          </a:xfrm>
          <a:prstGeom prst="ellipse">
            <a:avLst/>
          </a:prstGeom>
          <a:solidFill>
            <a:srgbClr val="29B5E8">
              <a:alpha val="18000"/>
            </a:srgbClr>
          </a:solidFill>
          <a:ln w="15875">
            <a:solidFill>
              <a:srgbClr val="29B5E8"/>
            </a:solidFill>
            <a:prstDash val="solid"/>
          </a:ln>
        </p:spPr>
      </p:sp>
      <p:pic>
        <p:nvPicPr>
          <p:cNvPr id="20" name="icon_213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22108" y="5106924"/>
            <a:ext cx="210312" cy="210312"/>
          </a:xfrm>
          <a:prstGeom prst="rect">
            <a:avLst/>
          </a:prstGeom>
        </p:spPr>
      </p:pic>
      <p:sp>
        <p:nvSpPr>
          <p:cNvPr id="21" name="Text 17"/>
          <p:cNvSpPr txBox="1"/>
          <p:nvPr/>
        </p:nvSpPr>
        <p:spPr>
          <a:xfrm>
            <a:off x="8257032" y="4965192"/>
            <a:ext cx="3218688" cy="2498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450" b="1" dirty="0">
                <a:solidFill>
                  <a:srgbClr val="F1F5F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Rebuild after every change</a:t>
            </a:r>
            <a:endParaRPr lang="en-US" sz="1450" dirty="0"/>
          </a:p>
        </p:txBody>
      </p:sp>
      <p:sp>
        <p:nvSpPr>
          <p:cNvPr id="22" name="Text 18"/>
          <p:cNvSpPr txBox="1"/>
          <p:nvPr/>
        </p:nvSpPr>
        <p:spPr>
          <a:xfrm>
            <a:off x="8257032" y="5260730"/>
            <a:ext cx="3218688" cy="4467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9AA8B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image is frozen. Edit etl.py and the running image still has the old code.</a:t>
            </a:r>
            <a:endParaRPr lang="en-US" sz="11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FF99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WHY THE ORDER MATTERS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1F5F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Layers and the build cache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17904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9AA8B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Each line in a Dockerfile makes a layer. Docker reuses a layer if nothing above it changed. Get the order wrong and every build reinstalls everything.</a:t>
            </a:r>
            <a:endParaRPr lang="en-US" sz="1500" dirty="0"/>
          </a:p>
        </p:txBody>
      </p:sp>
      <p:sp>
        <p:nvSpPr>
          <p:cNvPr id="5" name="panel_214"/>
          <p:cNvSpPr/>
          <p:nvPr/>
        </p:nvSpPr>
        <p:spPr>
          <a:xfrm>
            <a:off x="548640" y="1965960"/>
            <a:ext cx="5394960" cy="1920240"/>
          </a:xfrm>
          <a:prstGeom prst="roundRect">
            <a:avLst>
              <a:gd name="adj" fmla="val 5714"/>
            </a:avLst>
          </a:prstGeom>
          <a:solidFill>
            <a:srgbClr val="0D1526"/>
          </a:solidFill>
          <a:ln w="12700">
            <a:solidFill>
              <a:srgbClr val="26375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86384" y="2130552"/>
            <a:ext cx="4919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F2545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SLOW — WRONG ORDER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786384" y="2478024"/>
            <a:ext cx="4919472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254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COPY . .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 pip install -r requirements.txt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B6B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change one line of etl.py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254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→ pip reinstalls everything. 90s.</a:t>
            </a:r>
            <a:endParaRPr lang="en-US" sz="1100" dirty="0"/>
          </a:p>
        </p:txBody>
      </p:sp>
      <p:sp>
        <p:nvSpPr>
          <p:cNvPr id="8" name="panel_215"/>
          <p:cNvSpPr/>
          <p:nvPr/>
        </p:nvSpPr>
        <p:spPr>
          <a:xfrm>
            <a:off x="6245352" y="1965960"/>
            <a:ext cx="5394960" cy="1920240"/>
          </a:xfrm>
          <a:prstGeom prst="roundRect">
            <a:avLst>
              <a:gd name="adj" fmla="val 5714"/>
            </a:avLst>
          </a:prstGeom>
          <a:solidFill>
            <a:srgbClr val="0D1526"/>
          </a:solidFill>
          <a:ln w="12700">
            <a:solidFill>
              <a:srgbClr val="26375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83096" y="2130552"/>
            <a:ext cx="4919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7AA11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FAST — RIGHT ORDER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6483096" y="2478024"/>
            <a:ext cx="4919472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7AA1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COPY requirements.txt .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 pip install -r requirements.txt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7AA1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COPY . .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B6B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change one line of etl.py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7AA1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→ only the last layer rebuilds. 2s.</a:t>
            </a:r>
            <a:endParaRPr lang="en-US" sz="1100" dirty="0"/>
          </a:p>
        </p:txBody>
      </p:sp>
      <p:sp>
        <p:nvSpPr>
          <p:cNvPr id="11" name="panel_216"/>
          <p:cNvSpPr/>
          <p:nvPr/>
        </p:nvSpPr>
        <p:spPr>
          <a:xfrm>
            <a:off x="548640" y="4023360"/>
            <a:ext cx="11091672" cy="548640"/>
          </a:xfrm>
          <a:prstGeom prst="roundRect">
            <a:avLst>
              <a:gd name="adj" fmla="val 20000"/>
            </a:avLst>
          </a:prstGeom>
          <a:solidFill>
            <a:srgbClr val="1A2741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59536" y="4096512"/>
            <a:ext cx="10469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450" b="1" dirty="0">
                <a:solidFill>
                  <a:srgbClr val="F1F5F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Rule: put the things that rarely change at the top, and your own code at the bottom.</a:t>
            </a:r>
            <a:endParaRPr lang="en-US" sz="1450" dirty="0"/>
          </a:p>
        </p:txBody>
      </p:sp>
      <p:sp>
        <p:nvSpPr>
          <p:cNvPr id="13" name="panel_217"/>
          <p:cNvSpPr/>
          <p:nvPr/>
        </p:nvSpPr>
        <p:spPr>
          <a:xfrm>
            <a:off x="548640" y="4617720"/>
            <a:ext cx="3511296" cy="1645920"/>
          </a:xfrm>
          <a:prstGeom prst="roundRect">
            <a:avLst>
              <a:gd name="adj" fmla="val 6667"/>
            </a:avLst>
          </a:prstGeom>
          <a:solidFill>
            <a:srgbClr val="131D31"/>
          </a:solidFill>
          <a:ln w="12700">
            <a:solidFill>
              <a:srgbClr val="26375A"/>
            </a:solidFill>
            <a:prstDash val="solid"/>
          </a:ln>
        </p:spPr>
      </p:sp>
      <p:sp>
        <p:nvSpPr>
          <p:cNvPr id="14" name="badge_218"/>
          <p:cNvSpPr/>
          <p:nvPr/>
        </p:nvSpPr>
        <p:spPr>
          <a:xfrm>
            <a:off x="731520" y="4800600"/>
            <a:ext cx="475488" cy="475488"/>
          </a:xfrm>
          <a:prstGeom prst="ellipse">
            <a:avLst/>
          </a:prstGeom>
          <a:solidFill>
            <a:srgbClr val="FF9900">
              <a:alpha val="18000"/>
            </a:srgbClr>
          </a:solidFill>
          <a:ln w="15875">
            <a:solidFill>
              <a:srgbClr val="FF9900"/>
            </a:solidFill>
            <a:prstDash val="solid"/>
          </a:ln>
        </p:spPr>
      </p:sp>
      <p:pic>
        <p:nvPicPr>
          <p:cNvPr id="15" name="icon_219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9902" y="4928982"/>
            <a:ext cx="218724" cy="218724"/>
          </a:xfrm>
          <a:prstGeom prst="rect">
            <a:avLst/>
          </a:prstGeom>
        </p:spPr>
      </p:pic>
      <p:sp>
        <p:nvSpPr>
          <p:cNvPr id="16" name="Text 13"/>
          <p:cNvSpPr txBox="1"/>
          <p:nvPr/>
        </p:nvSpPr>
        <p:spPr>
          <a:xfrm>
            <a:off x="731520" y="5349240"/>
            <a:ext cx="3145536" cy="258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500" b="1" dirty="0">
                <a:solidFill>
                  <a:srgbClr val="F1F5F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Each step is a layer</a:t>
            </a:r>
            <a:endParaRPr lang="en-US" sz="1500" dirty="0"/>
          </a:p>
        </p:txBody>
      </p:sp>
      <p:sp>
        <p:nvSpPr>
          <p:cNvPr id="17" name="Text 14"/>
          <p:cNvSpPr txBox="1"/>
          <p:nvPr/>
        </p:nvSpPr>
        <p:spPr>
          <a:xfrm>
            <a:off x="731520" y="5644248"/>
            <a:ext cx="3145536" cy="4273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9AA8B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Docker saves the files after every line, so it can resume from the middle.</a:t>
            </a:r>
            <a:endParaRPr lang="en-US" sz="1100" dirty="0"/>
          </a:p>
        </p:txBody>
      </p:sp>
      <p:sp>
        <p:nvSpPr>
          <p:cNvPr id="18" name="panel_220"/>
          <p:cNvSpPr/>
          <p:nvPr/>
        </p:nvSpPr>
        <p:spPr>
          <a:xfrm>
            <a:off x="4306824" y="4617720"/>
            <a:ext cx="3511296" cy="1645920"/>
          </a:xfrm>
          <a:prstGeom prst="roundRect">
            <a:avLst>
              <a:gd name="adj" fmla="val 6667"/>
            </a:avLst>
          </a:prstGeom>
          <a:solidFill>
            <a:srgbClr val="131D31"/>
          </a:solidFill>
          <a:ln w="12700">
            <a:solidFill>
              <a:srgbClr val="26375A"/>
            </a:solidFill>
            <a:prstDash val="solid"/>
          </a:ln>
        </p:spPr>
      </p:sp>
      <p:sp>
        <p:nvSpPr>
          <p:cNvPr id="19" name="badge_221"/>
          <p:cNvSpPr/>
          <p:nvPr/>
        </p:nvSpPr>
        <p:spPr>
          <a:xfrm>
            <a:off x="4489704" y="4800600"/>
            <a:ext cx="475488" cy="475488"/>
          </a:xfrm>
          <a:prstGeom prst="ellipse">
            <a:avLst/>
          </a:prstGeom>
          <a:solidFill>
            <a:srgbClr val="2DD4BF">
              <a:alpha val="18000"/>
            </a:srgbClr>
          </a:solidFill>
          <a:ln w="15875">
            <a:solidFill>
              <a:srgbClr val="2DD4BF"/>
            </a:solidFill>
            <a:prstDash val="solid"/>
          </a:ln>
        </p:spPr>
      </p:sp>
      <p:pic>
        <p:nvPicPr>
          <p:cNvPr id="20" name="icon_222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8086" y="4928982"/>
            <a:ext cx="218724" cy="218724"/>
          </a:xfrm>
          <a:prstGeom prst="rect">
            <a:avLst/>
          </a:prstGeom>
        </p:spPr>
      </p:pic>
      <p:sp>
        <p:nvSpPr>
          <p:cNvPr id="21" name="Text 17"/>
          <p:cNvSpPr txBox="1"/>
          <p:nvPr/>
        </p:nvSpPr>
        <p:spPr>
          <a:xfrm>
            <a:off x="4489704" y="5349240"/>
            <a:ext cx="3145536" cy="258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500" b="1" dirty="0">
                <a:solidFill>
                  <a:srgbClr val="F1F5F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Cache hits are free</a:t>
            </a:r>
            <a:endParaRPr lang="en-US" sz="1500" dirty="0"/>
          </a:p>
        </p:txBody>
      </p:sp>
      <p:sp>
        <p:nvSpPr>
          <p:cNvPr id="22" name="Text 18"/>
          <p:cNvSpPr txBox="1"/>
          <p:nvPr/>
        </p:nvSpPr>
        <p:spPr>
          <a:xfrm>
            <a:off x="4489704" y="5644248"/>
            <a:ext cx="3145536" cy="4273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9AA8B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CACHED in the build output means that step cost nothing.</a:t>
            </a:r>
            <a:endParaRPr lang="en-US" sz="1100" dirty="0"/>
          </a:p>
        </p:txBody>
      </p:sp>
      <p:sp>
        <p:nvSpPr>
          <p:cNvPr id="23" name="panel_223"/>
          <p:cNvSpPr/>
          <p:nvPr/>
        </p:nvSpPr>
        <p:spPr>
          <a:xfrm>
            <a:off x="8065008" y="4617720"/>
            <a:ext cx="3511296" cy="1645920"/>
          </a:xfrm>
          <a:prstGeom prst="roundRect">
            <a:avLst>
              <a:gd name="adj" fmla="val 6667"/>
            </a:avLst>
          </a:prstGeom>
          <a:solidFill>
            <a:srgbClr val="131D31"/>
          </a:solidFill>
          <a:ln w="12700">
            <a:solidFill>
              <a:srgbClr val="26375A"/>
            </a:solidFill>
            <a:prstDash val="solid"/>
          </a:ln>
        </p:spPr>
      </p:sp>
      <p:sp>
        <p:nvSpPr>
          <p:cNvPr id="24" name="badge_224"/>
          <p:cNvSpPr/>
          <p:nvPr/>
        </p:nvSpPr>
        <p:spPr>
          <a:xfrm>
            <a:off x="8247888" y="4800600"/>
            <a:ext cx="475488" cy="475488"/>
          </a:xfrm>
          <a:prstGeom prst="ellipse">
            <a:avLst/>
          </a:prstGeom>
          <a:solidFill>
            <a:srgbClr val="29B5E8">
              <a:alpha val="18000"/>
            </a:srgbClr>
          </a:solidFill>
          <a:ln w="15875">
            <a:solidFill>
              <a:srgbClr val="29B5E8"/>
            </a:solidFill>
            <a:prstDash val="solid"/>
          </a:ln>
        </p:spPr>
      </p:sp>
      <p:pic>
        <p:nvPicPr>
          <p:cNvPr id="25" name="icon_225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76270" y="4928982"/>
            <a:ext cx="218724" cy="218724"/>
          </a:xfrm>
          <a:prstGeom prst="rect">
            <a:avLst/>
          </a:prstGeom>
        </p:spPr>
      </p:pic>
      <p:sp>
        <p:nvSpPr>
          <p:cNvPr id="26" name="Text 21"/>
          <p:cNvSpPr txBox="1"/>
          <p:nvPr/>
        </p:nvSpPr>
        <p:spPr>
          <a:xfrm>
            <a:off x="8247888" y="5349240"/>
            <a:ext cx="3145536" cy="258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500" b="1" dirty="0">
                <a:solidFill>
                  <a:srgbClr val="F1F5F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Fewer, bigger RUN lines</a:t>
            </a:r>
            <a:endParaRPr lang="en-US" sz="1500" dirty="0"/>
          </a:p>
        </p:txBody>
      </p:sp>
      <p:sp>
        <p:nvSpPr>
          <p:cNvPr id="27" name="Text 22"/>
          <p:cNvSpPr txBox="1"/>
          <p:nvPr/>
        </p:nvSpPr>
        <p:spPr>
          <a:xfrm>
            <a:off x="8247888" y="5644248"/>
            <a:ext cx="3145536" cy="4273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9AA8B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Chain with &amp;&amp; so apt-get update and install share one layer.</a:t>
            </a:r>
            <a:endParaRPr lang="en-US" sz="11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FF99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KEEP IT SMALL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1F5F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.dockerignore and the right base image</a:t>
            </a:r>
            <a:endParaRPr lang="en-US" sz="3200" dirty="0"/>
          </a:p>
        </p:txBody>
      </p:sp>
      <p:sp>
        <p:nvSpPr>
          <p:cNvPr id="4" name="panel_226"/>
          <p:cNvSpPr/>
          <p:nvPr/>
        </p:nvSpPr>
        <p:spPr>
          <a:xfrm>
            <a:off x="548640" y="1627632"/>
            <a:ext cx="5394960" cy="2286000"/>
          </a:xfrm>
          <a:prstGeom prst="roundRect">
            <a:avLst>
              <a:gd name="adj" fmla="val 4800"/>
            </a:avLst>
          </a:prstGeom>
          <a:solidFill>
            <a:srgbClr val="0D1526"/>
          </a:solidFill>
          <a:ln w="12700">
            <a:solidFill>
              <a:srgbClr val="26375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86384" y="1792224"/>
            <a:ext cx="4919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FF99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.dockerignore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786384" y="2139696"/>
            <a:ext cx="4919472" cy="1591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.git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__pycache__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*.pyc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.venv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data/*.csv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F254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.env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notebooks/</a:t>
            </a:r>
            <a:endParaRPr lang="en-US" sz="1000" dirty="0"/>
          </a:p>
        </p:txBody>
      </p:sp>
      <p:sp>
        <p:nvSpPr>
          <p:cNvPr id="7" name="panel_227"/>
          <p:cNvSpPr/>
          <p:nvPr/>
        </p:nvSpPr>
        <p:spPr>
          <a:xfrm>
            <a:off x="6245352" y="1627632"/>
            <a:ext cx="5394960" cy="2286000"/>
          </a:xfrm>
          <a:prstGeom prst="roundRect">
            <a:avLst>
              <a:gd name="adj" fmla="val 4800"/>
            </a:avLst>
          </a:prstGeom>
          <a:solidFill>
            <a:srgbClr val="1A2741"/>
          </a:solidFill>
          <a:ln w="12700">
            <a:solidFill>
              <a:srgbClr val="F2545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519672" y="1819656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F2545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WHY THIS FILE MATTERS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6519672" y="2176272"/>
            <a:ext cx="48463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15000"/>
              </a:lnSpc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COPY . . copies everything, including a 2 GB .git folder</a:t>
            </a:r>
            <a:endParaRPr lang="en-US" sz="1300" dirty="0"/>
          </a:p>
          <a:p>
            <a:pPr marL="203200" indent="-203200">
              <a:lnSpc>
                <a:spcPct val="115000"/>
              </a:lnSpc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Big context = slow builds, every single time</a:t>
            </a:r>
            <a:endParaRPr lang="en-US" sz="1300" dirty="0"/>
          </a:p>
          <a:p>
            <a:pPr marL="203200" indent="-203200">
              <a:lnSpc>
                <a:spcPct val="115000"/>
              </a:lnSpc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Your .env with real passwords would be baked into the image forever</a:t>
            </a:r>
            <a:endParaRPr lang="en-US" sz="1300" dirty="0"/>
          </a:p>
          <a:p>
            <a:pPr marL="203200" indent="-203200">
              <a:lnSpc>
                <a:spcPct val="115000"/>
              </a:lnSpc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Anyone who pulls the image can read those files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406908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29B5E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PICKING A BASE IMAGE</a:t>
            </a:r>
            <a:endParaRPr lang="en-US" sz="1200" dirty="0"/>
          </a:p>
        </p:txBody>
      </p:sp>
      <p:graphicFrame>
        <p:nvGraphicFramePr>
          <p:cNvPr id="28" name="table_22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4407408"/>
          <a:ext cx="11091672" cy="914400"/>
        </p:xfrm>
        <a:graphic>
          <a:graphicData uri="http://schemas.openxmlformats.org/drawingml/2006/table">
            <a:tbl>
              <a:tblPr/>
              <a:tblGrid>
                <a:gridCol w="3108960"/>
                <a:gridCol w="1737360"/>
                <a:gridCol w="6245352"/>
              </a:tblGrid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1F5F9"/>
                          </a:solidFill>
                          <a:latin typeface="Segoe UI Semibold" pitchFamily="34" charset="0"/>
                          <a:ea typeface="Segoe UI Semibold" pitchFamily="34" charset="-122"/>
                          <a:cs typeface="Segoe UI Semibold" pitchFamily="34" charset="-120"/>
                        </a:rPr>
                        <a:t>Base image</a:t>
                      </a:r>
                      <a:endParaRPr lang="en-US" sz="1300" dirty="0">
                        <a:latin typeface="Segoe UI Semibold" charset="0"/>
                        <a:ea typeface="Segoe UI Semibold" charset="0"/>
                        <a:cs typeface="Segoe UI Semibold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263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3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3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3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B4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1F5F9"/>
                          </a:solidFill>
                          <a:latin typeface="Segoe UI Semibold" pitchFamily="34" charset="0"/>
                          <a:ea typeface="Segoe UI Semibold" pitchFamily="34" charset="-122"/>
                          <a:cs typeface="Segoe UI Semibold" pitchFamily="34" charset="-120"/>
                        </a:rPr>
                        <a:t>Size</a:t>
                      </a:r>
                      <a:endParaRPr lang="en-US" sz="1300" dirty="0">
                        <a:latin typeface="Segoe UI Semibold" charset="0"/>
                        <a:ea typeface="Segoe UI Semibold" charset="0"/>
                        <a:cs typeface="Segoe UI Semibold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263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3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3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3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B4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1F5F9"/>
                          </a:solidFill>
                          <a:latin typeface="Segoe UI Semibold" pitchFamily="34" charset="0"/>
                          <a:ea typeface="Segoe UI Semibold" pitchFamily="34" charset="-122"/>
                          <a:cs typeface="Segoe UI Semibold" pitchFamily="34" charset="-120"/>
                        </a:rPr>
                        <a:t>Use it when</a:t>
                      </a:r>
                      <a:endParaRPr lang="en-US" sz="1300" dirty="0">
                        <a:latin typeface="Segoe UI Semibold" charset="0"/>
                        <a:ea typeface="Segoe UI Semibold" charset="0"/>
                        <a:cs typeface="Segoe UI Semibold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263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3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3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3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B4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1F5F9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python:3.11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263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3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3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3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1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9AA8BD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~1 GB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263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3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3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3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1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9AA8BD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You need compilers and system tools. Rarely.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263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3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3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3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13A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1F5F9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python:3.11-slim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263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3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3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3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B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9AA8BD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~130 MB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263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3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3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3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B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9AA8BD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Your default. Works for pandas, requests, SQLAlchemy.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263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3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3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3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B2E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1F5F9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python:3.11-alpine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263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3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3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3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1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9AA8BD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~50 MB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263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3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3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3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1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9AA8BD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Tempting, but pandas and psycopg2 take forever to compile. Avoid.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263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3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3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3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13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FF99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EXPECT THESE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1F5F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Five build errors you will hit today</a:t>
            </a:r>
            <a:endParaRPr lang="en-US" sz="3200" dirty="0"/>
          </a:p>
        </p:txBody>
      </p:sp>
      <p:sp>
        <p:nvSpPr>
          <p:cNvPr id="4" name="panel_229"/>
          <p:cNvSpPr/>
          <p:nvPr/>
        </p:nvSpPr>
        <p:spPr>
          <a:xfrm>
            <a:off x="548640" y="1627632"/>
            <a:ext cx="11091672" cy="822960"/>
          </a:xfrm>
          <a:prstGeom prst="roundRect">
            <a:avLst>
              <a:gd name="adj" fmla="val 13333"/>
            </a:avLst>
          </a:prstGeom>
          <a:solidFill>
            <a:srgbClr val="1A2741"/>
          </a:solidFill>
          <a:ln w="12700">
            <a:solidFill>
              <a:srgbClr val="26375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04672" y="1746504"/>
            <a:ext cx="39319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254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"failed to read dockerfile"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4892040" y="1764792"/>
            <a:ext cx="6492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You are in the wrong folder, or the file is named dockerfile.txt. It must be exactly Dockerfile.</a:t>
            </a:r>
            <a:endParaRPr lang="en-US" sz="1300" dirty="0"/>
          </a:p>
        </p:txBody>
      </p:sp>
      <p:sp>
        <p:nvSpPr>
          <p:cNvPr id="7" name="panel_230"/>
          <p:cNvSpPr/>
          <p:nvPr/>
        </p:nvSpPr>
        <p:spPr>
          <a:xfrm>
            <a:off x="548640" y="2542032"/>
            <a:ext cx="11091672" cy="822960"/>
          </a:xfrm>
          <a:prstGeom prst="roundRect">
            <a:avLst>
              <a:gd name="adj" fmla="val 13333"/>
            </a:avLst>
          </a:prstGeom>
          <a:solidFill>
            <a:srgbClr val="131D31"/>
          </a:solidFill>
          <a:ln w="12700">
            <a:solidFill>
              <a:srgbClr val="26375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04672" y="2660904"/>
            <a:ext cx="39319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254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"COPY failed: file not found"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4892040" y="2679192"/>
            <a:ext cx="6492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file is outside the build context. Docker can only copy from the folder you passed as the dot.</a:t>
            </a:r>
            <a:endParaRPr lang="en-US" sz="1300" dirty="0"/>
          </a:p>
        </p:txBody>
      </p:sp>
      <p:sp>
        <p:nvSpPr>
          <p:cNvPr id="10" name="panel_231"/>
          <p:cNvSpPr/>
          <p:nvPr/>
        </p:nvSpPr>
        <p:spPr>
          <a:xfrm>
            <a:off x="548640" y="3456432"/>
            <a:ext cx="11091672" cy="822960"/>
          </a:xfrm>
          <a:prstGeom prst="roundRect">
            <a:avLst>
              <a:gd name="adj" fmla="val 13333"/>
            </a:avLst>
          </a:prstGeom>
          <a:solidFill>
            <a:srgbClr val="1A2741"/>
          </a:solidFill>
          <a:ln w="12700">
            <a:solidFill>
              <a:srgbClr val="26375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04672" y="3575304"/>
            <a:ext cx="39319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254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Build is slow every time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4892040" y="3593592"/>
            <a:ext cx="6492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COPY . . is above your pip install. Move it below.</a:t>
            </a:r>
            <a:endParaRPr lang="en-US" sz="1300" dirty="0"/>
          </a:p>
        </p:txBody>
      </p:sp>
      <p:sp>
        <p:nvSpPr>
          <p:cNvPr id="13" name="panel_232"/>
          <p:cNvSpPr/>
          <p:nvPr/>
        </p:nvSpPr>
        <p:spPr>
          <a:xfrm>
            <a:off x="548640" y="4370832"/>
            <a:ext cx="11091672" cy="822960"/>
          </a:xfrm>
          <a:prstGeom prst="roundRect">
            <a:avLst>
              <a:gd name="adj" fmla="val 13333"/>
            </a:avLst>
          </a:prstGeom>
          <a:solidFill>
            <a:srgbClr val="131D31"/>
          </a:solidFill>
          <a:ln w="12700">
            <a:solidFill>
              <a:srgbClr val="26375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04672" y="4489704"/>
            <a:ext cx="39319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254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"python: can't open file"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4892040" y="4507992"/>
            <a:ext cx="6492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WORKDIR and the path in CMD disagree. Run with bash and ls to see what is actually in there.</a:t>
            </a:r>
            <a:endParaRPr lang="en-US" sz="1300" dirty="0"/>
          </a:p>
        </p:txBody>
      </p:sp>
      <p:sp>
        <p:nvSpPr>
          <p:cNvPr id="16" name="panel_233"/>
          <p:cNvSpPr/>
          <p:nvPr/>
        </p:nvSpPr>
        <p:spPr>
          <a:xfrm>
            <a:off x="548640" y="5285232"/>
            <a:ext cx="11091672" cy="822960"/>
          </a:xfrm>
          <a:prstGeom prst="roundRect">
            <a:avLst>
              <a:gd name="adj" fmla="val 13333"/>
            </a:avLst>
          </a:prstGeom>
          <a:solidFill>
            <a:srgbClr val="1A2741"/>
          </a:solidFill>
          <a:ln w="12700">
            <a:solidFill>
              <a:srgbClr val="26375A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04672" y="5404104"/>
            <a:ext cx="39319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254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Container exits immediately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4892040" y="5422392"/>
            <a:ext cx="6492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That is normal if your script finished. Check with docker ps -a and read the logs.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6291072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9AA8B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Read the last three lines of a failed build before anything else. Docker's error messages are unusually honest.</a:t>
            </a:r>
            <a:endParaRPr lang="en-US" sz="12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FF99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LAB CHECKPOINT 2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1F5F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Build the sales ETL image</a:t>
            </a:r>
            <a:endParaRPr lang="en-US" sz="3200" dirty="0"/>
          </a:p>
        </p:txBody>
      </p:sp>
      <p:sp>
        <p:nvSpPr>
          <p:cNvPr id="4" name="panel_234"/>
          <p:cNvSpPr/>
          <p:nvPr/>
        </p:nvSpPr>
        <p:spPr>
          <a:xfrm>
            <a:off x="548640" y="1645920"/>
            <a:ext cx="6949440" cy="4160520"/>
          </a:xfrm>
          <a:prstGeom prst="roundRect">
            <a:avLst>
              <a:gd name="adj" fmla="val 2637"/>
            </a:avLst>
          </a:prstGeom>
          <a:solidFill>
            <a:srgbClr val="1A2741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5" name="badge_235"/>
          <p:cNvSpPr/>
          <p:nvPr/>
        </p:nvSpPr>
        <p:spPr>
          <a:xfrm>
            <a:off x="841248" y="1920240"/>
            <a:ext cx="658368" cy="658368"/>
          </a:xfrm>
          <a:prstGeom prst="ellipse">
            <a:avLst/>
          </a:prstGeom>
          <a:solidFill>
            <a:srgbClr val="2DD4BF">
              <a:alpha val="18000"/>
            </a:srgbClr>
          </a:solidFill>
          <a:ln w="15875">
            <a:solidFill>
              <a:srgbClr val="2DD4BF"/>
            </a:solidFill>
            <a:prstDash val="solid"/>
          </a:ln>
        </p:spPr>
      </p:sp>
      <p:pic>
        <p:nvPicPr>
          <p:cNvPr id="6" name="icon_236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9007" y="2097999"/>
            <a:ext cx="302849" cy="302849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737360" y="201168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1F5F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Twenty minutes, on your own</a:t>
            </a:r>
            <a:endParaRPr lang="en-US" sz="2200" dirty="0"/>
          </a:p>
        </p:txBody>
      </p:sp>
      <p:sp>
        <p:nvSpPr>
          <p:cNvPr id="8" name="Text 5"/>
          <p:cNvSpPr txBox="1"/>
          <p:nvPr/>
        </p:nvSpPr>
        <p:spPr>
          <a:xfrm>
            <a:off x="841248" y="2834640"/>
            <a:ext cx="64008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Open workshop/01-docker/ from the course repo</a:t>
            </a:r>
            <a:endParaRPr lang="en-US" sz="1450" dirty="0"/>
          </a:p>
          <a:p>
            <a:pPr marL="203200" indent="-2032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Read etl.py — it is forty lines of pandas you already understand</a:t>
            </a:r>
            <a:endParaRPr lang="en-US" sz="1450" dirty="0"/>
          </a:p>
          <a:p>
            <a:pPr marL="203200" indent="-2032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Write the Dockerfile yourself. Do not copy the solution file.</a:t>
            </a:r>
            <a:endParaRPr lang="en-US" sz="1450" dirty="0"/>
          </a:p>
          <a:p>
            <a:pPr marL="203200" indent="-2032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docker build -t sales-etl:v1 .</a:t>
            </a:r>
            <a:endParaRPr lang="en-US" sz="1450" dirty="0"/>
          </a:p>
          <a:p>
            <a:pPr marL="203200" indent="-2032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docker run --rm sales-etl:v1 and read the error about the database</a:t>
            </a:r>
            <a:endParaRPr lang="en-US" sz="1450" dirty="0"/>
          </a:p>
          <a:p>
            <a:pPr marL="203200" indent="-2032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Add a .dockerignore and rebuild. Note how much faster it is.</a:t>
            </a:r>
            <a:endParaRPr lang="en-US" sz="1450" dirty="0"/>
          </a:p>
        </p:txBody>
      </p:sp>
      <p:sp>
        <p:nvSpPr>
          <p:cNvPr id="9" name="panel_237"/>
          <p:cNvSpPr/>
          <p:nvPr/>
        </p:nvSpPr>
        <p:spPr>
          <a:xfrm>
            <a:off x="7708392" y="1645920"/>
            <a:ext cx="3931920" cy="1325880"/>
          </a:xfrm>
          <a:prstGeom prst="roundRect">
            <a:avLst>
              <a:gd name="adj" fmla="val 8276"/>
            </a:avLst>
          </a:prstGeom>
          <a:solidFill>
            <a:srgbClr val="131D31"/>
          </a:solidFill>
          <a:ln w="12700">
            <a:solidFill>
              <a:srgbClr val="26375A"/>
            </a:solidFill>
            <a:prstDash val="solid"/>
          </a:ln>
        </p:spPr>
      </p:sp>
      <p:sp>
        <p:nvSpPr>
          <p:cNvPr id="10" name="badge_238"/>
          <p:cNvSpPr/>
          <p:nvPr/>
        </p:nvSpPr>
        <p:spPr>
          <a:xfrm>
            <a:off x="7909560" y="1847088"/>
            <a:ext cx="512064" cy="512064"/>
          </a:xfrm>
          <a:prstGeom prst="ellipse">
            <a:avLst/>
          </a:prstGeom>
          <a:solidFill>
            <a:srgbClr val="FF9900">
              <a:alpha val="18000"/>
            </a:srgbClr>
          </a:solidFill>
          <a:ln w="15875">
            <a:solidFill>
              <a:srgbClr val="FF9900"/>
            </a:solidFill>
            <a:prstDash val="solid"/>
          </a:ln>
        </p:spPr>
      </p:sp>
      <p:pic>
        <p:nvPicPr>
          <p:cNvPr id="11" name="icon_239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7817" y="1985345"/>
            <a:ext cx="235549" cy="235549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8622792" y="1828800"/>
            <a:ext cx="2816352" cy="258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500" b="1" dirty="0">
                <a:solidFill>
                  <a:srgbClr val="F1F5F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Stuck on the Dockerfile?</a:t>
            </a:r>
            <a:endParaRPr lang="en-US" sz="1500" dirty="0"/>
          </a:p>
        </p:txBody>
      </p:sp>
      <p:sp>
        <p:nvSpPr>
          <p:cNvPr id="13" name="Text 9"/>
          <p:cNvSpPr txBox="1"/>
          <p:nvPr/>
        </p:nvSpPr>
        <p:spPr>
          <a:xfrm>
            <a:off x="8622792" y="2132952"/>
            <a:ext cx="2816352" cy="485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9AA8B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Look back two slides. Six lines is enough.</a:t>
            </a:r>
            <a:endParaRPr lang="en-US" sz="1250" dirty="0"/>
          </a:p>
        </p:txBody>
      </p:sp>
      <p:sp>
        <p:nvSpPr>
          <p:cNvPr id="14" name="panel_240"/>
          <p:cNvSpPr/>
          <p:nvPr/>
        </p:nvSpPr>
        <p:spPr>
          <a:xfrm>
            <a:off x="7708392" y="3063240"/>
            <a:ext cx="3931920" cy="1325880"/>
          </a:xfrm>
          <a:prstGeom prst="roundRect">
            <a:avLst>
              <a:gd name="adj" fmla="val 8276"/>
            </a:avLst>
          </a:prstGeom>
          <a:solidFill>
            <a:srgbClr val="131D31"/>
          </a:solidFill>
          <a:ln w="12700">
            <a:solidFill>
              <a:srgbClr val="26375A"/>
            </a:solidFill>
            <a:prstDash val="solid"/>
          </a:ln>
        </p:spPr>
      </p:sp>
      <p:sp>
        <p:nvSpPr>
          <p:cNvPr id="15" name="badge_241"/>
          <p:cNvSpPr/>
          <p:nvPr/>
        </p:nvSpPr>
        <p:spPr>
          <a:xfrm>
            <a:off x="7909560" y="3264408"/>
            <a:ext cx="512064" cy="512064"/>
          </a:xfrm>
          <a:prstGeom prst="ellipse">
            <a:avLst/>
          </a:prstGeom>
          <a:solidFill>
            <a:srgbClr val="29B5E8">
              <a:alpha val="18000"/>
            </a:srgbClr>
          </a:solidFill>
          <a:ln w="15875">
            <a:solidFill>
              <a:srgbClr val="29B5E8"/>
            </a:solidFill>
            <a:prstDash val="solid"/>
          </a:ln>
        </p:spPr>
      </p:sp>
      <p:pic>
        <p:nvPicPr>
          <p:cNvPr id="16" name="icon_24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7817" y="3402665"/>
            <a:ext cx="235549" cy="235549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8622792" y="3246120"/>
            <a:ext cx="2816352" cy="258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500" b="1" dirty="0">
                <a:solidFill>
                  <a:srgbClr val="F1F5F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Why the database error?</a:t>
            </a:r>
            <a:endParaRPr lang="en-US" sz="1500" dirty="0"/>
          </a:p>
        </p:txBody>
      </p:sp>
      <p:sp>
        <p:nvSpPr>
          <p:cNvPr id="18" name="Text 13"/>
          <p:cNvSpPr txBox="1"/>
          <p:nvPr/>
        </p:nvSpPr>
        <p:spPr>
          <a:xfrm>
            <a:off x="8622792" y="3550272"/>
            <a:ext cx="2816352" cy="485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9AA8B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There is no database yet. That is chapter 4.</a:t>
            </a:r>
            <a:endParaRPr lang="en-US" sz="1250" dirty="0"/>
          </a:p>
        </p:txBody>
      </p:sp>
      <p:sp>
        <p:nvSpPr>
          <p:cNvPr id="19" name="panel_243"/>
          <p:cNvSpPr/>
          <p:nvPr/>
        </p:nvSpPr>
        <p:spPr>
          <a:xfrm>
            <a:off x="7708392" y="4480560"/>
            <a:ext cx="3931920" cy="1325880"/>
          </a:xfrm>
          <a:prstGeom prst="roundRect">
            <a:avLst>
              <a:gd name="adj" fmla="val 8276"/>
            </a:avLst>
          </a:prstGeom>
          <a:solidFill>
            <a:srgbClr val="131D31"/>
          </a:solidFill>
          <a:ln w="12700">
            <a:solidFill>
              <a:srgbClr val="26375A"/>
            </a:solidFill>
            <a:prstDash val="solid"/>
          </a:ln>
        </p:spPr>
      </p:sp>
      <p:sp>
        <p:nvSpPr>
          <p:cNvPr id="20" name="badge_244"/>
          <p:cNvSpPr/>
          <p:nvPr/>
        </p:nvSpPr>
        <p:spPr>
          <a:xfrm>
            <a:off x="7909560" y="4681728"/>
            <a:ext cx="512064" cy="512064"/>
          </a:xfrm>
          <a:prstGeom prst="ellipse">
            <a:avLst/>
          </a:prstGeom>
          <a:solidFill>
            <a:srgbClr val="7AA116">
              <a:alpha val="18000"/>
            </a:srgbClr>
          </a:solidFill>
          <a:ln w="15875">
            <a:solidFill>
              <a:srgbClr val="7AA116"/>
            </a:solidFill>
            <a:prstDash val="solid"/>
          </a:ln>
        </p:spPr>
      </p:sp>
      <p:pic>
        <p:nvPicPr>
          <p:cNvPr id="21" name="icon_245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7817" y="4819985"/>
            <a:ext cx="235549" cy="235549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8622792" y="4663440"/>
            <a:ext cx="2816352" cy="258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500" b="1" dirty="0">
                <a:solidFill>
                  <a:srgbClr val="F1F5F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Finished early?</a:t>
            </a:r>
            <a:endParaRPr lang="en-US" sz="1500" dirty="0"/>
          </a:p>
        </p:txBody>
      </p:sp>
      <p:sp>
        <p:nvSpPr>
          <p:cNvPr id="23" name="Text 17"/>
          <p:cNvSpPr txBox="1"/>
          <p:nvPr/>
        </p:nvSpPr>
        <p:spPr>
          <a:xfrm>
            <a:off x="8622792" y="4967592"/>
            <a:ext cx="2816352" cy="485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9AA8B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Swap laptops and build your neighbour's image.</a:t>
            </a:r>
            <a:endParaRPr lang="en-US" sz="12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822960" y="1554480"/>
            <a:ext cx="5486400" cy="1463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1000" b="1" dirty="0">
                <a:solidFill>
                  <a:srgbClr val="FF990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04</a:t>
            </a:r>
            <a:endParaRPr lang="en-US" sz="110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822960" y="310896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1F5F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 whole stack</a:t>
            </a:r>
            <a:endParaRPr lang="en-US" sz="4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822960" y="4160520"/>
            <a:ext cx="9144000" cy="109728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2000" dirty="0">
                <a:solidFill>
                  <a:srgbClr val="9AA8B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 that survives, containers that talk, and one file that starts everything</a:t>
            </a:r>
            <a:endParaRPr lang="en-US" sz="20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FF99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PROBLEM YOU ALREADY MET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1F5F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Containers forget everything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17904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9AA8B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 checkpoint 1 you created a table, deleted the container, started a new one — and the table was gone. That was not a bug.</a:t>
            </a:r>
            <a:endParaRPr lang="en-US" sz="1500" dirty="0"/>
          </a:p>
        </p:txBody>
      </p:sp>
      <p:sp>
        <p:nvSpPr>
          <p:cNvPr id="5" name="panel_246"/>
          <p:cNvSpPr/>
          <p:nvPr/>
        </p:nvSpPr>
        <p:spPr>
          <a:xfrm>
            <a:off x="548640" y="1965960"/>
            <a:ext cx="2594610" cy="1371600"/>
          </a:xfrm>
          <a:prstGeom prst="roundRect">
            <a:avLst>
              <a:gd name="adj" fmla="val 8000"/>
            </a:avLst>
          </a:prstGeom>
          <a:solidFill>
            <a:srgbClr val="131D31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2112264"/>
            <a:ext cx="222885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2DD4B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01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423160"/>
            <a:ext cx="22288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F1F5F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Container starts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2898648"/>
            <a:ext cx="222885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9AA8B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It gets a fresh copy of the image's files.</a:t>
            </a:r>
            <a:endParaRPr lang="en-US" sz="1150" dirty="0"/>
          </a:p>
        </p:txBody>
      </p:sp>
      <p:sp>
        <p:nvSpPr>
          <p:cNvPr id="9" name="arrow_247"/>
          <p:cNvSpPr/>
          <p:nvPr/>
        </p:nvSpPr>
        <p:spPr>
          <a:xfrm>
            <a:off x="3170682" y="2569464"/>
            <a:ext cx="182880" cy="164592"/>
          </a:xfrm>
          <a:prstGeom prst="rightArrow">
            <a:avLst/>
          </a:prstGeom>
          <a:solidFill>
            <a:srgbClr val="26375A"/>
          </a:solidFill>
          <a:ln w="12700">
            <a:solidFill>
              <a:srgbClr val="26375A"/>
            </a:solidFill>
            <a:prstDash val="solid"/>
          </a:ln>
        </p:spPr>
      </p:sp>
      <p:sp>
        <p:nvSpPr>
          <p:cNvPr id="10" name="panel_248"/>
          <p:cNvSpPr/>
          <p:nvPr/>
        </p:nvSpPr>
        <p:spPr>
          <a:xfrm>
            <a:off x="3380994" y="1965960"/>
            <a:ext cx="2594610" cy="1371600"/>
          </a:xfrm>
          <a:prstGeom prst="roundRect">
            <a:avLst>
              <a:gd name="adj" fmla="val 8000"/>
            </a:avLst>
          </a:prstGeom>
          <a:solidFill>
            <a:srgbClr val="131D31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563874" y="2112264"/>
            <a:ext cx="222885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FF990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02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3563874" y="2423160"/>
            <a:ext cx="22288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F1F5F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It writes data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3563874" y="2898648"/>
            <a:ext cx="222885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9AA8B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Your table lands in the container's own layer.</a:t>
            </a:r>
            <a:endParaRPr lang="en-US" sz="1150" dirty="0"/>
          </a:p>
        </p:txBody>
      </p:sp>
      <p:sp>
        <p:nvSpPr>
          <p:cNvPr id="14" name="arrow_249"/>
          <p:cNvSpPr/>
          <p:nvPr/>
        </p:nvSpPr>
        <p:spPr>
          <a:xfrm>
            <a:off x="6003036" y="2569464"/>
            <a:ext cx="182880" cy="164592"/>
          </a:xfrm>
          <a:prstGeom prst="rightArrow">
            <a:avLst/>
          </a:prstGeom>
          <a:solidFill>
            <a:srgbClr val="26375A"/>
          </a:solidFill>
          <a:ln w="12700">
            <a:solidFill>
              <a:srgbClr val="26375A"/>
            </a:solidFill>
            <a:prstDash val="solid"/>
          </a:ln>
        </p:spPr>
      </p:sp>
      <p:sp>
        <p:nvSpPr>
          <p:cNvPr id="15" name="panel_250"/>
          <p:cNvSpPr/>
          <p:nvPr/>
        </p:nvSpPr>
        <p:spPr>
          <a:xfrm>
            <a:off x="6213348" y="1965960"/>
            <a:ext cx="2594610" cy="1371600"/>
          </a:xfrm>
          <a:prstGeom prst="roundRect">
            <a:avLst>
              <a:gd name="adj" fmla="val 8000"/>
            </a:avLst>
          </a:prstGeom>
          <a:solidFill>
            <a:srgbClr val="131D31"/>
          </a:solidFill>
          <a:ln w="12700">
            <a:solidFill>
              <a:srgbClr val="F2545B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396228" y="2112264"/>
            <a:ext cx="222885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F2545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03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6396228" y="2423160"/>
            <a:ext cx="22288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F1F5F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Container deleted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6396228" y="2898648"/>
            <a:ext cx="222885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9AA8B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That writable layer is deleted with it.</a:t>
            </a:r>
            <a:endParaRPr lang="en-US" sz="1150" dirty="0"/>
          </a:p>
        </p:txBody>
      </p:sp>
      <p:sp>
        <p:nvSpPr>
          <p:cNvPr id="19" name="arrow_251"/>
          <p:cNvSpPr/>
          <p:nvPr/>
        </p:nvSpPr>
        <p:spPr>
          <a:xfrm>
            <a:off x="8835390" y="2569464"/>
            <a:ext cx="182880" cy="164592"/>
          </a:xfrm>
          <a:prstGeom prst="rightArrow">
            <a:avLst/>
          </a:prstGeom>
          <a:solidFill>
            <a:srgbClr val="26375A"/>
          </a:solidFill>
          <a:ln w="12700">
            <a:solidFill>
              <a:srgbClr val="26375A"/>
            </a:solidFill>
            <a:prstDash val="solid"/>
          </a:ln>
        </p:spPr>
      </p:sp>
      <p:sp>
        <p:nvSpPr>
          <p:cNvPr id="20" name="panel_252"/>
          <p:cNvSpPr/>
          <p:nvPr/>
        </p:nvSpPr>
        <p:spPr>
          <a:xfrm>
            <a:off x="9045702" y="1965960"/>
            <a:ext cx="2594610" cy="1371600"/>
          </a:xfrm>
          <a:prstGeom prst="roundRect">
            <a:avLst>
              <a:gd name="adj" fmla="val 8000"/>
            </a:avLst>
          </a:prstGeom>
          <a:solidFill>
            <a:srgbClr val="131D31"/>
          </a:solidFill>
          <a:ln w="12700">
            <a:solidFill>
              <a:srgbClr val="5B6B85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9228582" y="2112264"/>
            <a:ext cx="222885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5B6B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04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9228582" y="2423160"/>
            <a:ext cx="22288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F1F5F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New container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9228582" y="2898648"/>
            <a:ext cx="222885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9AA8B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Fresh copy of the image again. Nothing you wrote is there.</a:t>
            </a:r>
            <a:endParaRPr lang="en-US" sz="1150" dirty="0"/>
          </a:p>
        </p:txBody>
      </p:sp>
      <p:sp>
        <p:nvSpPr>
          <p:cNvPr id="24" name="panel_253"/>
          <p:cNvSpPr/>
          <p:nvPr/>
        </p:nvSpPr>
        <p:spPr>
          <a:xfrm>
            <a:off x="548640" y="3520440"/>
            <a:ext cx="5394960" cy="2240280"/>
          </a:xfrm>
          <a:prstGeom prst="roundRect">
            <a:avLst>
              <a:gd name="adj" fmla="val 4898"/>
            </a:avLst>
          </a:prstGeom>
          <a:solidFill>
            <a:srgbClr val="1A2741"/>
          </a:solidFill>
          <a:ln w="12700">
            <a:solidFill>
              <a:srgbClr val="F2545B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822960" y="3721608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F2545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WHEN THAT IS EXACTLY RIGHT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822960" y="4078224"/>
            <a:ext cx="48463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nightly ETL job that reads and writes elsewhere</a:t>
            </a:r>
            <a:endParaRPr lang="en-US" sz="1350" dirty="0"/>
          </a:p>
          <a:p>
            <a:pPr marL="203200" indent="-2032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test run in CI that should start clean every time</a:t>
            </a:r>
            <a:endParaRPr lang="en-US" sz="1350" dirty="0"/>
          </a:p>
          <a:p>
            <a:pPr marL="203200" indent="-2032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Anything you want to be identical on every run</a:t>
            </a:r>
            <a:endParaRPr lang="en-US" sz="1350" dirty="0"/>
          </a:p>
        </p:txBody>
      </p:sp>
      <p:sp>
        <p:nvSpPr>
          <p:cNvPr id="27" name="panel_254"/>
          <p:cNvSpPr/>
          <p:nvPr/>
        </p:nvSpPr>
        <p:spPr>
          <a:xfrm>
            <a:off x="6245352" y="3520440"/>
            <a:ext cx="5394960" cy="2240280"/>
          </a:xfrm>
          <a:prstGeom prst="roundRect">
            <a:avLst>
              <a:gd name="adj" fmla="val 4898"/>
            </a:avLst>
          </a:prstGeom>
          <a:solidFill>
            <a:srgbClr val="1A2741"/>
          </a:solidFill>
          <a:ln w="12700">
            <a:solidFill>
              <a:srgbClr val="7AA116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519672" y="3721608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7AA11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WHEN YOU NEED IT TO REMEMBER</a:t>
            </a:r>
            <a:endParaRPr lang="en-US" sz="1100" dirty="0"/>
          </a:p>
        </p:txBody>
      </p:sp>
      <p:sp>
        <p:nvSpPr>
          <p:cNvPr id="29" name="Text 27"/>
          <p:cNvSpPr txBox="1"/>
          <p:nvPr/>
        </p:nvSpPr>
        <p:spPr>
          <a:xfrm>
            <a:off x="6519672" y="4078224"/>
            <a:ext cx="48463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database. Obviously.</a:t>
            </a:r>
            <a:endParaRPr lang="en-US" sz="1350" dirty="0"/>
          </a:p>
          <a:p>
            <a:pPr marL="203200" indent="-2032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Files your job produces that someone else reads</a:t>
            </a:r>
            <a:endParaRPr lang="en-US" sz="1350" dirty="0"/>
          </a:p>
          <a:p>
            <a:pPr marL="203200" indent="-2032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Code you are editing while the container runs</a:t>
            </a:r>
            <a:endParaRPr lang="en-US" sz="1350" dirty="0"/>
          </a:p>
        </p:txBody>
      </p:sp>
      <p:sp>
        <p:nvSpPr>
          <p:cNvPr id="30" name="Text 28"/>
          <p:cNvSpPr txBox="1"/>
          <p:nvPr/>
        </p:nvSpPr>
        <p:spPr>
          <a:xfrm>
            <a:off x="548640" y="5870448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9AA8B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 the second column there are two tools, and people mix them up constantly. Next slide.</a:t>
            </a:r>
            <a:endParaRPr lang="en-US" sz="135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FF99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TWO WAYS TO REMEMBER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1F5F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Volumes and bind mounts</a:t>
            </a:r>
            <a:endParaRPr lang="en-US" sz="3200" dirty="0"/>
          </a:p>
        </p:txBody>
      </p:sp>
      <p:sp>
        <p:nvSpPr>
          <p:cNvPr id="4" name="panel_255"/>
          <p:cNvSpPr/>
          <p:nvPr/>
        </p:nvSpPr>
        <p:spPr>
          <a:xfrm>
            <a:off x="548640" y="1591056"/>
            <a:ext cx="5394960" cy="2148840"/>
          </a:xfrm>
          <a:prstGeom prst="roundRect">
            <a:avLst>
              <a:gd name="adj" fmla="val 5106"/>
            </a:avLst>
          </a:prstGeom>
          <a:solidFill>
            <a:srgbClr val="131D31"/>
          </a:solidFill>
          <a:ln w="12700">
            <a:solidFill>
              <a:srgbClr val="8C4FFF"/>
            </a:solidFill>
            <a:prstDash val="solid"/>
          </a:ln>
        </p:spPr>
      </p:sp>
      <p:sp>
        <p:nvSpPr>
          <p:cNvPr id="5" name="badge_256"/>
          <p:cNvSpPr/>
          <p:nvPr/>
        </p:nvSpPr>
        <p:spPr>
          <a:xfrm>
            <a:off x="822960" y="1810512"/>
            <a:ext cx="548640" cy="548640"/>
          </a:xfrm>
          <a:prstGeom prst="ellipse">
            <a:avLst/>
          </a:prstGeom>
          <a:solidFill>
            <a:srgbClr val="8C4FFF">
              <a:alpha val="18000"/>
            </a:srgbClr>
          </a:solidFill>
          <a:ln w="15875">
            <a:solidFill>
              <a:srgbClr val="8C4FFF"/>
            </a:solidFill>
            <a:prstDash val="solid"/>
          </a:ln>
        </p:spPr>
      </p:sp>
      <p:pic>
        <p:nvPicPr>
          <p:cNvPr id="6" name="icon_257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093" y="1958645"/>
            <a:ext cx="252374" cy="25237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536192" y="1856232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8C4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VOLUME</a:t>
            </a:r>
            <a:endParaRPr lang="en-US" sz="19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2487168"/>
            <a:ext cx="4846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Docker keeps a folder somewhere on your disk and manages it for you. You never look inside it directly.</a:t>
            </a:r>
            <a:endParaRPr lang="en-US" sz="1300" dirty="0"/>
          </a:p>
        </p:txBody>
      </p:sp>
      <p:sp>
        <p:nvSpPr>
          <p:cNvPr id="9" name="panel_258"/>
          <p:cNvSpPr/>
          <p:nvPr/>
        </p:nvSpPr>
        <p:spPr>
          <a:xfrm>
            <a:off x="822960" y="3108960"/>
            <a:ext cx="4846320" cy="576072"/>
          </a:xfrm>
          <a:prstGeom prst="roundRect">
            <a:avLst>
              <a:gd name="adj" fmla="val 19048"/>
            </a:avLst>
          </a:prstGeom>
          <a:solidFill>
            <a:srgbClr val="0D1526"/>
          </a:solidFill>
          <a:ln w="12700">
            <a:solidFill>
              <a:srgbClr val="26375A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1060704" y="3310128"/>
            <a:ext cx="437083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8C4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-v pgdata:/var/lib/postgresql/data</a:t>
            </a:r>
            <a:endParaRPr lang="en-US" sz="950" dirty="0"/>
          </a:p>
        </p:txBody>
      </p:sp>
      <p:sp>
        <p:nvSpPr>
          <p:cNvPr id="11" name="panel_259"/>
          <p:cNvSpPr/>
          <p:nvPr/>
        </p:nvSpPr>
        <p:spPr>
          <a:xfrm>
            <a:off x="6245352" y="1591056"/>
            <a:ext cx="5394960" cy="2148840"/>
          </a:xfrm>
          <a:prstGeom prst="roundRect">
            <a:avLst>
              <a:gd name="adj" fmla="val 5106"/>
            </a:avLst>
          </a:prstGeom>
          <a:solidFill>
            <a:srgbClr val="131D31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12" name="badge_260"/>
          <p:cNvSpPr/>
          <p:nvPr/>
        </p:nvSpPr>
        <p:spPr>
          <a:xfrm>
            <a:off x="6519672" y="1810512"/>
            <a:ext cx="548640" cy="548640"/>
          </a:xfrm>
          <a:prstGeom prst="ellipse">
            <a:avLst/>
          </a:prstGeom>
          <a:solidFill>
            <a:srgbClr val="2DD4BF">
              <a:alpha val="18000"/>
            </a:srgbClr>
          </a:solidFill>
          <a:ln w="15875">
            <a:solidFill>
              <a:srgbClr val="2DD4BF"/>
            </a:solidFill>
            <a:prstDash val="solid"/>
          </a:ln>
        </p:spPr>
      </p:sp>
      <p:pic>
        <p:nvPicPr>
          <p:cNvPr id="13" name="icon_26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7805" y="1958645"/>
            <a:ext cx="252374" cy="252374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7232904" y="1856232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2DD4B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BIND MOUNT</a:t>
            </a:r>
            <a:endParaRPr lang="en-US" sz="1900" dirty="0"/>
          </a:p>
        </p:txBody>
      </p:sp>
      <p:sp>
        <p:nvSpPr>
          <p:cNvPr id="15" name="Text 11"/>
          <p:cNvSpPr txBox="1"/>
          <p:nvPr/>
        </p:nvSpPr>
        <p:spPr>
          <a:xfrm>
            <a:off x="6519672" y="2487168"/>
            <a:ext cx="4846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real folder of yours appears inside the container. Edit a file on your laptop and the container sees it instantly.</a:t>
            </a:r>
            <a:endParaRPr lang="en-US" sz="1300" dirty="0"/>
          </a:p>
        </p:txBody>
      </p:sp>
      <p:sp>
        <p:nvSpPr>
          <p:cNvPr id="16" name="panel_262"/>
          <p:cNvSpPr/>
          <p:nvPr/>
        </p:nvSpPr>
        <p:spPr>
          <a:xfrm>
            <a:off x="6519672" y="3108960"/>
            <a:ext cx="4846320" cy="576072"/>
          </a:xfrm>
          <a:prstGeom prst="roundRect">
            <a:avLst>
              <a:gd name="adj" fmla="val 19048"/>
            </a:avLst>
          </a:prstGeom>
          <a:solidFill>
            <a:srgbClr val="0D1526"/>
          </a:solidFill>
          <a:ln w="12700">
            <a:solidFill>
              <a:srgbClr val="26375A"/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6757416" y="3310128"/>
            <a:ext cx="437083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-v $(pwd)/data:/app/data</a:t>
            </a:r>
            <a:endParaRPr lang="en-US" sz="950" dirty="0"/>
          </a:p>
        </p:txBody>
      </p:sp>
      <p:graphicFrame>
        <p:nvGraphicFramePr>
          <p:cNvPr id="33" name="table_26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931920"/>
          <a:ext cx="11091672" cy="914400"/>
        </p:xfrm>
        <a:graphic>
          <a:graphicData uri="http://schemas.openxmlformats.org/drawingml/2006/table">
            <a:tbl>
              <a:tblPr/>
              <a:tblGrid>
                <a:gridCol w="3017520"/>
                <a:gridCol w="4023360"/>
                <a:gridCol w="4050792"/>
              </a:tblGrid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>
                        <a:latin typeface="Segoe UI Semibold" charset="0"/>
                        <a:ea typeface="Segoe UI Semibold" charset="0"/>
                        <a:cs typeface="Segoe UI Semibold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263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3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3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3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B4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1F5F9"/>
                          </a:solidFill>
                          <a:latin typeface="Segoe UI Semibold" pitchFamily="34" charset="0"/>
                          <a:ea typeface="Segoe UI Semibold" pitchFamily="34" charset="-122"/>
                          <a:cs typeface="Segoe UI Semibold" pitchFamily="34" charset="-120"/>
                        </a:rPr>
                        <a:t>Volume</a:t>
                      </a:r>
                      <a:endParaRPr lang="en-US" sz="1300" dirty="0">
                        <a:latin typeface="Segoe UI Semibold" charset="0"/>
                        <a:ea typeface="Segoe UI Semibold" charset="0"/>
                        <a:cs typeface="Segoe UI Semibold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263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3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3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3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B4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1F5F9"/>
                          </a:solidFill>
                          <a:latin typeface="Segoe UI Semibold" pitchFamily="34" charset="0"/>
                          <a:ea typeface="Segoe UI Semibold" pitchFamily="34" charset="-122"/>
                          <a:cs typeface="Segoe UI Semibold" pitchFamily="34" charset="-120"/>
                        </a:rPr>
                        <a:t>Bind mount</a:t>
                      </a:r>
                      <a:endParaRPr lang="en-US" sz="1300" dirty="0">
                        <a:latin typeface="Segoe UI Semibold" charset="0"/>
                        <a:ea typeface="Segoe UI Semibold" charset="0"/>
                        <a:cs typeface="Segoe UI Semibold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263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3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3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3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B4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1F5F9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Who owns the folder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263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3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3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3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1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9AA8BD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Docker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263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3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3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3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1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9AA8BD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You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263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3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3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3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13A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1F5F9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Can you open it in your editor?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263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3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3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3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B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9AA8BD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Not easily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263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3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3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3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B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9AA8BD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Yes, it is just your folder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263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3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3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3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B2E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1F5F9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Best for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263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3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3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3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1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9AA8BD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Database storage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263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3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3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3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1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9AA8BD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Your source code and input files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263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3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3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3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13A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1F5F9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Moves to another machine?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263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3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3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3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B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9AA8BD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No, it stays local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263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3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3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3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B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9AA8BD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No, the path is yours alone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263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3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3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3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B2E"/>
                    </a:solidFill>
                  </a:tcPr>
                </a:tc>
              </a:tr>
            </a:tbl>
          </a:graphicData>
        </a:graphic>
      </p:graphicFrame>
      <p:sp>
        <p:nvSpPr>
          <p:cNvPr id="19" name="panel_264"/>
          <p:cNvSpPr/>
          <p:nvPr/>
        </p:nvSpPr>
        <p:spPr>
          <a:xfrm>
            <a:off x="548640" y="5897880"/>
            <a:ext cx="11091672" cy="384048"/>
          </a:xfrm>
          <a:prstGeom prst="roundRect">
            <a:avLst>
              <a:gd name="adj" fmla="val 28571"/>
            </a:avLst>
          </a:prstGeom>
          <a:solidFill>
            <a:srgbClr val="1A2741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20" name="Text 15"/>
          <p:cNvSpPr txBox="1"/>
          <p:nvPr/>
        </p:nvSpPr>
        <p:spPr>
          <a:xfrm>
            <a:off x="859536" y="5971032"/>
            <a:ext cx="10469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50" b="1" dirty="0">
                <a:solidFill>
                  <a:srgbClr val="F1F5F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Database? Volume. Code or CSVs you are editing? Bind mount. That one line covers almost every case.</a:t>
            </a:r>
            <a:endParaRPr lang="en-US" sz="135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FF99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CUTTING A DOOR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1F5F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Ports: -p 8080:80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17904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9AA8B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container's network is sealed too. Nothing on your laptop can reach a program inside it until you open a port.</a:t>
            </a:r>
            <a:endParaRPr lang="en-US" sz="1500" dirty="0"/>
          </a:p>
        </p:txBody>
      </p:sp>
      <p:sp>
        <p:nvSpPr>
          <p:cNvPr id="5" name="panel_265"/>
          <p:cNvSpPr/>
          <p:nvPr/>
        </p:nvSpPr>
        <p:spPr>
          <a:xfrm>
            <a:off x="548640" y="2011680"/>
            <a:ext cx="11091672" cy="1920240"/>
          </a:xfrm>
          <a:prstGeom prst="roundRect">
            <a:avLst>
              <a:gd name="adj" fmla="val 5714"/>
            </a:avLst>
          </a:prstGeom>
          <a:solidFill>
            <a:srgbClr val="131D31"/>
          </a:solidFill>
          <a:ln w="12700">
            <a:solidFill>
              <a:srgbClr val="26375A"/>
            </a:solidFill>
            <a:prstDash val="solid"/>
          </a:ln>
        </p:spPr>
      </p:sp>
      <p:sp>
        <p:nvSpPr>
          <p:cNvPr id="6" name="panel_266"/>
          <p:cNvSpPr/>
          <p:nvPr/>
        </p:nvSpPr>
        <p:spPr>
          <a:xfrm>
            <a:off x="914400" y="2514600"/>
            <a:ext cx="3108960" cy="914400"/>
          </a:xfrm>
          <a:prstGeom prst="roundRect">
            <a:avLst>
              <a:gd name="adj" fmla="val 10000"/>
            </a:avLst>
          </a:prstGeom>
          <a:solidFill>
            <a:srgbClr val="131D31"/>
          </a:solidFill>
          <a:ln w="12700">
            <a:solidFill>
              <a:srgbClr val="29B5E8"/>
            </a:solidFill>
            <a:prstDash val="solid"/>
          </a:ln>
        </p:spPr>
      </p:sp>
      <p:sp>
        <p:nvSpPr>
          <p:cNvPr id="7" name="badge_267"/>
          <p:cNvSpPr/>
          <p:nvPr/>
        </p:nvSpPr>
        <p:spPr>
          <a:xfrm>
            <a:off x="1097280" y="2743200"/>
            <a:ext cx="457200" cy="457200"/>
          </a:xfrm>
          <a:prstGeom prst="ellipse">
            <a:avLst/>
          </a:prstGeom>
          <a:solidFill>
            <a:srgbClr val="29B5E8">
              <a:alpha val="18000"/>
            </a:srgbClr>
          </a:solidFill>
          <a:ln w="15875">
            <a:solidFill>
              <a:srgbClr val="29B5E8"/>
            </a:solidFill>
            <a:prstDash val="solid"/>
          </a:ln>
        </p:spPr>
      </p:sp>
      <p:pic>
        <p:nvPicPr>
          <p:cNvPr id="8" name="icon_268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20724" y="2866644"/>
            <a:ext cx="210312" cy="210312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719072" y="2697480"/>
            <a:ext cx="21396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1F5F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Your browser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1719072" y="2962656"/>
            <a:ext cx="21396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AA8B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localhost:8080</a:t>
            </a:r>
            <a:endParaRPr lang="en-US" sz="1100" dirty="0"/>
          </a:p>
        </p:txBody>
      </p:sp>
      <p:sp>
        <p:nvSpPr>
          <p:cNvPr id="11" name="panel_269"/>
          <p:cNvSpPr/>
          <p:nvPr/>
        </p:nvSpPr>
        <p:spPr>
          <a:xfrm>
            <a:off x="8138160" y="2514600"/>
            <a:ext cx="3108960" cy="914400"/>
          </a:xfrm>
          <a:prstGeom prst="roundRect">
            <a:avLst>
              <a:gd name="adj" fmla="val 10000"/>
            </a:avLst>
          </a:prstGeom>
          <a:solidFill>
            <a:srgbClr val="131D31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12" name="badge_270"/>
          <p:cNvSpPr/>
          <p:nvPr/>
        </p:nvSpPr>
        <p:spPr>
          <a:xfrm>
            <a:off x="8321040" y="2743200"/>
            <a:ext cx="457200" cy="457200"/>
          </a:xfrm>
          <a:prstGeom prst="ellipse">
            <a:avLst/>
          </a:prstGeom>
          <a:solidFill>
            <a:srgbClr val="FF9900">
              <a:alpha val="18000"/>
            </a:srgbClr>
          </a:solidFill>
          <a:ln w="15875">
            <a:solidFill>
              <a:srgbClr val="FF9900"/>
            </a:solidFill>
            <a:prstDash val="solid"/>
          </a:ln>
        </p:spPr>
      </p:sp>
      <p:pic>
        <p:nvPicPr>
          <p:cNvPr id="13" name="icon_27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44484" y="2866644"/>
            <a:ext cx="210312" cy="210312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8942832" y="2697480"/>
            <a:ext cx="21396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1F5F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Inside the container</a:t>
            </a:r>
            <a:endParaRPr lang="en-US" sz="1400" dirty="0"/>
          </a:p>
        </p:txBody>
      </p:sp>
      <p:sp>
        <p:nvSpPr>
          <p:cNvPr id="15" name="Text 11"/>
          <p:cNvSpPr txBox="1"/>
          <p:nvPr/>
        </p:nvSpPr>
        <p:spPr>
          <a:xfrm>
            <a:off x="8942832" y="2962656"/>
            <a:ext cx="21396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AA8B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app listens on 80</a:t>
            </a:r>
            <a:endParaRPr lang="en-US" sz="1100" dirty="0"/>
          </a:p>
        </p:txBody>
      </p:sp>
      <p:sp>
        <p:nvSpPr>
          <p:cNvPr id="16" name="portgate"/>
          <p:cNvSpPr/>
          <p:nvPr/>
        </p:nvSpPr>
        <p:spPr>
          <a:xfrm>
            <a:off x="4754880" y="2606040"/>
            <a:ext cx="2651760" cy="731520"/>
          </a:xfrm>
          <a:prstGeom prst="roundRect">
            <a:avLst>
              <a:gd name="adj" fmla="val 18750"/>
            </a:avLst>
          </a:prstGeom>
          <a:solidFill>
            <a:srgbClr val="7AA116">
              <a:alpha val="14000"/>
            </a:srgbClr>
          </a:solidFill>
          <a:ln w="15875">
            <a:solidFill>
              <a:srgbClr val="7AA116"/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4754880" y="2606040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7AA1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-p 8080:80</a:t>
            </a:r>
            <a:endParaRPr lang="en-US" sz="1600" dirty="0"/>
          </a:p>
        </p:txBody>
      </p:sp>
      <p:sp>
        <p:nvSpPr>
          <p:cNvPr id="18" name="conn_272"/>
          <p:cNvSpPr/>
          <p:nvPr/>
        </p:nvSpPr>
        <p:spPr>
          <a:xfrm>
            <a:off x="4069080" y="2971800"/>
            <a:ext cx="640080" cy="0"/>
          </a:xfrm>
          <a:prstGeom prst="line">
            <a:avLst/>
          </a:prstGeom>
          <a:noFill/>
          <a:ln w="19050">
            <a:solidFill>
              <a:srgbClr val="7AA116"/>
            </a:solidFill>
            <a:prstDash val="solid"/>
            <a:headEnd type="none"/>
            <a:tailEnd type="arrow"/>
          </a:ln>
        </p:spPr>
      </p:sp>
      <p:sp>
        <p:nvSpPr>
          <p:cNvPr id="19" name="conn_273"/>
          <p:cNvSpPr/>
          <p:nvPr/>
        </p:nvSpPr>
        <p:spPr>
          <a:xfrm>
            <a:off x="7452360" y="2971800"/>
            <a:ext cx="640080" cy="0"/>
          </a:xfrm>
          <a:prstGeom prst="line">
            <a:avLst/>
          </a:prstGeom>
          <a:noFill/>
          <a:ln w="19050">
            <a:solidFill>
              <a:srgbClr val="7AA116"/>
            </a:solidFill>
            <a:prstDash val="solid"/>
            <a:headEnd type="none"/>
            <a:tailEnd type="arrow"/>
          </a:ln>
        </p:spPr>
      </p:sp>
      <p:sp>
        <p:nvSpPr>
          <p:cNvPr id="20" name="panel_274"/>
          <p:cNvSpPr/>
          <p:nvPr/>
        </p:nvSpPr>
        <p:spPr>
          <a:xfrm>
            <a:off x="548640" y="4069080"/>
            <a:ext cx="3511296" cy="1783080"/>
          </a:xfrm>
          <a:prstGeom prst="roundRect">
            <a:avLst>
              <a:gd name="adj" fmla="val 6154"/>
            </a:avLst>
          </a:prstGeom>
          <a:solidFill>
            <a:srgbClr val="131D31"/>
          </a:solidFill>
          <a:ln w="12700">
            <a:solidFill>
              <a:srgbClr val="26375A"/>
            </a:solidFill>
            <a:prstDash val="solid"/>
          </a:ln>
        </p:spPr>
      </p:sp>
      <p:sp>
        <p:nvSpPr>
          <p:cNvPr id="21" name="badge_275"/>
          <p:cNvSpPr/>
          <p:nvPr/>
        </p:nvSpPr>
        <p:spPr>
          <a:xfrm>
            <a:off x="749808" y="4270248"/>
            <a:ext cx="512064" cy="512064"/>
          </a:xfrm>
          <a:prstGeom prst="ellipse">
            <a:avLst/>
          </a:prstGeom>
          <a:solidFill>
            <a:srgbClr val="29B5E8">
              <a:alpha val="18000"/>
            </a:srgbClr>
          </a:solidFill>
          <a:ln w="15875">
            <a:solidFill>
              <a:srgbClr val="29B5E8"/>
            </a:solidFill>
            <a:prstDash val="solid"/>
          </a:ln>
        </p:spPr>
      </p:sp>
      <p:pic>
        <p:nvPicPr>
          <p:cNvPr id="22" name="icon_276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8065" y="4408505"/>
            <a:ext cx="235549" cy="235549"/>
          </a:xfrm>
          <a:prstGeom prst="rect">
            <a:avLst/>
          </a:prstGeom>
        </p:spPr>
      </p:pic>
      <p:sp>
        <p:nvSpPr>
          <p:cNvPr id="23" name="Text 18"/>
          <p:cNvSpPr txBox="1"/>
          <p:nvPr/>
        </p:nvSpPr>
        <p:spPr>
          <a:xfrm>
            <a:off x="749808" y="4855464"/>
            <a:ext cx="3108960" cy="2670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550" b="1" dirty="0">
                <a:solidFill>
                  <a:srgbClr val="F1F5F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Left is your laptop</a:t>
            </a:r>
            <a:endParaRPr lang="en-US" sz="1550" dirty="0"/>
          </a:p>
        </p:txBody>
      </p:sp>
      <p:sp>
        <p:nvSpPr>
          <p:cNvPr id="24" name="Text 19"/>
          <p:cNvSpPr txBox="1"/>
          <p:nvPr/>
        </p:nvSpPr>
        <p:spPr>
          <a:xfrm>
            <a:off x="749808" y="5159087"/>
            <a:ext cx="3108960" cy="485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9AA8B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8080 is the number you type in the browser. Pick anything free.</a:t>
            </a:r>
            <a:endParaRPr lang="en-US" sz="1250" dirty="0"/>
          </a:p>
        </p:txBody>
      </p:sp>
      <p:sp>
        <p:nvSpPr>
          <p:cNvPr id="25" name="panel_277"/>
          <p:cNvSpPr/>
          <p:nvPr/>
        </p:nvSpPr>
        <p:spPr>
          <a:xfrm>
            <a:off x="4306824" y="4069080"/>
            <a:ext cx="3511296" cy="1783080"/>
          </a:xfrm>
          <a:prstGeom prst="roundRect">
            <a:avLst>
              <a:gd name="adj" fmla="val 6154"/>
            </a:avLst>
          </a:prstGeom>
          <a:solidFill>
            <a:srgbClr val="131D31"/>
          </a:solidFill>
          <a:ln w="12700">
            <a:solidFill>
              <a:srgbClr val="26375A"/>
            </a:solidFill>
            <a:prstDash val="solid"/>
          </a:ln>
        </p:spPr>
      </p:sp>
      <p:sp>
        <p:nvSpPr>
          <p:cNvPr id="26" name="badge_278"/>
          <p:cNvSpPr/>
          <p:nvPr/>
        </p:nvSpPr>
        <p:spPr>
          <a:xfrm>
            <a:off x="4507992" y="4270248"/>
            <a:ext cx="512064" cy="512064"/>
          </a:xfrm>
          <a:prstGeom prst="ellipse">
            <a:avLst/>
          </a:prstGeom>
          <a:solidFill>
            <a:srgbClr val="FF9900">
              <a:alpha val="18000"/>
            </a:srgbClr>
          </a:solidFill>
          <a:ln w="15875">
            <a:solidFill>
              <a:srgbClr val="FF9900"/>
            </a:solidFill>
            <a:prstDash val="solid"/>
          </a:ln>
        </p:spPr>
      </p:sp>
      <p:pic>
        <p:nvPicPr>
          <p:cNvPr id="27" name="icon_279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46249" y="4408505"/>
            <a:ext cx="235549" cy="235549"/>
          </a:xfrm>
          <a:prstGeom prst="rect">
            <a:avLst/>
          </a:prstGeom>
        </p:spPr>
      </p:pic>
      <p:sp>
        <p:nvSpPr>
          <p:cNvPr id="28" name="Text 22"/>
          <p:cNvSpPr txBox="1"/>
          <p:nvPr/>
        </p:nvSpPr>
        <p:spPr>
          <a:xfrm>
            <a:off x="4507992" y="4855464"/>
            <a:ext cx="3108960" cy="2670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550" b="1" dirty="0">
                <a:solidFill>
                  <a:srgbClr val="F1F5F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Right is inside</a:t>
            </a:r>
            <a:endParaRPr lang="en-US" sz="1550" dirty="0"/>
          </a:p>
        </p:txBody>
      </p:sp>
      <p:sp>
        <p:nvSpPr>
          <p:cNvPr id="29" name="Text 23"/>
          <p:cNvSpPr txBox="1"/>
          <p:nvPr/>
        </p:nvSpPr>
        <p:spPr>
          <a:xfrm>
            <a:off x="4507992" y="5159087"/>
            <a:ext cx="3108960" cy="466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9AA8B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80 is whatever the program in the image listens on. You do not choose it.</a:t>
            </a:r>
            <a:endParaRPr lang="en-US" sz="1200" dirty="0"/>
          </a:p>
        </p:txBody>
      </p:sp>
      <p:sp>
        <p:nvSpPr>
          <p:cNvPr id="30" name="panel_280"/>
          <p:cNvSpPr/>
          <p:nvPr/>
        </p:nvSpPr>
        <p:spPr>
          <a:xfrm>
            <a:off x="8065008" y="4069080"/>
            <a:ext cx="3511296" cy="1783080"/>
          </a:xfrm>
          <a:prstGeom prst="roundRect">
            <a:avLst>
              <a:gd name="adj" fmla="val 6154"/>
            </a:avLst>
          </a:prstGeom>
          <a:solidFill>
            <a:srgbClr val="131D31"/>
          </a:solidFill>
          <a:ln w="12700">
            <a:solidFill>
              <a:srgbClr val="26375A"/>
            </a:solidFill>
            <a:prstDash val="solid"/>
          </a:ln>
        </p:spPr>
      </p:sp>
      <p:sp>
        <p:nvSpPr>
          <p:cNvPr id="31" name="badge_281"/>
          <p:cNvSpPr/>
          <p:nvPr/>
        </p:nvSpPr>
        <p:spPr>
          <a:xfrm>
            <a:off x="8266176" y="4270248"/>
            <a:ext cx="512064" cy="512064"/>
          </a:xfrm>
          <a:prstGeom prst="ellipse">
            <a:avLst/>
          </a:prstGeom>
          <a:solidFill>
            <a:srgbClr val="F2545B">
              <a:alpha val="18000"/>
            </a:srgbClr>
          </a:solidFill>
          <a:ln w="15875">
            <a:solidFill>
              <a:srgbClr val="F2545B"/>
            </a:solidFill>
            <a:prstDash val="solid"/>
          </a:ln>
        </p:spPr>
      </p:sp>
      <p:pic>
        <p:nvPicPr>
          <p:cNvPr id="32" name="icon_282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04433" y="4408505"/>
            <a:ext cx="235549" cy="235549"/>
          </a:xfrm>
          <a:prstGeom prst="rect">
            <a:avLst/>
          </a:prstGeom>
        </p:spPr>
      </p:pic>
      <p:sp>
        <p:nvSpPr>
          <p:cNvPr id="33" name="Text 26"/>
          <p:cNvSpPr txBox="1"/>
          <p:nvPr/>
        </p:nvSpPr>
        <p:spPr>
          <a:xfrm>
            <a:off x="8266176" y="4855464"/>
            <a:ext cx="3108960" cy="2670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550" b="1" dirty="0">
                <a:solidFill>
                  <a:srgbClr val="F1F5F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“Port is already allocated”</a:t>
            </a:r>
            <a:endParaRPr lang="en-US" sz="1550" dirty="0"/>
          </a:p>
        </p:txBody>
      </p:sp>
      <p:sp>
        <p:nvSpPr>
          <p:cNvPr id="34" name="Text 27"/>
          <p:cNvSpPr txBox="1"/>
          <p:nvPr/>
        </p:nvSpPr>
        <p:spPr>
          <a:xfrm>
            <a:off x="8266176" y="5159087"/>
            <a:ext cx="3108960" cy="485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9AA8B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Something else is on that number. Change the left side: -p 8081:80.</a:t>
            </a:r>
            <a:endParaRPr lang="en-US" sz="1250" dirty="0"/>
          </a:p>
        </p:txBody>
      </p:sp>
      <p:sp>
        <p:nvSpPr>
          <p:cNvPr id="35" name="Text 28"/>
          <p:cNvSpPr txBox="1"/>
          <p:nvPr/>
        </p:nvSpPr>
        <p:spPr>
          <a:xfrm>
            <a:off x="548640" y="5925312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9AA8B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-p flag at all means the program runs fine, and nothing outside can reach it. Perfectly normal for a background job.</a:t>
            </a:r>
            <a:endParaRPr lang="en-US" sz="13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FF99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CONTAINERS TALKING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1F5F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The localhost trap</a:t>
            </a:r>
            <a:endParaRPr lang="en-US" sz="3200" dirty="0"/>
          </a:p>
        </p:txBody>
      </p:sp>
      <p:sp>
        <p:nvSpPr>
          <p:cNvPr id="4" name="panel_283"/>
          <p:cNvSpPr/>
          <p:nvPr/>
        </p:nvSpPr>
        <p:spPr>
          <a:xfrm>
            <a:off x="548640" y="1591056"/>
            <a:ext cx="5394960" cy="2103120"/>
          </a:xfrm>
          <a:prstGeom prst="roundRect">
            <a:avLst>
              <a:gd name="adj" fmla="val 5217"/>
            </a:avLst>
          </a:prstGeom>
          <a:solidFill>
            <a:srgbClr val="1A2741"/>
          </a:solidFill>
          <a:ln w="12700">
            <a:solidFill>
              <a:srgbClr val="F2545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773936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F2545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THIS WILL NOT WORK</a:t>
            </a:r>
            <a:endParaRPr lang="en-US" sz="1100" dirty="0"/>
          </a:p>
        </p:txBody>
      </p:sp>
      <p:sp>
        <p:nvSpPr>
          <p:cNvPr id="6" name="panel_284"/>
          <p:cNvSpPr/>
          <p:nvPr/>
        </p:nvSpPr>
        <p:spPr>
          <a:xfrm>
            <a:off x="822960" y="2103120"/>
            <a:ext cx="4846320" cy="1371600"/>
          </a:xfrm>
          <a:prstGeom prst="roundRect">
            <a:avLst>
              <a:gd name="adj" fmla="val 8000"/>
            </a:avLst>
          </a:prstGeom>
          <a:solidFill>
            <a:srgbClr val="0D1526"/>
          </a:solidFill>
          <a:ln w="12700">
            <a:solidFill>
              <a:srgbClr val="26375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60704" y="2304288"/>
            <a:ext cx="4370832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B6B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inside the ETL container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conn = psycopg2.connect(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254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host="localhost",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port=5432, ...)</a:t>
            </a:r>
            <a:endParaRPr lang="en-US" sz="1100" dirty="0"/>
          </a:p>
        </p:txBody>
      </p:sp>
      <p:sp>
        <p:nvSpPr>
          <p:cNvPr id="8" name="panel_285"/>
          <p:cNvSpPr/>
          <p:nvPr/>
        </p:nvSpPr>
        <p:spPr>
          <a:xfrm>
            <a:off x="6245352" y="1591056"/>
            <a:ext cx="5394960" cy="2103120"/>
          </a:xfrm>
          <a:prstGeom prst="roundRect">
            <a:avLst>
              <a:gd name="adj" fmla="val 5217"/>
            </a:avLst>
          </a:prstGeom>
          <a:solidFill>
            <a:srgbClr val="1A2741"/>
          </a:solidFill>
          <a:ln w="12700">
            <a:solidFill>
              <a:srgbClr val="7AA11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519672" y="1773936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7AA11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THIS WILL</a:t>
            </a:r>
            <a:endParaRPr lang="en-US" sz="1100" dirty="0"/>
          </a:p>
        </p:txBody>
      </p:sp>
      <p:sp>
        <p:nvSpPr>
          <p:cNvPr id="10" name="panel_286"/>
          <p:cNvSpPr/>
          <p:nvPr/>
        </p:nvSpPr>
        <p:spPr>
          <a:xfrm>
            <a:off x="6519672" y="2103120"/>
            <a:ext cx="4846320" cy="1371600"/>
          </a:xfrm>
          <a:prstGeom prst="roundRect">
            <a:avLst>
              <a:gd name="adj" fmla="val 8000"/>
            </a:avLst>
          </a:prstGeom>
          <a:solidFill>
            <a:srgbClr val="0D1526"/>
          </a:solidFill>
          <a:ln w="12700">
            <a:solidFill>
              <a:srgbClr val="26375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757416" y="2304288"/>
            <a:ext cx="4370832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B6B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inside the ETL container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conn = psycopg2.connect(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7AA1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host="sales-db",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port=5432, ...)</a:t>
            </a:r>
            <a:endParaRPr lang="en-US" sz="1100" dirty="0"/>
          </a:p>
        </p:txBody>
      </p:sp>
      <p:sp>
        <p:nvSpPr>
          <p:cNvPr id="12" name="panel_287"/>
          <p:cNvSpPr/>
          <p:nvPr/>
        </p:nvSpPr>
        <p:spPr>
          <a:xfrm>
            <a:off x="548640" y="3840480"/>
            <a:ext cx="11091672" cy="1051560"/>
          </a:xfrm>
          <a:prstGeom prst="roundRect">
            <a:avLst>
              <a:gd name="adj" fmla="val 10435"/>
            </a:avLst>
          </a:prstGeom>
          <a:solidFill>
            <a:srgbClr val="131D31"/>
          </a:solidFill>
          <a:ln w="12700">
            <a:solidFill>
              <a:srgbClr val="29B5E8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68680" y="4005072"/>
            <a:ext cx="10424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Inside a container, localhost means that container itself — not your laptop, and not the other containers. On a shared Docker network, the container's name is its hostname.</a:t>
            </a:r>
            <a:endParaRPr lang="en-US" sz="1500" dirty="0"/>
          </a:p>
        </p:txBody>
      </p:sp>
      <p:sp>
        <p:nvSpPr>
          <p:cNvPr id="14" name="panel_288"/>
          <p:cNvSpPr/>
          <p:nvPr/>
        </p:nvSpPr>
        <p:spPr>
          <a:xfrm>
            <a:off x="548640" y="4956048"/>
            <a:ext cx="11091672" cy="1325880"/>
          </a:xfrm>
          <a:prstGeom prst="roundRect">
            <a:avLst>
              <a:gd name="adj" fmla="val 8276"/>
            </a:avLst>
          </a:prstGeom>
          <a:solidFill>
            <a:srgbClr val="0D1526"/>
          </a:solidFill>
          <a:ln w="12700">
            <a:solidFill>
              <a:srgbClr val="26375A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86384" y="5120640"/>
            <a:ext cx="106161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FF99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PUT THEM ON THE SAME NETWORK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786384" y="5468112"/>
            <a:ext cx="10616184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network create sales-net</a:t>
            </a:r>
            <a:endParaRPr lang="en-US" sz="9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run -d --name sales-db  --network sales-net  -e POSTGRES_PASSWORD=secret postgres:16</a:t>
            </a:r>
            <a:endParaRPr lang="en-US" sz="9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7AA1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run --rm --name sales-etl --network sales-net  -e DB_HOST=sales-db  sales-etl:v1</a:t>
            </a:r>
            <a:endParaRPr lang="en-US" sz="95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FF99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ENOUGH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1F5F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Look at what we are typing now</a:t>
            </a:r>
            <a:endParaRPr lang="en-US" sz="3200" dirty="0"/>
          </a:p>
        </p:txBody>
      </p:sp>
      <p:sp>
        <p:nvSpPr>
          <p:cNvPr id="4" name="panel_289"/>
          <p:cNvSpPr/>
          <p:nvPr/>
        </p:nvSpPr>
        <p:spPr>
          <a:xfrm>
            <a:off x="548640" y="1627632"/>
            <a:ext cx="11091672" cy="2286000"/>
          </a:xfrm>
          <a:prstGeom prst="roundRect">
            <a:avLst>
              <a:gd name="adj" fmla="val 4800"/>
            </a:avLst>
          </a:prstGeom>
          <a:solidFill>
            <a:srgbClr val="0D1526"/>
          </a:solidFill>
          <a:ln w="12700">
            <a:solidFill>
              <a:srgbClr val="26375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86384" y="1792224"/>
            <a:ext cx="106161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F2545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SAME STACK, BY HAND, EVERY MORNING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786384" y="2139696"/>
            <a:ext cx="10616184" cy="1591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network create sales-net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volume create pgdata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run -d --name sales-db --network sales-net -v pgdata:/var/lib/postgresql/data \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-e POSTGRES_PASSWORD=secret -e POSTGRES_DB=sales -p 5432:5432 postgres:16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build -t sales-etl:v1 .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run --rm --network sales-net -e DB_HOST=sales-db -e DB_PASSWORD=secret \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-v $(pwd)/data:/app/data sales-etl:v1</a:t>
            </a:r>
            <a:endParaRPr lang="en-US" sz="1000" dirty="0"/>
          </a:p>
        </p:txBody>
      </p:sp>
      <p:sp>
        <p:nvSpPr>
          <p:cNvPr id="7" name="panel_290"/>
          <p:cNvSpPr/>
          <p:nvPr/>
        </p:nvSpPr>
        <p:spPr>
          <a:xfrm>
            <a:off x="548640" y="4023360"/>
            <a:ext cx="3511296" cy="1755648"/>
          </a:xfrm>
          <a:prstGeom prst="roundRect">
            <a:avLst>
              <a:gd name="adj" fmla="val 6250"/>
            </a:avLst>
          </a:prstGeom>
          <a:solidFill>
            <a:srgbClr val="131D31"/>
          </a:solidFill>
          <a:ln w="12700">
            <a:solidFill>
              <a:srgbClr val="26375A"/>
            </a:solidFill>
            <a:prstDash val="solid"/>
          </a:ln>
        </p:spPr>
      </p:sp>
      <p:sp>
        <p:nvSpPr>
          <p:cNvPr id="8" name="badge_291"/>
          <p:cNvSpPr/>
          <p:nvPr/>
        </p:nvSpPr>
        <p:spPr>
          <a:xfrm>
            <a:off x="749808" y="4224528"/>
            <a:ext cx="512064" cy="512064"/>
          </a:xfrm>
          <a:prstGeom prst="ellipse">
            <a:avLst/>
          </a:prstGeom>
          <a:solidFill>
            <a:srgbClr val="F2545B">
              <a:alpha val="18000"/>
            </a:srgbClr>
          </a:solidFill>
          <a:ln w="15875">
            <a:solidFill>
              <a:srgbClr val="F2545B"/>
            </a:solidFill>
            <a:prstDash val="solid"/>
          </a:ln>
        </p:spPr>
      </p:sp>
      <p:pic>
        <p:nvPicPr>
          <p:cNvPr id="9" name="icon_292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8065" y="4362785"/>
            <a:ext cx="235549" cy="235549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749808" y="4809744"/>
            <a:ext cx="3108960" cy="2670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550" b="1" dirty="0">
                <a:solidFill>
                  <a:srgbClr val="F1F5F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Nobody remembers this</a:t>
            </a:r>
            <a:endParaRPr lang="en-US" sz="1550" dirty="0"/>
          </a:p>
        </p:txBody>
      </p:sp>
      <p:sp>
        <p:nvSpPr>
          <p:cNvPr id="11" name="Text 8"/>
          <p:cNvSpPr txBox="1"/>
          <p:nvPr/>
        </p:nvSpPr>
        <p:spPr>
          <a:xfrm>
            <a:off x="749808" y="5113367"/>
            <a:ext cx="3108960" cy="4467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9AA8B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Not you, not your teammate, not you in three weeks.</a:t>
            </a:r>
            <a:endParaRPr lang="en-US" sz="1150" dirty="0"/>
          </a:p>
        </p:txBody>
      </p:sp>
      <p:sp>
        <p:nvSpPr>
          <p:cNvPr id="12" name="panel_293"/>
          <p:cNvSpPr/>
          <p:nvPr/>
        </p:nvSpPr>
        <p:spPr>
          <a:xfrm>
            <a:off x="4306824" y="4023360"/>
            <a:ext cx="3511296" cy="1755648"/>
          </a:xfrm>
          <a:prstGeom prst="roundRect">
            <a:avLst>
              <a:gd name="adj" fmla="val 6250"/>
            </a:avLst>
          </a:prstGeom>
          <a:solidFill>
            <a:srgbClr val="131D31"/>
          </a:solidFill>
          <a:ln w="12700">
            <a:solidFill>
              <a:srgbClr val="26375A"/>
            </a:solidFill>
            <a:prstDash val="solid"/>
          </a:ln>
        </p:spPr>
      </p:sp>
      <p:sp>
        <p:nvSpPr>
          <p:cNvPr id="13" name="badge_294"/>
          <p:cNvSpPr/>
          <p:nvPr/>
        </p:nvSpPr>
        <p:spPr>
          <a:xfrm>
            <a:off x="4507992" y="4224528"/>
            <a:ext cx="512064" cy="512064"/>
          </a:xfrm>
          <a:prstGeom prst="ellipse">
            <a:avLst/>
          </a:prstGeom>
          <a:solidFill>
            <a:srgbClr val="FF9900">
              <a:alpha val="18000"/>
            </a:srgbClr>
          </a:solidFill>
          <a:ln w="15875">
            <a:solidFill>
              <a:srgbClr val="FF9900"/>
            </a:solidFill>
            <a:prstDash val="solid"/>
          </a:ln>
        </p:spPr>
      </p:sp>
      <p:pic>
        <p:nvPicPr>
          <p:cNvPr id="14" name="icon_295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6249" y="4362785"/>
            <a:ext cx="235549" cy="235549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4507992" y="4809744"/>
            <a:ext cx="3108960" cy="2670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550" b="1" dirty="0">
                <a:solidFill>
                  <a:srgbClr val="F1F5F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One typo and nothing works</a:t>
            </a:r>
            <a:endParaRPr lang="en-US" sz="1550" dirty="0"/>
          </a:p>
        </p:txBody>
      </p:sp>
      <p:sp>
        <p:nvSpPr>
          <p:cNvPr id="16" name="Text 12"/>
          <p:cNvSpPr txBox="1"/>
          <p:nvPr/>
        </p:nvSpPr>
        <p:spPr>
          <a:xfrm>
            <a:off x="4507992" y="5113367"/>
            <a:ext cx="3108960" cy="4467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9AA8B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And the error will point at the wrong thing.</a:t>
            </a:r>
            <a:endParaRPr lang="en-US" sz="1150" dirty="0"/>
          </a:p>
        </p:txBody>
      </p:sp>
      <p:sp>
        <p:nvSpPr>
          <p:cNvPr id="17" name="panel_296"/>
          <p:cNvSpPr/>
          <p:nvPr/>
        </p:nvSpPr>
        <p:spPr>
          <a:xfrm>
            <a:off x="8065008" y="4023360"/>
            <a:ext cx="3511296" cy="1755648"/>
          </a:xfrm>
          <a:prstGeom prst="roundRect">
            <a:avLst>
              <a:gd name="adj" fmla="val 6250"/>
            </a:avLst>
          </a:prstGeom>
          <a:solidFill>
            <a:srgbClr val="131D31"/>
          </a:solidFill>
          <a:ln w="12700">
            <a:solidFill>
              <a:srgbClr val="26375A"/>
            </a:solidFill>
            <a:prstDash val="solid"/>
          </a:ln>
        </p:spPr>
      </p:sp>
      <p:sp>
        <p:nvSpPr>
          <p:cNvPr id="18" name="badge_297"/>
          <p:cNvSpPr/>
          <p:nvPr/>
        </p:nvSpPr>
        <p:spPr>
          <a:xfrm>
            <a:off x="8266176" y="4224528"/>
            <a:ext cx="512064" cy="512064"/>
          </a:xfrm>
          <a:prstGeom prst="ellipse">
            <a:avLst/>
          </a:prstGeom>
          <a:solidFill>
            <a:srgbClr val="E7157B">
              <a:alpha val="18000"/>
            </a:srgbClr>
          </a:solidFill>
          <a:ln w="15875">
            <a:solidFill>
              <a:srgbClr val="E7157B"/>
            </a:solidFill>
            <a:prstDash val="solid"/>
          </a:ln>
        </p:spPr>
      </p:sp>
      <p:pic>
        <p:nvPicPr>
          <p:cNvPr id="19" name="icon_298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04433" y="4362785"/>
            <a:ext cx="235549" cy="235549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8266176" y="4809744"/>
            <a:ext cx="3108960" cy="2670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550" b="1" dirty="0">
                <a:solidFill>
                  <a:srgbClr val="F1F5F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It is not in git</a:t>
            </a:r>
            <a:endParaRPr lang="en-US" sz="1550" dirty="0"/>
          </a:p>
        </p:txBody>
      </p:sp>
      <p:sp>
        <p:nvSpPr>
          <p:cNvPr id="21" name="Text 16"/>
          <p:cNvSpPr txBox="1"/>
          <p:nvPr/>
        </p:nvSpPr>
        <p:spPr>
          <a:xfrm>
            <a:off x="8266176" y="5113367"/>
            <a:ext cx="3108960" cy="4467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9AA8B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most important setup in the project lives in someone's shell history.</a:t>
            </a:r>
            <a:endParaRPr lang="en-US" sz="1150" dirty="0"/>
          </a:p>
        </p:txBody>
      </p:sp>
      <p:sp>
        <p:nvSpPr>
          <p:cNvPr id="22" name="panel_299"/>
          <p:cNvSpPr/>
          <p:nvPr/>
        </p:nvSpPr>
        <p:spPr>
          <a:xfrm>
            <a:off x="548640" y="5852160"/>
            <a:ext cx="11091672" cy="438912"/>
          </a:xfrm>
          <a:prstGeom prst="roundRect">
            <a:avLst>
              <a:gd name="adj" fmla="val 25000"/>
            </a:avLst>
          </a:prstGeom>
          <a:solidFill>
            <a:srgbClr val="1A2741"/>
          </a:solidFill>
          <a:ln w="12700">
            <a:solidFill>
              <a:srgbClr val="7AA116"/>
            </a:solidFill>
            <a:prstDash val="solid"/>
          </a:ln>
        </p:spPr>
      </p:sp>
      <p:sp>
        <p:nvSpPr>
          <p:cNvPr id="23" name="Text 18"/>
          <p:cNvSpPr txBox="1"/>
          <p:nvPr/>
        </p:nvSpPr>
        <p:spPr>
          <a:xfrm>
            <a:off x="859536" y="5925312"/>
            <a:ext cx="10469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450" b="1" dirty="0">
                <a:solidFill>
                  <a:srgbClr val="F1F5F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Put all of it in one file instead. That file is called docker-compose.yml.</a:t>
            </a:r>
            <a:endParaRPr lang="en-US" sz="145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FF99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 FILE, PART 1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1F5F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docker-compose.yml — the database service</a:t>
            </a:r>
            <a:endParaRPr lang="en-US" sz="3200" dirty="0"/>
          </a:p>
        </p:txBody>
      </p:sp>
      <p:sp>
        <p:nvSpPr>
          <p:cNvPr id="4" name="panel_300"/>
          <p:cNvSpPr/>
          <p:nvPr/>
        </p:nvSpPr>
        <p:spPr>
          <a:xfrm>
            <a:off x="548640" y="1591056"/>
            <a:ext cx="6583680" cy="4114800"/>
          </a:xfrm>
          <a:prstGeom prst="roundRect">
            <a:avLst>
              <a:gd name="adj" fmla="val 2667"/>
            </a:avLst>
          </a:prstGeom>
          <a:solidFill>
            <a:srgbClr val="0D1526"/>
          </a:solidFill>
          <a:ln w="12700">
            <a:solidFill>
              <a:srgbClr val="26375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86384" y="1755648"/>
            <a:ext cx="61081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FF99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docker-compose.yml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786384" y="2103120"/>
            <a:ext cx="6108192" cy="3419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FF99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services: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db: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image: postgres:16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environment: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POSTGRES_PASSWORD: secret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POSTGRES_DB: sales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ports: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- "5432:5432"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volumes: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- pgdata:/var/lib/postgresql/data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healthcheck: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test: ["CMD-SHELL", "pg_isready -U postgres"]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interval: 5s</a:t>
            </a:r>
            <a:endParaRPr lang="en-US" sz="1200" dirty="0"/>
          </a:p>
        </p:txBody>
      </p:sp>
      <p:sp>
        <p:nvSpPr>
          <p:cNvPr id="7" name="panel_301"/>
          <p:cNvSpPr/>
          <p:nvPr/>
        </p:nvSpPr>
        <p:spPr>
          <a:xfrm>
            <a:off x="7342632" y="1591056"/>
            <a:ext cx="4297680" cy="749808"/>
          </a:xfrm>
          <a:prstGeom prst="roundRect">
            <a:avLst>
              <a:gd name="adj" fmla="val 14634"/>
            </a:avLst>
          </a:prstGeom>
          <a:solidFill>
            <a:srgbClr val="131D31"/>
          </a:solidFill>
          <a:ln w="12700">
            <a:solidFill>
              <a:srgbClr val="26375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534656" y="1673352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99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services: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7534656" y="1929384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9AA8B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 entry per container. Everything else is indented under a service name.</a:t>
            </a:r>
            <a:endParaRPr lang="en-US" sz="1100" dirty="0"/>
          </a:p>
        </p:txBody>
      </p:sp>
      <p:sp>
        <p:nvSpPr>
          <p:cNvPr id="10" name="panel_302"/>
          <p:cNvSpPr/>
          <p:nvPr/>
        </p:nvSpPr>
        <p:spPr>
          <a:xfrm>
            <a:off x="7342632" y="2432304"/>
            <a:ext cx="4297680" cy="749808"/>
          </a:xfrm>
          <a:prstGeom prst="roundRect">
            <a:avLst>
              <a:gd name="adj" fmla="val 14634"/>
            </a:avLst>
          </a:prstGeom>
          <a:solidFill>
            <a:srgbClr val="131D31"/>
          </a:solidFill>
          <a:ln w="12700">
            <a:solidFill>
              <a:srgbClr val="26375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534656" y="2514600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db: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7534656" y="2770632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9AA8B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name you chose. It becomes the hostname other containers use.</a:t>
            </a:r>
            <a:endParaRPr lang="en-US" sz="1100" dirty="0"/>
          </a:p>
        </p:txBody>
      </p:sp>
      <p:sp>
        <p:nvSpPr>
          <p:cNvPr id="13" name="panel_303"/>
          <p:cNvSpPr/>
          <p:nvPr/>
        </p:nvSpPr>
        <p:spPr>
          <a:xfrm>
            <a:off x="7342632" y="3273552"/>
            <a:ext cx="4297680" cy="749808"/>
          </a:xfrm>
          <a:prstGeom prst="roundRect">
            <a:avLst>
              <a:gd name="adj" fmla="val 14634"/>
            </a:avLst>
          </a:prstGeom>
          <a:solidFill>
            <a:srgbClr val="131D31"/>
          </a:solidFill>
          <a:ln w="12700">
            <a:solidFill>
              <a:srgbClr val="26375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534656" y="3355848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9B5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image: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7534656" y="3611880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9AA8B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Pull this published image. Same as docker run postgres:16.</a:t>
            </a:r>
            <a:endParaRPr lang="en-US" sz="1100" dirty="0"/>
          </a:p>
        </p:txBody>
      </p:sp>
      <p:sp>
        <p:nvSpPr>
          <p:cNvPr id="16" name="panel_304"/>
          <p:cNvSpPr/>
          <p:nvPr/>
        </p:nvSpPr>
        <p:spPr>
          <a:xfrm>
            <a:off x="7342632" y="4114800"/>
            <a:ext cx="4297680" cy="749808"/>
          </a:xfrm>
          <a:prstGeom prst="roundRect">
            <a:avLst>
              <a:gd name="adj" fmla="val 14634"/>
            </a:avLst>
          </a:prstGeom>
          <a:solidFill>
            <a:srgbClr val="131D31"/>
          </a:solidFill>
          <a:ln w="12700">
            <a:solidFill>
              <a:srgbClr val="26375A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534656" y="4197096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8C4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volumes: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7534656" y="4453128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9AA8B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named volume, so the data survives docker compose down.</a:t>
            </a:r>
            <a:endParaRPr lang="en-US" sz="1100" dirty="0"/>
          </a:p>
        </p:txBody>
      </p:sp>
      <p:sp>
        <p:nvSpPr>
          <p:cNvPr id="19" name="panel_305"/>
          <p:cNvSpPr/>
          <p:nvPr/>
        </p:nvSpPr>
        <p:spPr>
          <a:xfrm>
            <a:off x="7342632" y="4956048"/>
            <a:ext cx="4297680" cy="749808"/>
          </a:xfrm>
          <a:prstGeom prst="roundRect">
            <a:avLst>
              <a:gd name="adj" fmla="val 14634"/>
            </a:avLst>
          </a:prstGeom>
          <a:solidFill>
            <a:srgbClr val="131D31"/>
          </a:solidFill>
          <a:ln w="12700">
            <a:solidFill>
              <a:srgbClr val="26375A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534656" y="5038344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7AA1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healthcheck: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7534656" y="5294376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9AA8B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How Compose knows the database is actually ready, not just started.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548640" y="5852160"/>
            <a:ext cx="6583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9AA8B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YAML is just an indented list. Two spaces per level, a colon after every key, and never a tab character.</a:t>
            </a:r>
            <a:endParaRPr lang="en-US" sz="125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FF99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 FILE, PART 2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1F5F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docker-compose.yml — your ETL service</a:t>
            </a:r>
            <a:endParaRPr lang="en-US" sz="3200" dirty="0"/>
          </a:p>
        </p:txBody>
      </p:sp>
      <p:sp>
        <p:nvSpPr>
          <p:cNvPr id="4" name="panel_306"/>
          <p:cNvSpPr/>
          <p:nvPr/>
        </p:nvSpPr>
        <p:spPr>
          <a:xfrm>
            <a:off x="548640" y="1591056"/>
            <a:ext cx="6583680" cy="4114800"/>
          </a:xfrm>
          <a:prstGeom prst="roundRect">
            <a:avLst>
              <a:gd name="adj" fmla="val 2667"/>
            </a:avLst>
          </a:prstGeom>
          <a:solidFill>
            <a:srgbClr val="0D1526"/>
          </a:solidFill>
          <a:ln w="12700">
            <a:solidFill>
              <a:srgbClr val="26375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86384" y="1755648"/>
            <a:ext cx="61081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FF99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… continued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786384" y="2103120"/>
            <a:ext cx="6108192" cy="3419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etl: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build: .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environment: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7AA1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DB_HOST: db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DB_PASSWORD: secret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volumes: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- ./data:/app/data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depends_on: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db: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condition: service_healthy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FF99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volumes: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pgdata:</a:t>
            </a:r>
            <a:endParaRPr lang="en-US" sz="1200" dirty="0"/>
          </a:p>
        </p:txBody>
      </p:sp>
      <p:sp>
        <p:nvSpPr>
          <p:cNvPr id="7" name="panel_307"/>
          <p:cNvSpPr/>
          <p:nvPr/>
        </p:nvSpPr>
        <p:spPr>
          <a:xfrm>
            <a:off x="7342632" y="1591056"/>
            <a:ext cx="4297680" cy="749808"/>
          </a:xfrm>
          <a:prstGeom prst="roundRect">
            <a:avLst>
              <a:gd name="adj" fmla="val 14634"/>
            </a:avLst>
          </a:prstGeom>
          <a:solidFill>
            <a:srgbClr val="131D31"/>
          </a:solidFill>
          <a:ln w="12700">
            <a:solidFill>
              <a:srgbClr val="26375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534656" y="1673352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build: .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7534656" y="1929384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9AA8B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Build from the Dockerfile in this folder instead of pulling an image.</a:t>
            </a:r>
            <a:endParaRPr lang="en-US" sz="1100" dirty="0"/>
          </a:p>
        </p:txBody>
      </p:sp>
      <p:sp>
        <p:nvSpPr>
          <p:cNvPr id="10" name="panel_308"/>
          <p:cNvSpPr/>
          <p:nvPr/>
        </p:nvSpPr>
        <p:spPr>
          <a:xfrm>
            <a:off x="7342632" y="2432304"/>
            <a:ext cx="4297680" cy="749808"/>
          </a:xfrm>
          <a:prstGeom prst="roundRect">
            <a:avLst>
              <a:gd name="adj" fmla="val 14634"/>
            </a:avLst>
          </a:prstGeom>
          <a:solidFill>
            <a:srgbClr val="131D31"/>
          </a:solidFill>
          <a:ln w="12700">
            <a:solidFill>
              <a:srgbClr val="26375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534656" y="2514600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7AA1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DB_HOST: db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7534656" y="2770632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9AA8B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service name is the hostname. Compose creates the network for you.</a:t>
            </a:r>
            <a:endParaRPr lang="en-US" sz="1100" dirty="0"/>
          </a:p>
        </p:txBody>
      </p:sp>
      <p:sp>
        <p:nvSpPr>
          <p:cNvPr id="13" name="panel_309"/>
          <p:cNvSpPr/>
          <p:nvPr/>
        </p:nvSpPr>
        <p:spPr>
          <a:xfrm>
            <a:off x="7342632" y="3273552"/>
            <a:ext cx="4297680" cy="749808"/>
          </a:xfrm>
          <a:prstGeom prst="roundRect">
            <a:avLst>
              <a:gd name="adj" fmla="val 14634"/>
            </a:avLst>
          </a:prstGeom>
          <a:solidFill>
            <a:srgbClr val="131D31"/>
          </a:solidFill>
          <a:ln w="12700">
            <a:solidFill>
              <a:srgbClr val="26375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534656" y="3355848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8C4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./data:/app/data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7534656" y="3611880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9AA8B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bind mount. Drop a new CSV in and the container sees it immediately.</a:t>
            </a:r>
            <a:endParaRPr lang="en-US" sz="1100" dirty="0"/>
          </a:p>
        </p:txBody>
      </p:sp>
      <p:sp>
        <p:nvSpPr>
          <p:cNvPr id="16" name="panel_310"/>
          <p:cNvSpPr/>
          <p:nvPr/>
        </p:nvSpPr>
        <p:spPr>
          <a:xfrm>
            <a:off x="7342632" y="4114800"/>
            <a:ext cx="4297680" cy="749808"/>
          </a:xfrm>
          <a:prstGeom prst="roundRect">
            <a:avLst>
              <a:gd name="adj" fmla="val 14634"/>
            </a:avLst>
          </a:prstGeom>
          <a:solidFill>
            <a:srgbClr val="131D31"/>
          </a:solidFill>
          <a:ln w="12700">
            <a:solidFill>
              <a:srgbClr val="26375A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534656" y="4197096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9B5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depends_on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7534656" y="4453128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9AA8B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Start db first, and wait until its healthcheck passes before starting etl.</a:t>
            </a:r>
            <a:endParaRPr lang="en-US" sz="1100" dirty="0"/>
          </a:p>
        </p:txBody>
      </p:sp>
      <p:sp>
        <p:nvSpPr>
          <p:cNvPr id="19" name="panel_311"/>
          <p:cNvSpPr/>
          <p:nvPr/>
        </p:nvSpPr>
        <p:spPr>
          <a:xfrm>
            <a:off x="7342632" y="4956048"/>
            <a:ext cx="4297680" cy="749808"/>
          </a:xfrm>
          <a:prstGeom prst="roundRect">
            <a:avLst>
              <a:gd name="adj" fmla="val 14634"/>
            </a:avLst>
          </a:prstGeom>
          <a:solidFill>
            <a:srgbClr val="131D31"/>
          </a:solidFill>
          <a:ln w="12700">
            <a:solidFill>
              <a:srgbClr val="26375A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534656" y="5038344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99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volumes: pgdata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7534656" y="5294376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9AA8B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 named volume used above has to be declared once at the bottom.</a:t>
            </a:r>
            <a:endParaRPr lang="en-US" sz="1100" dirty="0"/>
          </a:p>
        </p:txBody>
      </p:sp>
      <p:sp>
        <p:nvSpPr>
          <p:cNvPr id="22" name="panel_312"/>
          <p:cNvSpPr/>
          <p:nvPr/>
        </p:nvSpPr>
        <p:spPr>
          <a:xfrm>
            <a:off x="548640" y="5797296"/>
            <a:ext cx="6583680" cy="457200"/>
          </a:xfrm>
          <a:prstGeom prst="roundRect">
            <a:avLst>
              <a:gd name="adj" fmla="val 24000"/>
            </a:avLst>
          </a:prstGeom>
          <a:solidFill>
            <a:srgbClr val="1A2741"/>
          </a:solidFill>
          <a:ln w="12700">
            <a:solidFill>
              <a:srgbClr val="7AA116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859536" y="5870448"/>
            <a:ext cx="59618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F1F5F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Twenty-six lines replace all seven commands from two slides ago.</a:t>
            </a:r>
            <a:endParaRPr lang="en-US" sz="13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FF99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RUNNING IT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1F5F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Five Compose commands</a:t>
            </a:r>
            <a:endParaRPr lang="en-US" sz="3200" dirty="0"/>
          </a:p>
        </p:txBody>
      </p:sp>
      <p:sp>
        <p:nvSpPr>
          <p:cNvPr id="4" name="panel_313"/>
          <p:cNvSpPr/>
          <p:nvPr/>
        </p:nvSpPr>
        <p:spPr>
          <a:xfrm>
            <a:off x="548640" y="1627632"/>
            <a:ext cx="6492240" cy="2834640"/>
          </a:xfrm>
          <a:prstGeom prst="roundRect">
            <a:avLst>
              <a:gd name="adj" fmla="val 3871"/>
            </a:avLst>
          </a:prstGeom>
          <a:solidFill>
            <a:srgbClr val="0D1526"/>
          </a:solidFill>
          <a:ln w="12700">
            <a:solidFill>
              <a:srgbClr val="26375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86384" y="1792224"/>
            <a:ext cx="60167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FF99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FROM THE FOLDER WITH THE YAML FILE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786384" y="2139696"/>
            <a:ext cx="6016752" cy="2139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7AA1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compose up -d        # start everything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compose ps           # what is running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compose logs -f etl  # follow one service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compose exec db psql -U postgres sales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FF99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compose down         # stop and remove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5B6B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compose up --build   # rebuild after a code change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F254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compose down -v      # also delete the volumes</a:t>
            </a:r>
            <a:endParaRPr lang="en-US" sz="1200" dirty="0"/>
          </a:p>
        </p:txBody>
      </p:sp>
      <p:sp>
        <p:nvSpPr>
          <p:cNvPr id="7" name="panel_314"/>
          <p:cNvSpPr/>
          <p:nvPr/>
        </p:nvSpPr>
        <p:spPr>
          <a:xfrm>
            <a:off x="7251192" y="1627632"/>
            <a:ext cx="4389120" cy="1005840"/>
          </a:xfrm>
          <a:prstGeom prst="roundRect">
            <a:avLst>
              <a:gd name="adj" fmla="val 10909"/>
            </a:avLst>
          </a:prstGeom>
          <a:solidFill>
            <a:srgbClr val="131D31"/>
          </a:solidFill>
          <a:ln w="12700">
            <a:solidFill>
              <a:srgbClr val="26375A"/>
            </a:solidFill>
            <a:prstDash val="solid"/>
          </a:ln>
        </p:spPr>
      </p:sp>
      <p:sp>
        <p:nvSpPr>
          <p:cNvPr id="8" name="badge_315"/>
          <p:cNvSpPr/>
          <p:nvPr/>
        </p:nvSpPr>
        <p:spPr>
          <a:xfrm>
            <a:off x="7406640" y="1783080"/>
            <a:ext cx="420624" cy="420624"/>
          </a:xfrm>
          <a:prstGeom prst="ellipse">
            <a:avLst/>
          </a:prstGeom>
          <a:solidFill>
            <a:srgbClr val="F2545B">
              <a:alpha val="18000"/>
            </a:srgbClr>
          </a:solidFill>
          <a:ln w="15875">
            <a:solidFill>
              <a:srgbClr val="F2545B"/>
            </a:solidFill>
            <a:prstDash val="solid"/>
          </a:ln>
        </p:spPr>
      </p:sp>
      <p:pic>
        <p:nvPicPr>
          <p:cNvPr id="9" name="icon_316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20208" y="1896648"/>
            <a:ext cx="193487" cy="193487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8028432" y="1764792"/>
            <a:ext cx="3456432" cy="2325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350" b="1" dirty="0">
                <a:solidFill>
                  <a:srgbClr val="F1F5F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down -v deletes your data</a:t>
            </a:r>
            <a:endParaRPr lang="en-US" sz="1350" dirty="0"/>
          </a:p>
        </p:txBody>
      </p:sp>
      <p:sp>
        <p:nvSpPr>
          <p:cNvPr id="11" name="Text 8"/>
          <p:cNvSpPr txBox="1"/>
          <p:nvPr/>
        </p:nvSpPr>
        <p:spPr>
          <a:xfrm>
            <a:off x="8028432" y="2043101"/>
            <a:ext cx="3456432" cy="4273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9AA8B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-v removes named volumes too. Your database is gone. Plain down keeps it.</a:t>
            </a:r>
            <a:endParaRPr lang="en-US" sz="1100" dirty="0"/>
          </a:p>
        </p:txBody>
      </p:sp>
      <p:sp>
        <p:nvSpPr>
          <p:cNvPr id="12" name="panel_317"/>
          <p:cNvSpPr/>
          <p:nvPr/>
        </p:nvSpPr>
        <p:spPr>
          <a:xfrm>
            <a:off x="7251192" y="2688336"/>
            <a:ext cx="4389120" cy="1005840"/>
          </a:xfrm>
          <a:prstGeom prst="roundRect">
            <a:avLst>
              <a:gd name="adj" fmla="val 10909"/>
            </a:avLst>
          </a:prstGeom>
          <a:solidFill>
            <a:srgbClr val="131D31"/>
          </a:solidFill>
          <a:ln w="12700">
            <a:solidFill>
              <a:srgbClr val="26375A"/>
            </a:solidFill>
            <a:prstDash val="solid"/>
          </a:ln>
        </p:spPr>
      </p:sp>
      <p:sp>
        <p:nvSpPr>
          <p:cNvPr id="13" name="badge_318"/>
          <p:cNvSpPr/>
          <p:nvPr/>
        </p:nvSpPr>
        <p:spPr>
          <a:xfrm>
            <a:off x="7406640" y="2843784"/>
            <a:ext cx="420624" cy="420624"/>
          </a:xfrm>
          <a:prstGeom prst="ellipse">
            <a:avLst/>
          </a:prstGeom>
          <a:solidFill>
            <a:srgbClr val="FF9900">
              <a:alpha val="18000"/>
            </a:srgbClr>
          </a:solidFill>
          <a:ln w="15875">
            <a:solidFill>
              <a:srgbClr val="FF9900"/>
            </a:solidFill>
            <a:prstDash val="solid"/>
          </a:ln>
        </p:spPr>
      </p:sp>
      <p:pic>
        <p:nvPicPr>
          <p:cNvPr id="14" name="icon_319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20208" y="2957352"/>
            <a:ext cx="193487" cy="193487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8028432" y="2825496"/>
            <a:ext cx="3456432" cy="2325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350" b="1" dirty="0">
                <a:solidFill>
                  <a:srgbClr val="F1F5F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Compose does not rebuild on its own</a:t>
            </a:r>
            <a:endParaRPr lang="en-US" sz="1350" dirty="0"/>
          </a:p>
        </p:txBody>
      </p:sp>
      <p:sp>
        <p:nvSpPr>
          <p:cNvPr id="16" name="Text 12"/>
          <p:cNvSpPr txBox="1"/>
          <p:nvPr/>
        </p:nvSpPr>
        <p:spPr>
          <a:xfrm>
            <a:off x="8028432" y="3103805"/>
            <a:ext cx="3456432" cy="4273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9AA8B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Changed your Python? Use --build or the old image keeps running.</a:t>
            </a:r>
            <a:endParaRPr lang="en-US" sz="1100" dirty="0"/>
          </a:p>
        </p:txBody>
      </p:sp>
      <p:sp>
        <p:nvSpPr>
          <p:cNvPr id="17" name="panel_320"/>
          <p:cNvSpPr/>
          <p:nvPr/>
        </p:nvSpPr>
        <p:spPr>
          <a:xfrm>
            <a:off x="7251192" y="3749040"/>
            <a:ext cx="4389120" cy="1005840"/>
          </a:xfrm>
          <a:prstGeom prst="roundRect">
            <a:avLst>
              <a:gd name="adj" fmla="val 10909"/>
            </a:avLst>
          </a:prstGeom>
          <a:solidFill>
            <a:srgbClr val="131D31"/>
          </a:solidFill>
          <a:ln w="12700">
            <a:solidFill>
              <a:srgbClr val="26375A"/>
            </a:solidFill>
            <a:prstDash val="solid"/>
          </a:ln>
        </p:spPr>
      </p:sp>
      <p:sp>
        <p:nvSpPr>
          <p:cNvPr id="18" name="badge_321"/>
          <p:cNvSpPr/>
          <p:nvPr/>
        </p:nvSpPr>
        <p:spPr>
          <a:xfrm>
            <a:off x="7406640" y="3904488"/>
            <a:ext cx="420624" cy="420624"/>
          </a:xfrm>
          <a:prstGeom prst="ellipse">
            <a:avLst/>
          </a:prstGeom>
          <a:solidFill>
            <a:srgbClr val="7AA116">
              <a:alpha val="18000"/>
            </a:srgbClr>
          </a:solidFill>
          <a:ln w="15875">
            <a:solidFill>
              <a:srgbClr val="7AA116"/>
            </a:solidFill>
            <a:prstDash val="solid"/>
          </a:ln>
        </p:spPr>
      </p:sp>
      <p:pic>
        <p:nvPicPr>
          <p:cNvPr id="19" name="icon_32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20208" y="4018056"/>
            <a:ext cx="193487" cy="193487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8028432" y="3886200"/>
            <a:ext cx="3456432" cy="2325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350" b="1" dirty="0">
                <a:solidFill>
                  <a:srgbClr val="F1F5F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Service name, not container name</a:t>
            </a:r>
            <a:endParaRPr lang="en-US" sz="1350" dirty="0"/>
          </a:p>
        </p:txBody>
      </p:sp>
      <p:sp>
        <p:nvSpPr>
          <p:cNvPr id="21" name="Text 16"/>
          <p:cNvSpPr txBox="1"/>
          <p:nvPr/>
        </p:nvSpPr>
        <p:spPr>
          <a:xfrm>
            <a:off x="8028432" y="4164509"/>
            <a:ext cx="3456432" cy="4273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9AA8B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docker compose logs etl, even though the container is called project-etl-1.</a:t>
            </a:r>
            <a:endParaRPr lang="en-US" sz="1100" dirty="0"/>
          </a:p>
        </p:txBody>
      </p:sp>
      <p:sp>
        <p:nvSpPr>
          <p:cNvPr id="22" name="panel_323"/>
          <p:cNvSpPr/>
          <p:nvPr/>
        </p:nvSpPr>
        <p:spPr>
          <a:xfrm>
            <a:off x="548640" y="4828032"/>
            <a:ext cx="11091672" cy="1444752"/>
          </a:xfrm>
          <a:prstGeom prst="roundRect">
            <a:avLst>
              <a:gd name="adj" fmla="val 7595"/>
            </a:avLst>
          </a:prstGeom>
          <a:solidFill>
            <a:srgbClr val="1A2741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23" name="Text 18"/>
          <p:cNvSpPr txBox="1"/>
          <p:nvPr/>
        </p:nvSpPr>
        <p:spPr>
          <a:xfrm>
            <a:off x="868680" y="4992624"/>
            <a:ext cx="10424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2DD4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LAB CHECKPOINT 3  —  THE WHOLE POINT OF TODAY</a:t>
            </a:r>
            <a:endParaRPr lang="en-US" sz="1100" dirty="0"/>
          </a:p>
        </p:txBody>
      </p:sp>
      <p:sp>
        <p:nvSpPr>
          <p:cNvPr id="24" name="Text 19"/>
          <p:cNvSpPr txBox="1"/>
          <p:nvPr/>
        </p:nvSpPr>
        <p:spPr>
          <a:xfrm>
            <a:off x="868680" y="5321808"/>
            <a:ext cx="1042416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15000"/>
              </a:lnSpc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Write docker-compose.yml for your ETL plus Postgres, then run docker compose up --build</a:t>
            </a:r>
            <a:endParaRPr lang="en-US" sz="1300" dirty="0"/>
          </a:p>
          <a:p>
            <a:pPr marL="203200" indent="-203200">
              <a:lnSpc>
                <a:spcPct val="115000"/>
              </a:lnSpc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Watch the ETL wait for the database, then load the CSV and print the summary</a:t>
            </a:r>
            <a:endParaRPr lang="en-US" sz="1300" dirty="0"/>
          </a:p>
          <a:p>
            <a:pPr marL="203200" indent="-203200">
              <a:lnSpc>
                <a:spcPct val="115000"/>
              </a:lnSpc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Run docker compose down, then up again — your rows are still there, because of the volume</a:t>
            </a:r>
            <a:endParaRPr lang="en-US" sz="1300" dirty="0"/>
          </a:p>
          <a:p>
            <a:pPr marL="203200" indent="-203200">
              <a:lnSpc>
                <a:spcPct val="115000"/>
              </a:lnSpc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Push the whole folder to GitHub and have your neighbour clone it and run one command</a:t>
            </a:r>
            <a:endParaRPr lang="en-US" sz="13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FF99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LEARN FROM OURS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1F5F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Ten mistakes, and what to do instead</a:t>
            </a:r>
            <a:endParaRPr lang="en-US" sz="3200" dirty="0"/>
          </a:p>
        </p:txBody>
      </p:sp>
      <p:sp>
        <p:nvSpPr>
          <p:cNvPr id="4" name="panel_324"/>
          <p:cNvSpPr/>
          <p:nvPr/>
        </p:nvSpPr>
        <p:spPr>
          <a:xfrm>
            <a:off x="548640" y="1609344"/>
            <a:ext cx="5394960" cy="822960"/>
          </a:xfrm>
          <a:prstGeom prst="roundRect">
            <a:avLst>
              <a:gd name="adj" fmla="val 13333"/>
            </a:avLst>
          </a:prstGeom>
          <a:solidFill>
            <a:srgbClr val="1A2741"/>
          </a:solidFill>
          <a:ln w="12700">
            <a:solidFill>
              <a:srgbClr val="26375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49808" y="1709928"/>
            <a:ext cx="49926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2545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Using :latest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749808" y="2011680"/>
            <a:ext cx="49926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Pin the version: python:3.11-slim</a:t>
            </a:r>
            <a:endParaRPr lang="en-US" sz="1150" dirty="0"/>
          </a:p>
        </p:txBody>
      </p:sp>
      <p:sp>
        <p:nvSpPr>
          <p:cNvPr id="7" name="panel_325"/>
          <p:cNvSpPr/>
          <p:nvPr/>
        </p:nvSpPr>
        <p:spPr>
          <a:xfrm>
            <a:off x="6245352" y="1609344"/>
            <a:ext cx="5394960" cy="822960"/>
          </a:xfrm>
          <a:prstGeom prst="roundRect">
            <a:avLst>
              <a:gd name="adj" fmla="val 13333"/>
            </a:avLst>
          </a:prstGeom>
          <a:solidFill>
            <a:srgbClr val="1A2741"/>
          </a:solidFill>
          <a:ln w="12700">
            <a:solidFill>
              <a:srgbClr val="26375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46520" y="1709928"/>
            <a:ext cx="49926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2545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COPY . . before pip install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6446520" y="2011680"/>
            <a:ext cx="49926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Copy requirements.txt first, install, then copy the code</a:t>
            </a:r>
            <a:endParaRPr lang="en-US" sz="1150" dirty="0"/>
          </a:p>
        </p:txBody>
      </p:sp>
      <p:sp>
        <p:nvSpPr>
          <p:cNvPr id="10" name="panel_326"/>
          <p:cNvSpPr/>
          <p:nvPr/>
        </p:nvSpPr>
        <p:spPr>
          <a:xfrm>
            <a:off x="548640" y="2523744"/>
            <a:ext cx="5394960" cy="822960"/>
          </a:xfrm>
          <a:prstGeom prst="roundRect">
            <a:avLst>
              <a:gd name="adj" fmla="val 13333"/>
            </a:avLst>
          </a:prstGeom>
          <a:solidFill>
            <a:srgbClr val="131D31"/>
          </a:solidFill>
          <a:ln w="12700">
            <a:solidFill>
              <a:srgbClr val="26375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49808" y="2624328"/>
            <a:ext cx="49926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2545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host="localhost" between containers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749808" y="2926080"/>
            <a:ext cx="49926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 the service name: host="db"</a:t>
            </a:r>
            <a:endParaRPr lang="en-US" sz="1150" dirty="0"/>
          </a:p>
        </p:txBody>
      </p:sp>
      <p:sp>
        <p:nvSpPr>
          <p:cNvPr id="13" name="panel_327"/>
          <p:cNvSpPr/>
          <p:nvPr/>
        </p:nvSpPr>
        <p:spPr>
          <a:xfrm>
            <a:off x="6245352" y="2523744"/>
            <a:ext cx="5394960" cy="822960"/>
          </a:xfrm>
          <a:prstGeom prst="roundRect">
            <a:avLst>
              <a:gd name="adj" fmla="val 13333"/>
            </a:avLst>
          </a:prstGeom>
          <a:solidFill>
            <a:srgbClr val="131D31"/>
          </a:solidFill>
          <a:ln w="12700">
            <a:solidFill>
              <a:srgbClr val="26375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446520" y="2624328"/>
            <a:ext cx="49926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2545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Secrets written into the Dockerfile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6446520" y="2926080"/>
            <a:ext cx="49926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Pass them with environment variables at run time</a:t>
            </a:r>
            <a:endParaRPr lang="en-US" sz="1150" dirty="0"/>
          </a:p>
        </p:txBody>
      </p:sp>
      <p:sp>
        <p:nvSpPr>
          <p:cNvPr id="16" name="panel_328"/>
          <p:cNvSpPr/>
          <p:nvPr/>
        </p:nvSpPr>
        <p:spPr>
          <a:xfrm>
            <a:off x="548640" y="3438144"/>
            <a:ext cx="5394960" cy="822960"/>
          </a:xfrm>
          <a:prstGeom prst="roundRect">
            <a:avLst>
              <a:gd name="adj" fmla="val 13333"/>
            </a:avLst>
          </a:prstGeom>
          <a:solidFill>
            <a:srgbClr val="1A2741"/>
          </a:solidFill>
          <a:ln w="12700">
            <a:solidFill>
              <a:srgbClr val="26375A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49808" y="3538728"/>
            <a:ext cx="49926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2545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No .dockerignore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749808" y="3840480"/>
            <a:ext cx="49926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Add one on day one, with .git and .env in it</a:t>
            </a:r>
            <a:endParaRPr lang="en-US" sz="1150" dirty="0"/>
          </a:p>
        </p:txBody>
      </p:sp>
      <p:sp>
        <p:nvSpPr>
          <p:cNvPr id="19" name="panel_329"/>
          <p:cNvSpPr/>
          <p:nvPr/>
        </p:nvSpPr>
        <p:spPr>
          <a:xfrm>
            <a:off x="6245352" y="3438144"/>
            <a:ext cx="5394960" cy="822960"/>
          </a:xfrm>
          <a:prstGeom prst="roundRect">
            <a:avLst>
              <a:gd name="adj" fmla="val 13333"/>
            </a:avLst>
          </a:prstGeom>
          <a:solidFill>
            <a:srgbClr val="1A2741"/>
          </a:solidFill>
          <a:ln w="12700">
            <a:solidFill>
              <a:srgbClr val="26375A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446520" y="3538728"/>
            <a:ext cx="49926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2545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Database data with no volume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6446520" y="3840480"/>
            <a:ext cx="49926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Mount a named volume at the data directory</a:t>
            </a:r>
            <a:endParaRPr lang="en-US" sz="1150" dirty="0"/>
          </a:p>
        </p:txBody>
      </p:sp>
      <p:sp>
        <p:nvSpPr>
          <p:cNvPr id="22" name="panel_330"/>
          <p:cNvSpPr/>
          <p:nvPr/>
        </p:nvSpPr>
        <p:spPr>
          <a:xfrm>
            <a:off x="548640" y="4352544"/>
            <a:ext cx="5394960" cy="822960"/>
          </a:xfrm>
          <a:prstGeom prst="roundRect">
            <a:avLst>
              <a:gd name="adj" fmla="val 13333"/>
            </a:avLst>
          </a:prstGeom>
          <a:solidFill>
            <a:srgbClr val="131D31"/>
          </a:solidFill>
          <a:ln w="12700">
            <a:solidFill>
              <a:srgbClr val="26375A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49808" y="4453128"/>
            <a:ext cx="49926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2545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Editing code and not rebuilding</a:t>
            </a:r>
            <a:endParaRPr lang="en-US" sz="1250" dirty="0"/>
          </a:p>
        </p:txBody>
      </p:sp>
      <p:sp>
        <p:nvSpPr>
          <p:cNvPr id="24" name="Text 22"/>
          <p:cNvSpPr txBox="1"/>
          <p:nvPr/>
        </p:nvSpPr>
        <p:spPr>
          <a:xfrm>
            <a:off x="749808" y="4754880"/>
            <a:ext cx="49926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docker compose up --build, or use a bind mount</a:t>
            </a:r>
            <a:endParaRPr lang="en-US" sz="1150" dirty="0"/>
          </a:p>
        </p:txBody>
      </p:sp>
      <p:sp>
        <p:nvSpPr>
          <p:cNvPr id="25" name="panel_331"/>
          <p:cNvSpPr/>
          <p:nvPr/>
        </p:nvSpPr>
        <p:spPr>
          <a:xfrm>
            <a:off x="6245352" y="4352544"/>
            <a:ext cx="5394960" cy="822960"/>
          </a:xfrm>
          <a:prstGeom prst="roundRect">
            <a:avLst>
              <a:gd name="adj" fmla="val 13333"/>
            </a:avLst>
          </a:prstGeom>
          <a:solidFill>
            <a:srgbClr val="131D31"/>
          </a:solidFill>
          <a:ln w="12700">
            <a:solidFill>
              <a:srgbClr val="26375A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446520" y="4453128"/>
            <a:ext cx="49926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2545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docker compose down -v by habit</a:t>
            </a:r>
            <a:endParaRPr lang="en-US" sz="1250" dirty="0"/>
          </a:p>
        </p:txBody>
      </p:sp>
      <p:sp>
        <p:nvSpPr>
          <p:cNvPr id="27" name="Text 25"/>
          <p:cNvSpPr txBox="1"/>
          <p:nvPr/>
        </p:nvSpPr>
        <p:spPr>
          <a:xfrm>
            <a:off x="6446520" y="4754880"/>
            <a:ext cx="49926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That deletes your volumes. Plain down is what you want</a:t>
            </a:r>
            <a:endParaRPr lang="en-US" sz="1150" dirty="0"/>
          </a:p>
        </p:txBody>
      </p:sp>
      <p:sp>
        <p:nvSpPr>
          <p:cNvPr id="28" name="panel_332"/>
          <p:cNvSpPr/>
          <p:nvPr/>
        </p:nvSpPr>
        <p:spPr>
          <a:xfrm>
            <a:off x="548640" y="5266944"/>
            <a:ext cx="5394960" cy="822960"/>
          </a:xfrm>
          <a:prstGeom prst="roundRect">
            <a:avLst>
              <a:gd name="adj" fmla="val 13333"/>
            </a:avLst>
          </a:prstGeom>
          <a:solidFill>
            <a:srgbClr val="1A2741"/>
          </a:solidFill>
          <a:ln w="12700">
            <a:solidFill>
              <a:srgbClr val="26375A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749808" y="5367528"/>
            <a:ext cx="49926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2545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Never cleaning up</a:t>
            </a:r>
            <a:endParaRPr lang="en-US" sz="1250" dirty="0"/>
          </a:p>
        </p:txBody>
      </p:sp>
      <p:sp>
        <p:nvSpPr>
          <p:cNvPr id="30" name="Text 28"/>
          <p:cNvSpPr txBox="1"/>
          <p:nvPr/>
        </p:nvSpPr>
        <p:spPr>
          <a:xfrm>
            <a:off x="749808" y="5669280"/>
            <a:ext cx="49926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docker system df once a week, prune when it grows</a:t>
            </a:r>
            <a:endParaRPr lang="en-US" sz="1150" dirty="0"/>
          </a:p>
        </p:txBody>
      </p:sp>
      <p:sp>
        <p:nvSpPr>
          <p:cNvPr id="31" name="panel_333"/>
          <p:cNvSpPr/>
          <p:nvPr/>
        </p:nvSpPr>
        <p:spPr>
          <a:xfrm>
            <a:off x="6245352" y="5266944"/>
            <a:ext cx="5394960" cy="822960"/>
          </a:xfrm>
          <a:prstGeom prst="roundRect">
            <a:avLst>
              <a:gd name="adj" fmla="val 13333"/>
            </a:avLst>
          </a:prstGeom>
          <a:solidFill>
            <a:srgbClr val="1A2741"/>
          </a:solidFill>
          <a:ln w="12700">
            <a:solidFill>
              <a:srgbClr val="26375A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6446520" y="5367528"/>
            <a:ext cx="49926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2545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Guessing instead of reading logs</a:t>
            </a:r>
            <a:endParaRPr lang="en-US" sz="1250" dirty="0"/>
          </a:p>
        </p:txBody>
      </p:sp>
      <p:sp>
        <p:nvSpPr>
          <p:cNvPr id="33" name="Text 31"/>
          <p:cNvSpPr txBox="1"/>
          <p:nvPr/>
        </p:nvSpPr>
        <p:spPr>
          <a:xfrm>
            <a:off x="6446520" y="5669280"/>
            <a:ext cx="49926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docker ps -a, then docker logs. Always in that order</a:t>
            </a:r>
            <a:endParaRPr lang="en-US" sz="1150" dirty="0"/>
          </a:p>
        </p:txBody>
      </p:sp>
      <p:sp>
        <p:nvSpPr>
          <p:cNvPr id="34" name="Text 32"/>
          <p:cNvSpPr txBox="1"/>
          <p:nvPr/>
        </p:nvSpPr>
        <p:spPr>
          <a:xfrm>
            <a:off x="548640" y="6272784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9AA8B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Nine of these ten will happen to you anyway. The point is that you will recognise them in ten seconds instead of two hours.</a:t>
            </a:r>
            <a:endParaRPr lang="en-US" sz="125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FF99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PRINT THIS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1F5F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The cheat sheet</a:t>
            </a:r>
            <a:endParaRPr lang="en-US" sz="3200" dirty="0"/>
          </a:p>
        </p:txBody>
      </p:sp>
      <p:sp>
        <p:nvSpPr>
          <p:cNvPr id="4" name="panel_334"/>
          <p:cNvSpPr/>
          <p:nvPr/>
        </p:nvSpPr>
        <p:spPr>
          <a:xfrm>
            <a:off x="548640" y="1627632"/>
            <a:ext cx="5394960" cy="2057400"/>
          </a:xfrm>
          <a:prstGeom prst="roundRect">
            <a:avLst>
              <a:gd name="adj" fmla="val 5333"/>
            </a:avLst>
          </a:prstGeom>
          <a:solidFill>
            <a:srgbClr val="0D1526"/>
          </a:solidFill>
          <a:ln w="12700">
            <a:solidFill>
              <a:srgbClr val="26375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86384" y="1792224"/>
            <a:ext cx="4919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FF99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IMAGES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786384" y="2139696"/>
            <a:ext cx="4919472" cy="1362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pull postgres:16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images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build -t name:tag .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rmi name:tag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history name:tag</a:t>
            </a:r>
            <a:endParaRPr lang="en-US" sz="1200" dirty="0"/>
          </a:p>
        </p:txBody>
      </p:sp>
      <p:sp>
        <p:nvSpPr>
          <p:cNvPr id="7" name="panel_335"/>
          <p:cNvSpPr/>
          <p:nvPr/>
        </p:nvSpPr>
        <p:spPr>
          <a:xfrm>
            <a:off x="6245352" y="1627632"/>
            <a:ext cx="5394960" cy="2057400"/>
          </a:xfrm>
          <a:prstGeom prst="roundRect">
            <a:avLst>
              <a:gd name="adj" fmla="val 5333"/>
            </a:avLst>
          </a:prstGeom>
          <a:solidFill>
            <a:srgbClr val="0D1526"/>
          </a:solidFill>
          <a:ln w="12700">
            <a:solidFill>
              <a:srgbClr val="26375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83096" y="1792224"/>
            <a:ext cx="4919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2DD4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CONTAINERS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6483096" y="2139696"/>
            <a:ext cx="4919472" cy="1362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run -d --name n img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ps        /  ps -a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stop n   /  start n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rm n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run --rm -it img bash</a:t>
            </a:r>
            <a:endParaRPr lang="en-US" sz="1200" dirty="0"/>
          </a:p>
        </p:txBody>
      </p:sp>
      <p:sp>
        <p:nvSpPr>
          <p:cNvPr id="10" name="panel_336"/>
          <p:cNvSpPr/>
          <p:nvPr/>
        </p:nvSpPr>
        <p:spPr>
          <a:xfrm>
            <a:off x="548640" y="3822192"/>
            <a:ext cx="5394960" cy="2057400"/>
          </a:xfrm>
          <a:prstGeom prst="roundRect">
            <a:avLst>
              <a:gd name="adj" fmla="val 5333"/>
            </a:avLst>
          </a:prstGeom>
          <a:solidFill>
            <a:srgbClr val="0D1526"/>
          </a:solidFill>
          <a:ln w="12700">
            <a:solidFill>
              <a:srgbClr val="26375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86384" y="3986784"/>
            <a:ext cx="4919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29B5E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LOOKING INSIDE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786384" y="4334256"/>
            <a:ext cx="4919472" cy="1362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logs -f n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exec -it n bash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inspect n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stats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port n</a:t>
            </a:r>
            <a:endParaRPr lang="en-US" sz="1200" dirty="0"/>
          </a:p>
        </p:txBody>
      </p:sp>
      <p:sp>
        <p:nvSpPr>
          <p:cNvPr id="13" name="panel_337"/>
          <p:cNvSpPr/>
          <p:nvPr/>
        </p:nvSpPr>
        <p:spPr>
          <a:xfrm>
            <a:off x="6245352" y="3822192"/>
            <a:ext cx="5394960" cy="2057400"/>
          </a:xfrm>
          <a:prstGeom prst="roundRect">
            <a:avLst>
              <a:gd name="adj" fmla="val 5333"/>
            </a:avLst>
          </a:prstGeom>
          <a:solidFill>
            <a:srgbClr val="0D1526"/>
          </a:solidFill>
          <a:ln w="12700">
            <a:solidFill>
              <a:srgbClr val="26375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483096" y="3986784"/>
            <a:ext cx="4919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8C4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COMPOSE &amp; CLEANUP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6483096" y="4334256"/>
            <a:ext cx="4919472" cy="1362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compose up -d --build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compose logs -f svc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compose down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system df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system prune</a:t>
            </a:r>
            <a:endParaRPr lang="en-US" sz="1200" dirty="0"/>
          </a:p>
        </p:txBody>
      </p:sp>
      <p:sp>
        <p:nvSpPr>
          <p:cNvPr id="16" name="panel_338"/>
          <p:cNvSpPr/>
          <p:nvPr/>
        </p:nvSpPr>
        <p:spPr>
          <a:xfrm>
            <a:off x="548640" y="5779008"/>
            <a:ext cx="11091672" cy="475488"/>
          </a:xfrm>
          <a:prstGeom prst="roundRect">
            <a:avLst>
              <a:gd name="adj" fmla="val 23077"/>
            </a:avLst>
          </a:prstGeom>
          <a:solidFill>
            <a:srgbClr val="1A2741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59536" y="5852160"/>
            <a:ext cx="10469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50" b="1" dirty="0">
                <a:solidFill>
                  <a:srgbClr val="F1F5F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Also in the repo as workshop/01-docker/CHEATSHEET.md, so you can copy and paste from it.</a:t>
            </a:r>
            <a:endParaRPr lang="en-US" sz="135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FF99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ALL OF IT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1F5F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Everything we covered, on one slide</a:t>
            </a:r>
            <a:endParaRPr lang="en-US" sz="3200" dirty="0"/>
          </a:p>
        </p:txBody>
      </p:sp>
      <p:sp>
        <p:nvSpPr>
          <p:cNvPr id="4" name="panel_339"/>
          <p:cNvSpPr/>
          <p:nvPr/>
        </p:nvSpPr>
        <p:spPr>
          <a:xfrm>
            <a:off x="548640" y="1645920"/>
            <a:ext cx="2578608" cy="4023360"/>
          </a:xfrm>
          <a:prstGeom prst="roundRect">
            <a:avLst>
              <a:gd name="adj" fmla="val 4255"/>
            </a:avLst>
          </a:prstGeom>
          <a:solidFill>
            <a:srgbClr val="131D31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68096" y="1865376"/>
            <a:ext cx="21396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FF99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IDEA</a:t>
            </a:r>
            <a:endParaRPr lang="en-US" sz="1150" dirty="0"/>
          </a:p>
        </p:txBody>
      </p:sp>
      <p:sp>
        <p:nvSpPr>
          <p:cNvPr id="6" name="Text 4"/>
          <p:cNvSpPr txBox="1"/>
          <p:nvPr/>
        </p:nvSpPr>
        <p:spPr>
          <a:xfrm>
            <a:off x="768096" y="2249424"/>
            <a:ext cx="2139696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9AA8B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code is fine, the machine is not</a:t>
            </a:r>
            <a:endParaRPr lang="en-US" sz="1300" dirty="0"/>
          </a:p>
          <a:p>
            <a:pPr marL="203200" indent="-2032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9AA8B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container is a locked room</a:t>
            </a:r>
            <a:endParaRPr lang="en-US" sz="1300" dirty="0"/>
          </a:p>
          <a:p>
            <a:pPr marL="203200" indent="-2032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9AA8B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It shares your real kernel</a:t>
            </a:r>
            <a:endParaRPr lang="en-US" sz="1300" dirty="0"/>
          </a:p>
          <a:p>
            <a:pPr marL="203200" indent="-2032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9AA8B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Same image, same result, anywhere</a:t>
            </a:r>
            <a:endParaRPr lang="en-US" sz="1300" dirty="0"/>
          </a:p>
          <a:p>
            <a:pPr marL="203200" indent="-2032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9AA8B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Lighter than a VM by 100x</a:t>
            </a:r>
            <a:endParaRPr lang="en-US" sz="1300" dirty="0"/>
          </a:p>
        </p:txBody>
      </p:sp>
      <p:sp>
        <p:nvSpPr>
          <p:cNvPr id="7" name="panel_340"/>
          <p:cNvSpPr/>
          <p:nvPr/>
        </p:nvSpPr>
        <p:spPr>
          <a:xfrm>
            <a:off x="3383280" y="1645920"/>
            <a:ext cx="2578608" cy="4023360"/>
          </a:xfrm>
          <a:prstGeom prst="roundRect">
            <a:avLst>
              <a:gd name="adj" fmla="val 4255"/>
            </a:avLst>
          </a:prstGeom>
          <a:solidFill>
            <a:srgbClr val="131D31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602736" y="1865376"/>
            <a:ext cx="21396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2DD4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USING IMAGES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3602736" y="2249424"/>
            <a:ext cx="2139696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9AA8B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Image is the recipe</a:t>
            </a:r>
            <a:endParaRPr lang="en-US" sz="1300" dirty="0"/>
          </a:p>
          <a:p>
            <a:pPr marL="203200" indent="-2032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9AA8B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Container is the cake</a:t>
            </a:r>
            <a:endParaRPr lang="en-US" sz="1300" dirty="0"/>
          </a:p>
          <a:p>
            <a:pPr marL="203200" indent="-2032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9AA8B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docker run / ps / logs / exec</a:t>
            </a:r>
            <a:endParaRPr lang="en-US" sz="1300" dirty="0"/>
          </a:p>
          <a:p>
            <a:pPr marL="203200" indent="-2032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9AA8B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Pin the tag, never :latest</a:t>
            </a:r>
            <a:endParaRPr lang="en-US" sz="1300" dirty="0"/>
          </a:p>
          <a:p>
            <a:pPr marL="203200" indent="-2032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9AA8B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Postgres in one command</a:t>
            </a:r>
            <a:endParaRPr lang="en-US" sz="1300" dirty="0"/>
          </a:p>
        </p:txBody>
      </p:sp>
      <p:sp>
        <p:nvSpPr>
          <p:cNvPr id="10" name="panel_341"/>
          <p:cNvSpPr/>
          <p:nvPr/>
        </p:nvSpPr>
        <p:spPr>
          <a:xfrm>
            <a:off x="6217920" y="1645920"/>
            <a:ext cx="2578608" cy="4023360"/>
          </a:xfrm>
          <a:prstGeom prst="roundRect">
            <a:avLst>
              <a:gd name="adj" fmla="val 4255"/>
            </a:avLst>
          </a:prstGeom>
          <a:solidFill>
            <a:srgbClr val="131D31"/>
          </a:solidFill>
          <a:ln w="12700">
            <a:solidFill>
              <a:srgbClr val="29B5E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37376" y="1865376"/>
            <a:ext cx="21396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29B5E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BUILDING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6437376" y="2249424"/>
            <a:ext cx="2139696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9AA8B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FROM WORKDIR COPY RUN CMD</a:t>
            </a:r>
            <a:endParaRPr lang="en-US" sz="1300" dirty="0"/>
          </a:p>
          <a:p>
            <a:pPr marL="203200" indent="-2032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9AA8B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docker build -t name .</a:t>
            </a:r>
            <a:endParaRPr lang="en-US" sz="1300" dirty="0"/>
          </a:p>
          <a:p>
            <a:pPr marL="203200" indent="-2032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9AA8B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Requirements first, code last</a:t>
            </a:r>
            <a:endParaRPr lang="en-US" sz="1300" dirty="0"/>
          </a:p>
          <a:p>
            <a:pPr marL="203200" indent="-2032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9AA8B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.dockerignore from day one</a:t>
            </a:r>
            <a:endParaRPr lang="en-US" sz="1300" dirty="0"/>
          </a:p>
          <a:p>
            <a:pPr marL="203200" indent="-2032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9AA8B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python:3.11-slim as default</a:t>
            </a:r>
            <a:endParaRPr lang="en-US" sz="1300" dirty="0"/>
          </a:p>
        </p:txBody>
      </p:sp>
      <p:sp>
        <p:nvSpPr>
          <p:cNvPr id="13" name="panel_342"/>
          <p:cNvSpPr/>
          <p:nvPr/>
        </p:nvSpPr>
        <p:spPr>
          <a:xfrm>
            <a:off x="9052560" y="1645920"/>
            <a:ext cx="2578608" cy="4023360"/>
          </a:xfrm>
          <a:prstGeom prst="roundRect">
            <a:avLst>
              <a:gd name="adj" fmla="val 4255"/>
            </a:avLst>
          </a:prstGeom>
          <a:solidFill>
            <a:srgbClr val="131D31"/>
          </a:solidFill>
          <a:ln w="12700">
            <a:solidFill>
              <a:srgbClr val="8C4FF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9272016" y="1865376"/>
            <a:ext cx="21396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8C4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WHOLE STACK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9272016" y="2249424"/>
            <a:ext cx="2139696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9AA8B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Volume for the database</a:t>
            </a:r>
            <a:endParaRPr lang="en-US" sz="1300" dirty="0"/>
          </a:p>
          <a:p>
            <a:pPr marL="203200" indent="-2032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9AA8B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Bind mount for your code</a:t>
            </a:r>
            <a:endParaRPr lang="en-US" sz="1300" dirty="0"/>
          </a:p>
          <a:p>
            <a:pPr marL="203200" indent="-2032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9AA8B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-p outside:inside</a:t>
            </a:r>
            <a:endParaRPr lang="en-US" sz="1300" dirty="0"/>
          </a:p>
          <a:p>
            <a:pPr marL="203200" indent="-2032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9AA8B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Service name is the hostname</a:t>
            </a:r>
            <a:endParaRPr lang="en-US" sz="1300" dirty="0"/>
          </a:p>
          <a:p>
            <a:pPr marL="203200" indent="-2032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9AA8B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docker compose up -d</a:t>
            </a:r>
            <a:endParaRPr lang="en-US" sz="1300" dirty="0"/>
          </a:p>
        </p:txBody>
      </p:sp>
      <p:sp>
        <p:nvSpPr>
          <p:cNvPr id="16" name="panel_343"/>
          <p:cNvSpPr/>
          <p:nvPr/>
        </p:nvSpPr>
        <p:spPr>
          <a:xfrm>
            <a:off x="548640" y="5779008"/>
            <a:ext cx="11091672" cy="502920"/>
          </a:xfrm>
          <a:prstGeom prst="roundRect">
            <a:avLst>
              <a:gd name="adj" fmla="val 21818"/>
            </a:avLst>
          </a:prstGeom>
          <a:solidFill>
            <a:srgbClr val="1A2741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59536" y="5852160"/>
            <a:ext cx="1046988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F1F5F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Column one gets you through the interview. Columns two to four get you through the job.</a:t>
            </a:r>
            <a:endParaRPr lang="en-US" sz="14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FF99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HOMEWORK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1F5F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Containerise something of your own</a:t>
            </a:r>
            <a:endParaRPr lang="en-US" sz="3200" dirty="0"/>
          </a:p>
        </p:txBody>
      </p:sp>
      <p:sp>
        <p:nvSpPr>
          <p:cNvPr id="4" name="panel_344"/>
          <p:cNvSpPr/>
          <p:nvPr/>
        </p:nvSpPr>
        <p:spPr>
          <a:xfrm>
            <a:off x="548640" y="1645920"/>
            <a:ext cx="6858000" cy="4114800"/>
          </a:xfrm>
          <a:prstGeom prst="roundRect">
            <a:avLst>
              <a:gd name="adj" fmla="val 2667"/>
            </a:avLst>
          </a:prstGeom>
          <a:solidFill>
            <a:srgbClr val="1A2741"/>
          </a:solidFill>
          <a:ln w="12700">
            <a:solidFill>
              <a:srgbClr val="29B5E8"/>
            </a:solidFill>
            <a:prstDash val="solid"/>
          </a:ln>
        </p:spPr>
      </p:sp>
      <p:sp>
        <p:nvSpPr>
          <p:cNvPr id="5" name="badge_345"/>
          <p:cNvSpPr/>
          <p:nvPr/>
        </p:nvSpPr>
        <p:spPr>
          <a:xfrm>
            <a:off x="841248" y="1920240"/>
            <a:ext cx="685800" cy="685800"/>
          </a:xfrm>
          <a:prstGeom prst="ellipse">
            <a:avLst/>
          </a:prstGeom>
          <a:solidFill>
            <a:srgbClr val="29B5E8">
              <a:alpha val="18000"/>
            </a:srgbClr>
          </a:solidFill>
          <a:ln w="15875">
            <a:solidFill>
              <a:srgbClr val="29B5E8"/>
            </a:solidFill>
            <a:prstDash val="solid"/>
          </a:ln>
        </p:spPr>
      </p:sp>
      <p:pic>
        <p:nvPicPr>
          <p:cNvPr id="6" name="icon_346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6414" y="2105406"/>
            <a:ext cx="315468" cy="315468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755648" y="2011680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b="1" dirty="0">
                <a:solidFill>
                  <a:srgbClr val="F1F5F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Due before the CI/CD class</a:t>
            </a:r>
            <a:endParaRPr lang="en-US" sz="2300" dirty="0"/>
          </a:p>
        </p:txBody>
      </p:sp>
      <p:sp>
        <p:nvSpPr>
          <p:cNvPr id="8" name="Text 5"/>
          <p:cNvSpPr txBox="1"/>
          <p:nvPr/>
        </p:nvSpPr>
        <p:spPr>
          <a:xfrm>
            <a:off x="841248" y="2788920"/>
            <a:ext cx="630936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Take any Python script you have written in this course</a:t>
            </a:r>
            <a:endParaRPr lang="en-US" sz="1400" dirty="0"/>
          </a:p>
          <a:p>
            <a:pPr marL="203200" indent="-2032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Write a Dockerfile for it, with a pinned base image</a:t>
            </a:r>
            <a:endParaRPr lang="en-US" sz="1400" dirty="0"/>
          </a:p>
          <a:p>
            <a:pPr marL="203200" indent="-2032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Add a .dockerignore</a:t>
            </a:r>
            <a:endParaRPr lang="en-US" sz="1400" dirty="0"/>
          </a:p>
          <a:p>
            <a:pPr marL="203200" indent="-2032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Add a docker-compose.yml with your script and a Postgres service</a:t>
            </a:r>
            <a:endParaRPr lang="en-US" sz="1400" dirty="0"/>
          </a:p>
          <a:p>
            <a:pPr marL="203200" indent="-2032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Make the script write at least one table into that database</a:t>
            </a:r>
            <a:endParaRPr lang="en-US" sz="1400" dirty="0"/>
          </a:p>
          <a:p>
            <a:pPr marL="203200" indent="-2032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Push it to GitHub with a README that says only: docker compose up</a:t>
            </a:r>
            <a:endParaRPr lang="en-US" sz="1400" dirty="0"/>
          </a:p>
          <a:p>
            <a:pPr marL="203200" indent="-2032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Ask a classmate to clone it and run that one command</a:t>
            </a:r>
            <a:endParaRPr lang="en-US" sz="1400" dirty="0"/>
          </a:p>
        </p:txBody>
      </p:sp>
      <p:sp>
        <p:nvSpPr>
          <p:cNvPr id="9" name="panel_347"/>
          <p:cNvSpPr/>
          <p:nvPr/>
        </p:nvSpPr>
        <p:spPr>
          <a:xfrm>
            <a:off x="7616952" y="1645920"/>
            <a:ext cx="4023360" cy="1325880"/>
          </a:xfrm>
          <a:prstGeom prst="roundRect">
            <a:avLst>
              <a:gd name="adj" fmla="val 8276"/>
            </a:avLst>
          </a:prstGeom>
          <a:solidFill>
            <a:srgbClr val="131D31"/>
          </a:solidFill>
          <a:ln w="12700">
            <a:solidFill>
              <a:srgbClr val="26375A"/>
            </a:solidFill>
            <a:prstDash val="solid"/>
          </a:ln>
        </p:spPr>
      </p:sp>
      <p:sp>
        <p:nvSpPr>
          <p:cNvPr id="10" name="badge_348"/>
          <p:cNvSpPr/>
          <p:nvPr/>
        </p:nvSpPr>
        <p:spPr>
          <a:xfrm>
            <a:off x="7818120" y="1847088"/>
            <a:ext cx="475488" cy="475488"/>
          </a:xfrm>
          <a:prstGeom prst="ellipse">
            <a:avLst/>
          </a:prstGeom>
          <a:solidFill>
            <a:srgbClr val="F2545B">
              <a:alpha val="18000"/>
            </a:srgbClr>
          </a:solidFill>
          <a:ln w="15875">
            <a:solidFill>
              <a:srgbClr val="F2545B"/>
            </a:solidFill>
            <a:prstDash val="solid"/>
          </a:ln>
        </p:spPr>
      </p:sp>
      <p:pic>
        <p:nvPicPr>
          <p:cNvPr id="11" name="icon_349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46502" y="1975470"/>
            <a:ext cx="218724" cy="218724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8494776" y="1828800"/>
            <a:ext cx="2944368" cy="258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500" b="1" dirty="0">
                <a:solidFill>
                  <a:srgbClr val="F1F5F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Break it on purpose</a:t>
            </a:r>
            <a:endParaRPr lang="en-US" sz="1500" dirty="0"/>
          </a:p>
        </p:txBody>
      </p:sp>
      <p:sp>
        <p:nvSpPr>
          <p:cNvPr id="13" name="Text 9"/>
          <p:cNvSpPr txBox="1"/>
          <p:nvPr/>
        </p:nvSpPr>
        <p:spPr>
          <a:xfrm>
            <a:off x="8494776" y="2132952"/>
            <a:ext cx="2944368" cy="6410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9AA8B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Delete the depends_on healthcheck and watch the connection refused error appear.</a:t>
            </a:r>
            <a:endParaRPr lang="en-US" sz="1100" dirty="0"/>
          </a:p>
        </p:txBody>
      </p:sp>
      <p:sp>
        <p:nvSpPr>
          <p:cNvPr id="14" name="panel_350"/>
          <p:cNvSpPr/>
          <p:nvPr/>
        </p:nvSpPr>
        <p:spPr>
          <a:xfrm>
            <a:off x="7616952" y="3063240"/>
            <a:ext cx="4023360" cy="1325880"/>
          </a:xfrm>
          <a:prstGeom prst="roundRect">
            <a:avLst>
              <a:gd name="adj" fmla="val 8276"/>
            </a:avLst>
          </a:prstGeom>
          <a:solidFill>
            <a:srgbClr val="131D31"/>
          </a:solidFill>
          <a:ln w="12700">
            <a:solidFill>
              <a:srgbClr val="26375A"/>
            </a:solidFill>
            <a:prstDash val="solid"/>
          </a:ln>
        </p:spPr>
      </p:sp>
      <p:sp>
        <p:nvSpPr>
          <p:cNvPr id="15" name="badge_351"/>
          <p:cNvSpPr/>
          <p:nvPr/>
        </p:nvSpPr>
        <p:spPr>
          <a:xfrm>
            <a:off x="7818120" y="3264408"/>
            <a:ext cx="475488" cy="475488"/>
          </a:xfrm>
          <a:prstGeom prst="ellipse">
            <a:avLst/>
          </a:prstGeom>
          <a:solidFill>
            <a:srgbClr val="8C4FFF">
              <a:alpha val="18000"/>
            </a:srgbClr>
          </a:solidFill>
          <a:ln w="15875">
            <a:solidFill>
              <a:srgbClr val="8C4FFF"/>
            </a:solidFill>
            <a:prstDash val="solid"/>
          </a:ln>
        </p:spPr>
      </p:sp>
      <p:pic>
        <p:nvPicPr>
          <p:cNvPr id="16" name="icon_35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46502" y="3392790"/>
            <a:ext cx="218724" cy="218724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8494776" y="3246120"/>
            <a:ext cx="2944368" cy="258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500" b="1" dirty="0">
                <a:solidFill>
                  <a:srgbClr val="F1F5F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Prove the volume works</a:t>
            </a:r>
            <a:endParaRPr lang="en-US" sz="1500" dirty="0"/>
          </a:p>
        </p:txBody>
      </p:sp>
      <p:sp>
        <p:nvSpPr>
          <p:cNvPr id="18" name="Text 13"/>
          <p:cNvSpPr txBox="1"/>
          <p:nvPr/>
        </p:nvSpPr>
        <p:spPr>
          <a:xfrm>
            <a:off x="8494776" y="3550272"/>
            <a:ext cx="2944368" cy="6410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9AA8B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down, up, and check your rows are still there. Then down -v and check they are not.</a:t>
            </a:r>
            <a:endParaRPr lang="en-US" sz="1100" dirty="0"/>
          </a:p>
        </p:txBody>
      </p:sp>
      <p:sp>
        <p:nvSpPr>
          <p:cNvPr id="19" name="panel_353"/>
          <p:cNvSpPr/>
          <p:nvPr/>
        </p:nvSpPr>
        <p:spPr>
          <a:xfrm>
            <a:off x="7616952" y="4480560"/>
            <a:ext cx="4023360" cy="1325880"/>
          </a:xfrm>
          <a:prstGeom prst="roundRect">
            <a:avLst>
              <a:gd name="adj" fmla="val 8276"/>
            </a:avLst>
          </a:prstGeom>
          <a:solidFill>
            <a:srgbClr val="131D31"/>
          </a:solidFill>
          <a:ln w="12700">
            <a:solidFill>
              <a:srgbClr val="26375A"/>
            </a:solidFill>
            <a:prstDash val="solid"/>
          </a:ln>
        </p:spPr>
      </p:sp>
      <p:sp>
        <p:nvSpPr>
          <p:cNvPr id="20" name="badge_354"/>
          <p:cNvSpPr/>
          <p:nvPr/>
        </p:nvSpPr>
        <p:spPr>
          <a:xfrm>
            <a:off x="7818120" y="4681728"/>
            <a:ext cx="475488" cy="475488"/>
          </a:xfrm>
          <a:prstGeom prst="ellipse">
            <a:avLst/>
          </a:prstGeom>
          <a:solidFill>
            <a:srgbClr val="7AA116">
              <a:alpha val="18000"/>
            </a:srgbClr>
          </a:solidFill>
          <a:ln w="15875">
            <a:solidFill>
              <a:srgbClr val="7AA116"/>
            </a:solidFill>
            <a:prstDash val="solid"/>
          </a:ln>
        </p:spPr>
      </p:sp>
      <p:pic>
        <p:nvPicPr>
          <p:cNvPr id="21" name="icon_355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46502" y="4810110"/>
            <a:ext cx="218724" cy="218724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8494776" y="4663440"/>
            <a:ext cx="2944368" cy="258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500" b="1" dirty="0">
                <a:solidFill>
                  <a:srgbClr val="F1F5F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Stretch goal</a:t>
            </a:r>
            <a:endParaRPr lang="en-US" sz="1500" dirty="0"/>
          </a:p>
        </p:txBody>
      </p:sp>
      <p:sp>
        <p:nvSpPr>
          <p:cNvPr id="23" name="Text 17"/>
          <p:cNvSpPr txBox="1"/>
          <p:nvPr/>
        </p:nvSpPr>
        <p:spPr>
          <a:xfrm>
            <a:off x="8494776" y="4967592"/>
            <a:ext cx="2944368" cy="485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9AA8B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Make the image smaller. Compare docker images before and after.</a:t>
            </a:r>
            <a:endParaRPr lang="en-US" sz="1250" dirty="0"/>
          </a:p>
        </p:txBody>
      </p:sp>
      <p:sp>
        <p:nvSpPr>
          <p:cNvPr id="24" name="Text 18"/>
          <p:cNvSpPr txBox="1"/>
          <p:nvPr/>
        </p:nvSpPr>
        <p:spPr>
          <a:xfrm>
            <a:off x="7616952" y="585216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9AA8B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classmate test is the grade. If they need a second instruction, it is not done.</a:t>
            </a:r>
            <a:endParaRPr lang="en-US" sz="125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FF99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KEEP GOING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1F5F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What to learn after today</a:t>
            </a:r>
            <a:endParaRPr lang="en-US" sz="3200" dirty="0"/>
          </a:p>
        </p:txBody>
      </p:sp>
      <p:sp>
        <p:nvSpPr>
          <p:cNvPr id="4" name="panel_356"/>
          <p:cNvSpPr/>
          <p:nvPr/>
        </p:nvSpPr>
        <p:spPr>
          <a:xfrm>
            <a:off x="548640" y="1645920"/>
            <a:ext cx="3511296" cy="1901952"/>
          </a:xfrm>
          <a:prstGeom prst="roundRect">
            <a:avLst>
              <a:gd name="adj" fmla="val 5769"/>
            </a:avLst>
          </a:prstGeom>
          <a:solidFill>
            <a:srgbClr val="131D31"/>
          </a:solidFill>
          <a:ln w="12700">
            <a:solidFill>
              <a:srgbClr val="26375A"/>
            </a:solidFill>
            <a:prstDash val="solid"/>
          </a:ln>
        </p:spPr>
      </p:sp>
      <p:sp>
        <p:nvSpPr>
          <p:cNvPr id="5" name="badge_357"/>
          <p:cNvSpPr/>
          <p:nvPr/>
        </p:nvSpPr>
        <p:spPr>
          <a:xfrm>
            <a:off x="749808" y="1847088"/>
            <a:ext cx="603504" cy="603504"/>
          </a:xfrm>
          <a:prstGeom prst="ellipse">
            <a:avLst/>
          </a:prstGeom>
          <a:solidFill>
            <a:srgbClr val="FF9900">
              <a:alpha val="18000"/>
            </a:srgbClr>
          </a:solidFill>
          <a:ln w="15875">
            <a:solidFill>
              <a:srgbClr val="FF9900"/>
            </a:solidFill>
            <a:prstDash val="solid"/>
          </a:ln>
        </p:spPr>
      </p:sp>
      <p:pic>
        <p:nvPicPr>
          <p:cNvPr id="6" name="icon_358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2754" y="2010034"/>
            <a:ext cx="277612" cy="27761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749808" y="2523744"/>
            <a:ext cx="3108960" cy="2928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700" b="1" dirty="0">
                <a:solidFill>
                  <a:srgbClr val="F1F5F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Tomorrow: CI/CD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749808" y="2853210"/>
            <a:ext cx="3108960" cy="485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9AA8B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 GitHub Actions job runs in a container. You are already halfway.</a:t>
            </a:r>
            <a:endParaRPr lang="en-US" sz="1250" dirty="0"/>
          </a:p>
        </p:txBody>
      </p:sp>
      <p:sp>
        <p:nvSpPr>
          <p:cNvPr id="9" name="panel_359"/>
          <p:cNvSpPr/>
          <p:nvPr/>
        </p:nvSpPr>
        <p:spPr>
          <a:xfrm>
            <a:off x="4306824" y="1645920"/>
            <a:ext cx="3511296" cy="1901952"/>
          </a:xfrm>
          <a:prstGeom prst="roundRect">
            <a:avLst>
              <a:gd name="adj" fmla="val 5769"/>
            </a:avLst>
          </a:prstGeom>
          <a:solidFill>
            <a:srgbClr val="131D31"/>
          </a:solidFill>
          <a:ln w="12700">
            <a:solidFill>
              <a:srgbClr val="26375A"/>
            </a:solidFill>
            <a:prstDash val="solid"/>
          </a:ln>
        </p:spPr>
      </p:sp>
      <p:sp>
        <p:nvSpPr>
          <p:cNvPr id="10" name="badge_360"/>
          <p:cNvSpPr/>
          <p:nvPr/>
        </p:nvSpPr>
        <p:spPr>
          <a:xfrm>
            <a:off x="4507992" y="1847088"/>
            <a:ext cx="603504" cy="603504"/>
          </a:xfrm>
          <a:prstGeom prst="ellipse">
            <a:avLst/>
          </a:prstGeom>
          <a:solidFill>
            <a:srgbClr val="2DD4BF">
              <a:alpha val="18000"/>
            </a:srgbClr>
          </a:solidFill>
          <a:ln w="15875">
            <a:solidFill>
              <a:srgbClr val="2DD4BF"/>
            </a:solidFill>
            <a:prstDash val="solid"/>
          </a:ln>
        </p:spPr>
      </p:sp>
      <p:pic>
        <p:nvPicPr>
          <p:cNvPr id="11" name="icon_36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0938" y="2010034"/>
            <a:ext cx="277612" cy="277612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507992" y="2523744"/>
            <a:ext cx="3108960" cy="2928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700" b="1" dirty="0">
                <a:solidFill>
                  <a:srgbClr val="F1F5F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Push to a registry</a:t>
            </a:r>
            <a:endParaRPr lang="en-US" sz="1700" dirty="0"/>
          </a:p>
        </p:txBody>
      </p:sp>
      <p:sp>
        <p:nvSpPr>
          <p:cNvPr id="13" name="Text 9"/>
          <p:cNvSpPr txBox="1"/>
          <p:nvPr/>
        </p:nvSpPr>
        <p:spPr>
          <a:xfrm>
            <a:off x="4507992" y="2853210"/>
            <a:ext cx="3108960" cy="485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9AA8B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docker push to GHCR or Docker Hub, so others can pull your image.</a:t>
            </a:r>
            <a:endParaRPr lang="en-US" sz="1250" dirty="0"/>
          </a:p>
        </p:txBody>
      </p:sp>
      <p:sp>
        <p:nvSpPr>
          <p:cNvPr id="14" name="panel_362"/>
          <p:cNvSpPr/>
          <p:nvPr/>
        </p:nvSpPr>
        <p:spPr>
          <a:xfrm>
            <a:off x="8065008" y="1645920"/>
            <a:ext cx="3511296" cy="1901952"/>
          </a:xfrm>
          <a:prstGeom prst="roundRect">
            <a:avLst>
              <a:gd name="adj" fmla="val 5769"/>
            </a:avLst>
          </a:prstGeom>
          <a:solidFill>
            <a:srgbClr val="131D31"/>
          </a:solidFill>
          <a:ln w="12700">
            <a:solidFill>
              <a:srgbClr val="26375A"/>
            </a:solidFill>
            <a:prstDash val="solid"/>
          </a:ln>
        </p:spPr>
      </p:sp>
      <p:sp>
        <p:nvSpPr>
          <p:cNvPr id="15" name="badge_363"/>
          <p:cNvSpPr/>
          <p:nvPr/>
        </p:nvSpPr>
        <p:spPr>
          <a:xfrm>
            <a:off x="8266176" y="1847088"/>
            <a:ext cx="603504" cy="603504"/>
          </a:xfrm>
          <a:prstGeom prst="ellipse">
            <a:avLst/>
          </a:prstGeom>
          <a:solidFill>
            <a:srgbClr val="29B5E8">
              <a:alpha val="18000"/>
            </a:srgbClr>
          </a:solidFill>
          <a:ln w="15875">
            <a:solidFill>
              <a:srgbClr val="29B5E8"/>
            </a:solidFill>
            <a:prstDash val="solid"/>
          </a:ln>
        </p:spPr>
      </p:sp>
      <p:pic>
        <p:nvPicPr>
          <p:cNvPr id="16" name="icon_364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29122" y="2010034"/>
            <a:ext cx="277612" cy="277612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8266176" y="2523744"/>
            <a:ext cx="3108960" cy="2928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700" b="1" dirty="0">
                <a:solidFill>
                  <a:srgbClr val="F1F5F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Multi-stage builds</a:t>
            </a:r>
            <a:endParaRPr lang="en-US" sz="1700" dirty="0"/>
          </a:p>
        </p:txBody>
      </p:sp>
      <p:sp>
        <p:nvSpPr>
          <p:cNvPr id="18" name="Text 13"/>
          <p:cNvSpPr txBox="1"/>
          <p:nvPr/>
        </p:nvSpPr>
        <p:spPr>
          <a:xfrm>
            <a:off x="8266176" y="2853210"/>
            <a:ext cx="3108960" cy="485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9AA8B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Build in a fat image, ship a thin one. Cuts image size dramatically.</a:t>
            </a:r>
            <a:endParaRPr lang="en-US" sz="1250" dirty="0"/>
          </a:p>
        </p:txBody>
      </p:sp>
      <p:sp>
        <p:nvSpPr>
          <p:cNvPr id="19" name="panel_365"/>
          <p:cNvSpPr/>
          <p:nvPr/>
        </p:nvSpPr>
        <p:spPr>
          <a:xfrm>
            <a:off x="548640" y="3657600"/>
            <a:ext cx="3511296" cy="1901952"/>
          </a:xfrm>
          <a:prstGeom prst="roundRect">
            <a:avLst>
              <a:gd name="adj" fmla="val 5769"/>
            </a:avLst>
          </a:prstGeom>
          <a:solidFill>
            <a:srgbClr val="131D31"/>
          </a:solidFill>
          <a:ln w="12700">
            <a:solidFill>
              <a:srgbClr val="26375A"/>
            </a:solidFill>
            <a:prstDash val="solid"/>
          </a:ln>
        </p:spPr>
      </p:sp>
      <p:sp>
        <p:nvSpPr>
          <p:cNvPr id="20" name="badge_366"/>
          <p:cNvSpPr/>
          <p:nvPr/>
        </p:nvSpPr>
        <p:spPr>
          <a:xfrm>
            <a:off x="749808" y="3858768"/>
            <a:ext cx="603504" cy="603504"/>
          </a:xfrm>
          <a:prstGeom prst="ellipse">
            <a:avLst/>
          </a:prstGeom>
          <a:solidFill>
            <a:srgbClr val="8C4FFF">
              <a:alpha val="18000"/>
            </a:srgbClr>
          </a:solidFill>
          <a:ln w="15875">
            <a:solidFill>
              <a:srgbClr val="8C4FFF"/>
            </a:solidFill>
            <a:prstDash val="solid"/>
          </a:ln>
        </p:spPr>
      </p:sp>
      <p:pic>
        <p:nvPicPr>
          <p:cNvPr id="21" name="icon_367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754" y="4021714"/>
            <a:ext cx="277612" cy="277612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749808" y="4535424"/>
            <a:ext cx="3108960" cy="2928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700" b="1" dirty="0">
                <a:solidFill>
                  <a:srgbClr val="F1F5F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Re-read the Airflow stack</a:t>
            </a:r>
            <a:endParaRPr lang="en-US" sz="1700" dirty="0"/>
          </a:p>
        </p:txBody>
      </p:sp>
      <p:sp>
        <p:nvSpPr>
          <p:cNvPr id="23" name="Text 17"/>
          <p:cNvSpPr txBox="1"/>
          <p:nvPr/>
        </p:nvSpPr>
        <p:spPr>
          <a:xfrm>
            <a:off x="749808" y="4864890"/>
            <a:ext cx="3108960" cy="485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9AA8B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Open Part 3's compose file again. It will read like plain English now.</a:t>
            </a:r>
            <a:endParaRPr lang="en-US" sz="1250" dirty="0"/>
          </a:p>
        </p:txBody>
      </p:sp>
      <p:sp>
        <p:nvSpPr>
          <p:cNvPr id="24" name="panel_368"/>
          <p:cNvSpPr/>
          <p:nvPr/>
        </p:nvSpPr>
        <p:spPr>
          <a:xfrm>
            <a:off x="4306824" y="3657600"/>
            <a:ext cx="3511296" cy="1901952"/>
          </a:xfrm>
          <a:prstGeom prst="roundRect">
            <a:avLst>
              <a:gd name="adj" fmla="val 5769"/>
            </a:avLst>
          </a:prstGeom>
          <a:solidFill>
            <a:srgbClr val="131D31"/>
          </a:solidFill>
          <a:ln w="12700">
            <a:solidFill>
              <a:srgbClr val="26375A"/>
            </a:solidFill>
            <a:prstDash val="solid"/>
          </a:ln>
        </p:spPr>
      </p:sp>
      <p:sp>
        <p:nvSpPr>
          <p:cNvPr id="25" name="badge_369"/>
          <p:cNvSpPr/>
          <p:nvPr/>
        </p:nvSpPr>
        <p:spPr>
          <a:xfrm>
            <a:off x="4507992" y="3858768"/>
            <a:ext cx="603504" cy="603504"/>
          </a:xfrm>
          <a:prstGeom prst="ellipse">
            <a:avLst/>
          </a:prstGeom>
          <a:solidFill>
            <a:srgbClr val="7AA116">
              <a:alpha val="18000"/>
            </a:srgbClr>
          </a:solidFill>
          <a:ln w="15875">
            <a:solidFill>
              <a:srgbClr val="7AA116"/>
            </a:solidFill>
            <a:prstDash val="solid"/>
          </a:ln>
        </p:spPr>
      </p:sp>
      <p:pic>
        <p:nvPicPr>
          <p:cNvPr id="26" name="icon_370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70938" y="4021714"/>
            <a:ext cx="277612" cy="277612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4507992" y="4535424"/>
            <a:ext cx="3108960" cy="2928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700" b="1" dirty="0">
                <a:solidFill>
                  <a:srgbClr val="F1F5F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Running as non-root</a:t>
            </a:r>
            <a:endParaRPr lang="en-US" sz="1700" dirty="0"/>
          </a:p>
        </p:txBody>
      </p:sp>
      <p:sp>
        <p:nvSpPr>
          <p:cNvPr id="28" name="Text 21"/>
          <p:cNvSpPr txBox="1"/>
          <p:nvPr/>
        </p:nvSpPr>
        <p:spPr>
          <a:xfrm>
            <a:off x="4507992" y="4864890"/>
            <a:ext cx="3108960" cy="485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9AA8B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Production images do not run as root. Add a USER line.</a:t>
            </a:r>
            <a:endParaRPr lang="en-US" sz="1250" dirty="0"/>
          </a:p>
        </p:txBody>
      </p:sp>
      <p:sp>
        <p:nvSpPr>
          <p:cNvPr id="29" name="panel_371"/>
          <p:cNvSpPr/>
          <p:nvPr/>
        </p:nvSpPr>
        <p:spPr>
          <a:xfrm>
            <a:off x="8065008" y="3657600"/>
            <a:ext cx="3511296" cy="1901952"/>
          </a:xfrm>
          <a:prstGeom prst="roundRect">
            <a:avLst>
              <a:gd name="adj" fmla="val 5769"/>
            </a:avLst>
          </a:prstGeom>
          <a:solidFill>
            <a:srgbClr val="131D31"/>
          </a:solidFill>
          <a:ln w="12700">
            <a:solidFill>
              <a:srgbClr val="26375A"/>
            </a:solidFill>
            <a:prstDash val="solid"/>
          </a:ln>
        </p:spPr>
      </p:sp>
      <p:sp>
        <p:nvSpPr>
          <p:cNvPr id="30" name="badge_372"/>
          <p:cNvSpPr/>
          <p:nvPr/>
        </p:nvSpPr>
        <p:spPr>
          <a:xfrm>
            <a:off x="8266176" y="3858768"/>
            <a:ext cx="603504" cy="603504"/>
          </a:xfrm>
          <a:prstGeom prst="ellipse">
            <a:avLst/>
          </a:prstGeom>
          <a:solidFill>
            <a:srgbClr val="E7157B">
              <a:alpha val="18000"/>
            </a:srgbClr>
          </a:solidFill>
          <a:ln w="15875">
            <a:solidFill>
              <a:srgbClr val="E7157B"/>
            </a:solidFill>
            <a:prstDash val="solid"/>
          </a:ln>
        </p:spPr>
      </p:sp>
      <p:pic>
        <p:nvPicPr>
          <p:cNvPr id="31" name="icon_373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29122" y="4021714"/>
            <a:ext cx="277612" cy="277612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8266176" y="4535424"/>
            <a:ext cx="3108960" cy="2928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700" b="1" dirty="0">
                <a:solidFill>
                  <a:srgbClr val="F1F5F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Cloud Run and ECS</a:t>
            </a:r>
            <a:endParaRPr lang="en-US" sz="1700" dirty="0"/>
          </a:p>
        </p:txBody>
      </p:sp>
      <p:sp>
        <p:nvSpPr>
          <p:cNvPr id="33" name="Text 25"/>
          <p:cNvSpPr txBox="1"/>
          <p:nvPr/>
        </p:nvSpPr>
        <p:spPr>
          <a:xfrm>
            <a:off x="8266176" y="4864890"/>
            <a:ext cx="3108960" cy="485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9AA8B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Hand them an image, they run it. That is the whole deployment story.</a:t>
            </a:r>
            <a:endParaRPr lang="en-US" sz="1250" dirty="0"/>
          </a:p>
        </p:txBody>
      </p:sp>
      <p:sp>
        <p:nvSpPr>
          <p:cNvPr id="34" name="panel_374"/>
          <p:cNvSpPr/>
          <p:nvPr/>
        </p:nvSpPr>
        <p:spPr>
          <a:xfrm>
            <a:off x="548640" y="5687568"/>
            <a:ext cx="11091672" cy="530352"/>
          </a:xfrm>
          <a:prstGeom prst="roundRect">
            <a:avLst>
              <a:gd name="adj" fmla="val 20690"/>
            </a:avLst>
          </a:prstGeom>
          <a:solidFill>
            <a:srgbClr val="1A2741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35" name="Text 27"/>
          <p:cNvSpPr txBox="1"/>
          <p:nvPr/>
        </p:nvSpPr>
        <p:spPr>
          <a:xfrm>
            <a:off x="859536" y="5760720"/>
            <a:ext cx="10469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F1F5F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The fastest way to get good: refuse to install another database on your laptop for a whole month.</a:t>
            </a:r>
            <a:endParaRPr lang="en-US" sz="14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182880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9B5E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THAT IS DOCKER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2212848"/>
            <a:ext cx="69494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5000" b="1" dirty="0">
                <a:solidFill>
                  <a:srgbClr val="F1F5F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It works on</a:t>
            </a:r>
            <a:endParaRPr lang="en-US" sz="50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5000" b="1" dirty="0">
                <a:solidFill>
                  <a:srgbClr val="29B5E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every machine now</a:t>
            </a:r>
            <a:endParaRPr lang="en-US" sz="50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4206240"/>
            <a:ext cx="6217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9AA8B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Failed builds, red containers, ports that will not open — now is the time to ask.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534924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AA8BD"/>
                </a:solidFill>
              </a:rPr>
              <a:t>M. Abdullah Khan  •  </a:t>
            </a:r>
            <a:pPr indent="0" marL="0">
              <a:buNone/>
            </a:pPr>
            <a:r>
              <a:rPr lang="en-US" sz="1500" b="1" dirty="0">
                <a:solidFill>
                  <a:srgbClr val="F1F5F9"/>
                </a:solidFill>
              </a:rPr>
              <a:t>Saylani Cloud Data Engineering</a:t>
            </a:r>
            <a:endParaRPr lang="en-US" sz="1500" dirty="0"/>
          </a:p>
        </p:txBody>
      </p:sp>
      <p:sp>
        <p:nvSpPr>
          <p:cNvPr id="6" name="chip0"/>
          <p:cNvSpPr/>
          <p:nvPr/>
        </p:nvSpPr>
        <p:spPr>
          <a:xfrm>
            <a:off x="7863840" y="1828800"/>
            <a:ext cx="1691640" cy="1143000"/>
          </a:xfrm>
          <a:prstGeom prst="roundRect">
            <a:avLst>
              <a:gd name="adj" fmla="val 16000"/>
            </a:avLst>
          </a:prstGeom>
          <a:solidFill>
            <a:srgbClr val="FF9900">
              <a:alpha val="12000"/>
            </a:srgbClr>
          </a:solidFill>
          <a:ln w="15875">
            <a:solidFill>
              <a:srgbClr val="FF9900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22208" y="2011680"/>
            <a:ext cx="384048" cy="384048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7936992" y="2487168"/>
            <a:ext cx="1545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Build an image</a:t>
            </a:r>
            <a:endParaRPr lang="en-US" sz="1100" dirty="0"/>
          </a:p>
        </p:txBody>
      </p:sp>
      <p:sp>
        <p:nvSpPr>
          <p:cNvPr id="9" name="chip1"/>
          <p:cNvSpPr/>
          <p:nvPr/>
        </p:nvSpPr>
        <p:spPr>
          <a:xfrm>
            <a:off x="9784080" y="1828800"/>
            <a:ext cx="1691640" cy="1143000"/>
          </a:xfrm>
          <a:prstGeom prst="roundRect">
            <a:avLst>
              <a:gd name="adj" fmla="val 16000"/>
            </a:avLst>
          </a:prstGeom>
          <a:solidFill>
            <a:srgbClr val="29B5E8">
              <a:alpha val="12000"/>
            </a:srgbClr>
          </a:solidFill>
          <a:ln w="15875">
            <a:solidFill>
              <a:srgbClr val="29B5E8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42448" y="2011680"/>
            <a:ext cx="384048" cy="384048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9857232" y="2487168"/>
            <a:ext cx="1545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Run a container</a:t>
            </a:r>
            <a:endParaRPr lang="en-US" sz="1100" dirty="0"/>
          </a:p>
        </p:txBody>
      </p:sp>
      <p:sp>
        <p:nvSpPr>
          <p:cNvPr id="12" name="chip2"/>
          <p:cNvSpPr/>
          <p:nvPr/>
        </p:nvSpPr>
        <p:spPr>
          <a:xfrm>
            <a:off x="7863840" y="3200400"/>
            <a:ext cx="1691640" cy="1143000"/>
          </a:xfrm>
          <a:prstGeom prst="roundRect">
            <a:avLst>
              <a:gd name="adj" fmla="val 16000"/>
            </a:avLst>
          </a:prstGeom>
          <a:solidFill>
            <a:srgbClr val="8C4FFF">
              <a:alpha val="12000"/>
            </a:srgbClr>
          </a:solidFill>
          <a:ln w="15875">
            <a:solidFill>
              <a:srgbClr val="8C4FFF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22208" y="3383280"/>
            <a:ext cx="384048" cy="384048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7936992" y="3858768"/>
            <a:ext cx="1545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Keep the data</a:t>
            </a:r>
            <a:endParaRPr lang="en-US" sz="1100" dirty="0"/>
          </a:p>
        </p:txBody>
      </p:sp>
      <p:sp>
        <p:nvSpPr>
          <p:cNvPr id="15" name="chip3"/>
          <p:cNvSpPr/>
          <p:nvPr/>
        </p:nvSpPr>
        <p:spPr>
          <a:xfrm>
            <a:off x="9784080" y="3200400"/>
            <a:ext cx="1691640" cy="1143000"/>
          </a:xfrm>
          <a:prstGeom prst="roundRect">
            <a:avLst>
              <a:gd name="adj" fmla="val 16000"/>
            </a:avLst>
          </a:prstGeom>
          <a:solidFill>
            <a:srgbClr val="7AA116">
              <a:alpha val="12000"/>
            </a:srgbClr>
          </a:solidFill>
          <a:ln w="15875">
            <a:solidFill>
              <a:srgbClr val="7AA116"/>
            </a:solidFill>
            <a:prstDash val="solid"/>
          </a:ln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42448" y="3383280"/>
            <a:ext cx="384048" cy="384048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9857232" y="3858768"/>
            <a:ext cx="1545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Open a port</a:t>
            </a:r>
            <a:endParaRPr lang="en-US" sz="1100" dirty="0"/>
          </a:p>
        </p:txBody>
      </p:sp>
      <p:sp>
        <p:nvSpPr>
          <p:cNvPr id="18" name="chip4"/>
          <p:cNvSpPr/>
          <p:nvPr/>
        </p:nvSpPr>
        <p:spPr>
          <a:xfrm>
            <a:off x="7863840" y="4572000"/>
            <a:ext cx="1691640" cy="1143000"/>
          </a:xfrm>
          <a:prstGeom prst="roundRect">
            <a:avLst>
              <a:gd name="adj" fmla="val 16000"/>
            </a:avLst>
          </a:prstGeom>
          <a:solidFill>
            <a:srgbClr val="2DD4BF">
              <a:alpha val="12000"/>
            </a:srgbClr>
          </a:solidFill>
          <a:ln w="15875">
            <a:solidFill>
              <a:srgbClr val="2DD4BF"/>
            </a:solidFill>
            <a:prstDash val="solid"/>
          </a:ln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22208" y="4754880"/>
            <a:ext cx="384048" cy="384048"/>
          </a:xfrm>
          <a:prstGeom prst="rect">
            <a:avLst/>
          </a:prstGeom>
        </p:spPr>
      </p:pic>
      <p:sp>
        <p:nvSpPr>
          <p:cNvPr id="20" name="Text 13"/>
          <p:cNvSpPr txBox="1"/>
          <p:nvPr/>
        </p:nvSpPr>
        <p:spPr>
          <a:xfrm>
            <a:off x="7936992" y="5230368"/>
            <a:ext cx="1545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Wire them up</a:t>
            </a:r>
            <a:endParaRPr lang="en-US" sz="1100" dirty="0"/>
          </a:p>
        </p:txBody>
      </p:sp>
      <p:sp>
        <p:nvSpPr>
          <p:cNvPr id="21" name="chip5"/>
          <p:cNvSpPr/>
          <p:nvPr/>
        </p:nvSpPr>
        <p:spPr>
          <a:xfrm>
            <a:off x="9784080" y="4572000"/>
            <a:ext cx="1691640" cy="1143000"/>
          </a:xfrm>
          <a:prstGeom prst="roundRect">
            <a:avLst>
              <a:gd name="adj" fmla="val 16000"/>
            </a:avLst>
          </a:prstGeom>
          <a:solidFill>
            <a:srgbClr val="E7157B">
              <a:alpha val="12000"/>
            </a:srgbClr>
          </a:solidFill>
          <a:ln w="15875">
            <a:solidFill>
              <a:srgbClr val="E7157B"/>
            </a:solidFill>
            <a:prstDash val="solid"/>
          </a:ln>
        </p:spPr>
      </p:sp>
      <p:pic>
        <p:nvPicPr>
          <p:cNvPr id="2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442448" y="4754880"/>
            <a:ext cx="384048" cy="384048"/>
          </a:xfrm>
          <a:prstGeom prst="rect">
            <a:avLst/>
          </a:prstGeom>
        </p:spPr>
      </p:pic>
      <p:sp>
        <p:nvSpPr>
          <p:cNvPr id="23" name="Text 15"/>
          <p:cNvSpPr txBox="1"/>
          <p:nvPr/>
        </p:nvSpPr>
        <p:spPr>
          <a:xfrm>
            <a:off x="9857232" y="5230368"/>
            <a:ext cx="1545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 command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WS Workshop">
  <a:themeElements>
    <a:clrScheme name="AWS Workshop">
      <a:dk1>
        <a:srgbClr val="0B1220"/>
      </a:dk1>
      <a:lt1>
        <a:srgbClr val="FFFFFF"/>
      </a:lt1>
      <a:dk2>
        <a:srgbClr val="131D31"/>
      </a:dk2>
      <a:lt2>
        <a:srgbClr val="F1F5F9"/>
      </a:lt2>
      <a:accent1>
        <a:srgbClr val="FF9900"/>
      </a:accent1>
      <a:accent2>
        <a:srgbClr val="2DD4BF"/>
      </a:accent2>
      <a:accent3>
        <a:srgbClr val="29B5E8"/>
      </a:accent3>
      <a:accent4>
        <a:srgbClr val="E7157B"/>
      </a:accent4>
      <a:accent5>
        <a:srgbClr val="7AA116"/>
      </a:accent5>
      <a:accent6>
        <a:srgbClr val="8C4FFF"/>
      </a:accent6>
      <a:hlink>
        <a:srgbClr val="29B5E8"/>
      </a:hlink>
      <a:folHlink>
        <a:srgbClr val="8C4FFF"/>
      </a:folHlink>
    </a:clrScheme>
    <a:fontScheme name="AWS Workshop">
      <a:majorFont>
        <a:latin typeface="Segoe UI Semibold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Segoe U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44</Slides>
  <Notes>44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44</vt:i4>
      </vt:variant>
    </vt:vector>
  </HeadingPairs>
  <TitlesOfParts>
    <vt:vector size="4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Docker for Data Engineers</dc:title>
  <dc:subject>Part 4, Chapter 1: Docker for Data Engineers</dc:subject>
  <dc:creator>M. Abdullah Khan</dc:creator>
  <cp:lastModifiedBy>M. Abdullah Khan</cp:lastModifiedBy>
  <cp:revision>1</cp:revision>
  <dcterms:created xsi:type="dcterms:W3CDTF">2026-10-19T13:22:53Z</dcterms:created>
  <dcterms:modified xsi:type="dcterms:W3CDTF">2026-10-19T13:22:53Z</dcterms:modified>
</cp:coreProperties>
</file>